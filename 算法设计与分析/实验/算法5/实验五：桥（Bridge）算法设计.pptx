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</p:sldMasterIdLst>
  <p:notesMasterIdLst>
    <p:notesMasterId r:id="rId9"/>
  </p:notesMasterIdLst>
  <p:sldIdLst>
    <p:sldId id="256" r:id="rId8"/>
    <p:sldId id="257" r:id="rId10"/>
    <p:sldId id="259" r:id="rId11"/>
    <p:sldId id="268" r:id="rId12"/>
    <p:sldId id="260" r:id="rId13"/>
    <p:sldId id="261" r:id="rId14"/>
    <p:sldId id="262" r:id="rId15"/>
    <p:sldId id="270" r:id="rId16"/>
    <p:sldId id="269" r:id="rId17"/>
    <p:sldId id="264" r:id="rId18"/>
    <p:sldId id="263" r:id="rId19"/>
    <p:sldId id="271" r:id="rId20"/>
    <p:sldId id="265" r:id="rId21"/>
    <p:sldId id="266" r:id="rId22"/>
    <p:sldId id="26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4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4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姚泽棉。今天我将为大家汇报我的实验五成果——基于并查集优化的桥检测算法设计。本次汇报将深入探讨桥的定义、暴力解法的不足，并重点介绍我们如何利用并查集这一高效数据结构，设计出一种性能更优越的算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什么是桥。根据定义，桥就是那条关键的边，一旦移除，整个图就会分裂成多个部分。一个非常重要的观察是，桥永远不会出现在任何环里。正如左边的环，去掉任何一条边它依然连通，所以没有桥。而右边的图，中间的红色边就是一座桥。这个“桥不属于任何环”的性质，是我们后续优化算法的基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我们的基准算法——删边加DFS。它的流程非常清晰，就是“删除-检查-恢复”的循环。它的优点是简单直观，容易实现。但缺点也同样明显，就是大量的重复搜索导致效率低下，无法应对大规模的图数据。这个基准算法将作为我们衡量后续优化算法性能的标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验数据直观地验证了理论分析。这两张对比曲线图显示，随着图规模增大，基准算法的运行时间呈爆炸式增长，而优化算法则表现出良好的线性扩展性。在mediumDG测试案例中，优化算法的运行时间仅为基准算法的约6.6%，性能提升超过15倍，效果非常显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现在，我们来到本次优化的核心。我们不再问“删除后会怎样”，而是问“桥本身有什么属性”。关键洞察就是：桥不在环上。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左边的环，去掉任何边都没事，所以没有桥。右边的链，中间的边一断就分家，所以它是桥。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因此，寻找桥的问题就转化为了寻找所有不属于任何环的边。这个视角的转变，是我们设计高效算法的关键。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这个洞察，我们设计了并查集优化算法。步骤如下：首先，通过BFS或DFS建立一个生成森林。然后，遍历所有非树边，每一条非树边都会和生成树中的路径构成一个环。我们找到环的路径，并利用并查集高效地标记这些环上的边。最后，所有未被标记的树边，就是我们要找的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算法高效的关键在于并查集的路径压缩。如左图所示，一个普通的树可能很深。但通过路径压缩，如右图，所有节点都直接指向根节点。这意味着，当我们回溯标记环边时，已经处理过的路径会被记录下来，下次访问时可以直接跳过，极大地降低了重复计算的开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算法高效的关键在于并查集的路径压缩。如左图所示，一个普通的树可能很深。但通过路径压缩，如右图，所有节点都直接指向根节点。这意味着，当我们回溯标记环边时，已经处理过的路径会被记录下来，下次访问时可以直接跳过，极大地降低了重复计算的开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验数据直观地验证了理论分析。这两张对比曲线图显示，随着图规模增大，基准算法的运行时间呈爆炸式增长，而优化算法则表现出良好的线性扩展性。在mediumDG测试案例中，优化算法的运行时间仅为基准算法的约6.6%，性能提升超过15倍，效果非常显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看性能分析。理论上，基准算法的复杂度是O(E(V+E))，而我们的优化算法通过并查集将复杂度降低到了接近线性的O((V+E)α(V))。从表格中可以清晰地看到，无论是稀疏图还是稠密图，优化算法的复杂度都远低于基准算法，这为处理大规模图数据提供了可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算法的正确性，我们使用了实验报告中的“图2”作为测试用例。这张图包含16个顶点和6个已知的桥。将此图输入我们的优化算法后，程序成功输出了全部6个桥，与图中标注的完全吻合，证明了我们算法的逻辑是正确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算法的正确性，我们使用了实验报告中的“图2”作为测试用例。这张图包含16个顶点和6个已知的桥。将此图输入我们的优化算法后，程序成功输出了全部6个桥，与图中标注的完全吻合，证明了我们算法的逻辑是正确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验数据直观地验证了理论分析。这两张对比曲线图显示，随着图规模增大，基准算法的运行时间呈爆炸式增长，而优化算法则表现出良好的线性扩展性。在mediumDG测试案例中，优化算法的运行时间仅为基准算法的约6.6%，性能提升超过15倍，效果非常显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总结一下本次实验。我们不仅学会了如何解决桥检测问题，更重要的是掌握了一种解决图论问题的思维方式：从问题的本质属性出发，寻找更高效的解决方案。我们看到了并查集这种数据结构如何发挥关键作用。最终，我们将复杂的桥检测问题，优雅地转化为一个简单的集合减法问题：桥等于树边减去环边。我的汇报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谢谢大家的聆听，欢迎提问。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tags" Target="../tags/tag13.xml"/><Relationship Id="rId27" Type="http://schemas.openxmlformats.org/officeDocument/2006/relationships/notesSlide" Target="../notesSlides/notesSlide3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27.xml"/><Relationship Id="rId24" Type="http://schemas.openxmlformats.org/officeDocument/2006/relationships/tags" Target="../tags/tag26.xml"/><Relationship Id="rId23" Type="http://schemas.openxmlformats.org/officeDocument/2006/relationships/image" Target="../media/image12.svg"/><Relationship Id="rId22" Type="http://schemas.openxmlformats.org/officeDocument/2006/relationships/image" Target="../media/image11.png"/><Relationship Id="rId21" Type="http://schemas.openxmlformats.org/officeDocument/2006/relationships/tags" Target="../tags/tag25.xml"/><Relationship Id="rId20" Type="http://schemas.openxmlformats.org/officeDocument/2006/relationships/tags" Target="../tags/tag24.xml"/><Relationship Id="rId2" Type="http://schemas.openxmlformats.org/officeDocument/2006/relationships/tags" Target="../tags/tag12.xml"/><Relationship Id="rId19" Type="http://schemas.openxmlformats.org/officeDocument/2006/relationships/tags" Target="../tags/tag23.xml"/><Relationship Id="rId18" Type="http://schemas.openxmlformats.org/officeDocument/2006/relationships/tags" Target="../tags/tag22.xml"/><Relationship Id="rId17" Type="http://schemas.openxmlformats.org/officeDocument/2006/relationships/image" Target="../media/image10.svg"/><Relationship Id="rId16" Type="http://schemas.openxmlformats.org/officeDocument/2006/relationships/image" Target="../media/image9.png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image" Target="../media/image8.svg"/><Relationship Id="rId10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image" Target="../media/image3.png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image" Target="../media/image4.png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17.png"/><Relationship Id="rId15" Type="http://schemas.openxmlformats.org/officeDocument/2006/relationships/tags" Target="../tags/tag53.xml"/><Relationship Id="rId14" Type="http://schemas.openxmlformats.org/officeDocument/2006/relationships/image" Target="../media/image16.png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tags" Target="../tags/tag54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117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实验五：桥（Bridge）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921000"/>
            <a:ext cx="1117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基于并查集优化的桥检测算法设计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445000"/>
            <a:ext cx="10160000" cy="1778000"/>
          </a:xfrm>
          <a:prstGeom prst="roundRect">
            <a:avLst>
              <a:gd name="adj" fmla="val 0"/>
            </a:avLst>
          </a:prstGeom>
          <a:solidFill>
            <a:srgbClr val="0C1C37">
              <a:alpha val="85000"/>
            </a:srgbClr>
          </a:solidFill>
          <a:ln w="12700" cap="flat" cmpd="sng">
            <a:solidFill>
              <a:srgbClr val="40E0D0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4635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课题方向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5207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算法设计与分析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65623">
            <a:off x="3937000" y="53276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826000" y="46355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26000" y="52070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姚泽棉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65623">
            <a:off x="7112000" y="53276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8001000" y="463550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学号 / 所属班级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5207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2024150026</a:t>
            </a:r>
            <a:b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高性能班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什么是桥？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17600"/>
            <a:ext cx="5842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当且仅当删除这条边后，</a:t>
            </a:r>
            <a:endParaRPr lang="en-US" sz="18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图的连通分量数量会增加。</a:t>
            </a:r>
            <a:endParaRPr lang="en-US" sz="18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>
            <p:custDataLst>
              <p:tags r:id="rId2"/>
            </p:custDataLst>
          </p:nvPr>
        </p:nvCxnSpPr>
        <p:spPr>
          <a:xfrm rot="5385676">
            <a:off x="4572000" y="4692663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3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4799" r="4799"/>
          <a:stretch>
            <a:fillRect/>
          </a:stretch>
        </p:blipFill>
        <p:spPr>
          <a:xfrm>
            <a:off x="952500" y="3365500"/>
            <a:ext cx="1460500" cy="146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>
            <p:custDataLst>
              <p:tags r:id="rId5"/>
            </p:custDataLst>
          </p:nvPr>
        </p:nvSpPr>
        <p:spPr>
          <a:xfrm>
            <a:off x="2667000" y="3365500"/>
            <a:ext cx="3111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无桥图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6"/>
            </p:custDataLst>
          </p:nvPr>
        </p:nvSpPr>
        <p:spPr>
          <a:xfrm>
            <a:off x="2667000" y="3937000"/>
            <a:ext cx="311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C8D2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结构特征表现为存在闭合环（如三角形）。环上的任意边都具备连通冗余，即存在其他路径维持节点间的连通性。</a:t>
            </a:r>
            <a:endParaRPr lang="en-US" b="0" i="0" u="none" strike="noStrike">
              <a:solidFill>
                <a:srgbClr val="C8D2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7"/>
            </p:custDataLst>
          </p:nvPr>
        </p:nvSpPr>
        <p:spPr>
          <a:xfrm>
            <a:off x="952500" y="5016500"/>
            <a:ext cx="4826000" cy="889000"/>
          </a:xfrm>
          <a:prstGeom prst="roundRect">
            <a:avLst>
              <a:gd name="adj" fmla="val 0"/>
            </a:avLst>
          </a:prstGeom>
          <a:solidFill>
            <a:srgbClr val="40E0D0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8"/>
            </p:custDataLst>
          </p:nvPr>
        </p:nvSpPr>
        <p:spPr>
          <a:xfrm>
            <a:off x="1041400" y="5080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BF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现象：</a:t>
            </a:r>
            <a:r>
              <a:rPr lang="en-US" sz="1600" b="0" i="0" u="none" strike="noStrike">
                <a:solidFill>
                  <a:srgbClr val="B4C3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删除该图中的任意一条边，图的整体连通性保持不变，始终为单一连通分量，因此不存在桥。</a:t>
            </a:r>
            <a:endParaRPr lang="en-US" sz="1600" b="0" i="0" u="none" strike="noStrike">
              <a:solidFill>
                <a:srgbClr val="B4C3D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/>
          <a:stretch>
            <a:fillRect/>
          </a:stretch>
        </p:blipFill>
        <p:spPr>
          <a:xfrm>
            <a:off x="6324600" y="3238500"/>
            <a:ext cx="1715135" cy="171513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>
            <p:custDataLst>
              <p:tags r:id="rId11"/>
            </p:custDataLst>
          </p:nvPr>
        </p:nvSpPr>
        <p:spPr>
          <a:xfrm>
            <a:off x="8255000" y="3365500"/>
            <a:ext cx="3111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桥图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2"/>
            </p:custDataLst>
          </p:nvPr>
        </p:nvSpPr>
        <p:spPr>
          <a:xfrm>
            <a:off x="8255000" y="3937000"/>
            <a:ext cx="311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C8D2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图中存在关键的“割边”（红色标记），它是连接两个独立子图的唯一通道，且未参与形成任何闭合环结构。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13"/>
            </p:custDataLst>
          </p:nvPr>
        </p:nvSpPr>
        <p:spPr>
          <a:xfrm>
            <a:off x="6540500" y="5016500"/>
            <a:ext cx="4826000" cy="889000"/>
          </a:xfrm>
          <a:prstGeom prst="roundRect">
            <a:avLst>
              <a:gd name="adj" fmla="val 0"/>
            </a:avLst>
          </a:prstGeom>
          <a:solidFill>
            <a:srgbClr val="EF4444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14"/>
            </p:custDataLst>
          </p:nvPr>
        </p:nvSpPr>
        <p:spPr>
          <a:xfrm>
            <a:off x="6324600" y="5080000"/>
            <a:ext cx="528129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现象：</a:t>
            </a:r>
            <a:r>
              <a:rPr lang="en-US" sz="1600" b="0" i="0" u="none" strike="noStrike">
                <a:solidFill>
                  <a:srgbClr val="B4C3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删除图中的红色桥边后，原图会被分割为两个互不连通的子图，连通分量数增加，验证了该边的“桥”属性。</a:t>
            </a:r>
            <a:endParaRPr lang="en-US" sz="1600" b="0" i="0" u="none" strike="noStrike">
              <a:solidFill>
                <a:srgbClr val="B4C3D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如何寻找桥？——</a:t>
            </a: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Baseline：删边 + </a:t>
            </a: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BFS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2641600" cy="2095500"/>
          </a:xfrm>
          <a:prstGeom prst="roundRect">
            <a:avLst>
              <a:gd name="adj" fmla="val 0"/>
            </a:avLst>
          </a:prstGeom>
          <a:solidFill>
            <a:srgbClr val="142337">
              <a:alpha val="92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1651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333500" y="16383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枚举并删边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914400" y="2095500"/>
            <a:ext cx="2362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遍历图中所有边(u, v)，每次迭代中临时移除当前考察边，构建临时图结构</a:t>
            </a:r>
            <a:r>
              <a:rPr lang="zh-CN" altLang="en-US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b="0" i="0" u="none" strike="noStrike">
              <a:solidFill>
                <a:srgbClr val="E2E8F0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3505200" y="1524000"/>
            <a:ext cx="2641600" cy="2095500"/>
          </a:xfrm>
          <a:prstGeom prst="roundRect">
            <a:avLst>
              <a:gd name="adj" fmla="val 0"/>
            </a:avLst>
          </a:prstGeom>
          <a:solidFill>
            <a:srgbClr val="142337">
              <a:alpha val="92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57600" y="1651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4076700" y="16383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连通性判定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3657600" y="2095500"/>
            <a:ext cx="2362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17000"/>
              </a:lnSpc>
              <a:buSzTx/>
              <a:defRPr/>
            </a:pPr>
            <a:r>
              <a:rPr lang="en-US" sz="1400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以节点 u 为起点执行 BFS 算法，遍历删边后的临时图，核心目标是检查节点 v 是否仍处于可达状态。</a:t>
            </a:r>
            <a:endParaRPr lang="en-US" sz="1400">
              <a:solidFill>
                <a:srgbClr val="E2E8F0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6248400" y="1524000"/>
            <a:ext cx="2641600" cy="2095500"/>
          </a:xfrm>
          <a:prstGeom prst="roundRect">
            <a:avLst>
              <a:gd name="adj" fmla="val 0"/>
            </a:avLst>
          </a:prstGeom>
          <a:solidFill>
            <a:srgbClr val="142337">
              <a:alpha val="92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00800" y="1651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6819900" y="16383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标记与恢复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6400800" y="2095500"/>
            <a:ext cx="2362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17000"/>
              </a:lnSpc>
              <a:buSzTx/>
              <a:defRPr/>
            </a:pPr>
            <a:r>
              <a:rPr lang="en-US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若连通分量增加，则说明该边是桥；反之，若图依然连通，则不是桥。</a:t>
            </a:r>
            <a:r>
              <a:rPr lang="en-US" sz="1400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需立即将边恢复至原图，确保下一次枚举时图结构的正确性。</a:t>
            </a:r>
            <a:endParaRPr lang="en-US" sz="1400">
              <a:solidFill>
                <a:srgbClr val="E2E8F0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991600" y="1524000"/>
            <a:ext cx="2641600" cy="2095500"/>
          </a:xfrm>
          <a:prstGeom prst="roundRect">
            <a:avLst>
              <a:gd name="adj" fmla="val 0"/>
            </a:avLst>
          </a:prstGeom>
          <a:solidFill>
            <a:srgbClr val="142337">
              <a:alpha val="92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144000" y="1651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4"/>
            </p:custDataLst>
          </p:nvPr>
        </p:nvSpPr>
        <p:spPr>
          <a:xfrm>
            <a:off x="9563100" y="16383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全量遍历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5"/>
            </p:custDataLst>
          </p:nvPr>
        </p:nvSpPr>
        <p:spPr>
          <a:xfrm>
            <a:off x="9144000" y="2095500"/>
            <a:ext cx="2362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17000"/>
              </a:lnSpc>
              <a:buSzTx/>
              <a:defRPr/>
            </a:pPr>
            <a:r>
              <a:rPr lang="en-US" sz="1400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重复执行上述删边、检测、恢复的流程，直至图中所有边均被考察完毕。最终输出所有标记出的桥边集合。</a:t>
            </a:r>
            <a:endParaRPr lang="en-US" sz="1400">
              <a:solidFill>
                <a:srgbClr val="E2E8F0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AutoShape 24"/>
          <p:cNvSpPr/>
          <p:nvPr/>
        </p:nvSpPr>
        <p:spPr>
          <a:xfrm>
            <a:off x="767715" y="4102100"/>
            <a:ext cx="5715000" cy="1714500"/>
          </a:xfrm>
          <a:prstGeom prst="roundRect">
            <a:avLst>
              <a:gd name="adj" fmla="val 0"/>
            </a:avLst>
          </a:prstGeom>
          <a:solidFill>
            <a:srgbClr val="142337">
              <a:alpha val="92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25"/>
          <p:cNvSpPr/>
          <p:nvPr/>
        </p:nvSpPr>
        <p:spPr>
          <a:xfrm>
            <a:off x="958215" y="42291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核心痛点：重复计算带来的低效</a:t>
            </a:r>
            <a:endParaRPr lang="en-US" sz="1100"/>
          </a:p>
        </p:txBody>
      </p:sp>
      <p:sp>
        <p:nvSpPr>
          <p:cNvPr id="32" name="AutoShape 26"/>
          <p:cNvSpPr/>
          <p:nvPr/>
        </p:nvSpPr>
        <p:spPr>
          <a:xfrm>
            <a:off x="958215" y="4737100"/>
            <a:ext cx="533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B4BE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该方法虽然逻辑直观，但每删除一条边都要进行一次全图遍历</a:t>
            </a:r>
            <a:r>
              <a:rPr lang="zh-CN" altLang="en-US" b="0" i="0" u="none" strike="noStrike">
                <a:solidFill>
                  <a:srgbClr val="B4BE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b="0" i="0" u="none" strike="noStrike">
                <a:solidFill>
                  <a:srgbClr val="B4BE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导致在面对边数较多的图时，时间成本呈指数级上升，在处理大规模数据时会出现严重的性能瓶颈。</a:t>
            </a:r>
            <a:endParaRPr lang="en-US" b="0" i="0" u="none" strike="noStrike">
              <a:solidFill>
                <a:srgbClr val="B4BED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3" name="Connector 27"/>
          <p:cNvCxnSpPr/>
          <p:nvPr/>
        </p:nvCxnSpPr>
        <p:spPr>
          <a:xfrm rot="5374535">
            <a:off x="5815965" y="4953024"/>
            <a:ext cx="171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AutoShape 28"/>
          <p:cNvSpPr/>
          <p:nvPr/>
        </p:nvSpPr>
        <p:spPr>
          <a:xfrm>
            <a:off x="6863715" y="4102100"/>
            <a:ext cx="4889500" cy="17145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w="12700" cap="flat" cmpd="sng">
            <a:solidFill>
              <a:srgbClr val="40E0D0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29"/>
          <p:cNvSpPr/>
          <p:nvPr/>
        </p:nvSpPr>
        <p:spPr>
          <a:xfrm>
            <a:off x="7054215" y="4229100"/>
            <a:ext cx="450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时间复杂度分析</a:t>
            </a:r>
            <a:endParaRPr lang="en-US" sz="1100"/>
          </a:p>
        </p:txBody>
      </p:sp>
      <p:sp>
        <p:nvSpPr>
          <p:cNvPr id="36" name="AutoShape 30"/>
          <p:cNvSpPr/>
          <p:nvPr/>
        </p:nvSpPr>
        <p:spPr>
          <a:xfrm>
            <a:off x="7054215" y="4711700"/>
            <a:ext cx="4508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O(E × (V + E))</a:t>
            </a:r>
            <a:endParaRPr lang="en-US" sz="1100"/>
          </a:p>
        </p:txBody>
      </p:sp>
      <p:sp>
        <p:nvSpPr>
          <p:cNvPr id="37" name="AutoShape 31"/>
          <p:cNvSpPr/>
          <p:nvPr/>
        </p:nvSpPr>
        <p:spPr>
          <a:xfrm>
            <a:off x="7054215" y="5372100"/>
            <a:ext cx="450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C8D2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E为边数，V为顶点数，需执行 E 次 O(V+E) 的图遍历</a:t>
            </a:r>
            <a:endParaRPr lang="en-US" b="0" i="0" u="none" strike="noStrike">
              <a:solidFill>
                <a:srgbClr val="C8D2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数据分析</a:t>
            </a:r>
            <a:endParaRPr lang="zh-CN" altLang="en-US" sz="3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AutoShape 4"/>
          <p:cNvSpPr/>
          <p:nvPr/>
        </p:nvSpPr>
        <p:spPr>
          <a:xfrm>
            <a:off x="635000" y="1397635"/>
            <a:ext cx="10668000" cy="1459865"/>
          </a:xfrm>
          <a:prstGeom prst="roundRect">
            <a:avLst>
              <a:gd name="adj" fmla="val 0"/>
            </a:avLst>
          </a:prstGeom>
          <a:solidFill>
            <a:srgbClr val="101C32">
              <a:alpha val="92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5"/>
          <p:cNvSpPr/>
          <p:nvPr/>
        </p:nvSpPr>
        <p:spPr>
          <a:xfrm>
            <a:off x="635000" y="1397635"/>
            <a:ext cx="10668000" cy="571500"/>
          </a:xfrm>
          <a:prstGeom prst="roundRect">
            <a:avLst>
              <a:gd name="adj" fmla="val 0"/>
            </a:avLst>
          </a:prstGeom>
          <a:solidFill>
            <a:srgbClr val="40E0D0">
              <a:alpha val="2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6"/>
          <p:cNvSpPr/>
          <p:nvPr/>
        </p:nvSpPr>
        <p:spPr>
          <a:xfrm>
            <a:off x="762000" y="1435735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算法策略</a:t>
            </a:r>
            <a:endParaRPr lang="en-US" sz="1100"/>
          </a:p>
        </p:txBody>
      </p:sp>
      <p:sp>
        <p:nvSpPr>
          <p:cNvPr id="24" name="AutoShape 7"/>
          <p:cNvSpPr/>
          <p:nvPr/>
        </p:nvSpPr>
        <p:spPr>
          <a:xfrm>
            <a:off x="3492500" y="1435735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理论时间复杂度</a:t>
            </a:r>
            <a:endParaRPr lang="en-US" sz="1100"/>
          </a:p>
        </p:txBody>
      </p:sp>
      <p:sp>
        <p:nvSpPr>
          <p:cNvPr id="25" name="AutoShape 8"/>
          <p:cNvSpPr/>
          <p:nvPr/>
        </p:nvSpPr>
        <p:spPr>
          <a:xfrm>
            <a:off x="5969000" y="1435735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稀疏图 (E ≈ V)</a:t>
            </a:r>
            <a:endParaRPr lang="en-US" sz="1100"/>
          </a:p>
        </p:txBody>
      </p:sp>
      <p:sp>
        <p:nvSpPr>
          <p:cNvPr id="26" name="AutoShape 9"/>
          <p:cNvSpPr/>
          <p:nvPr/>
        </p:nvSpPr>
        <p:spPr>
          <a:xfrm>
            <a:off x="8382000" y="1435735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稠密图 (E ≈ V²)</a:t>
            </a:r>
            <a:endParaRPr lang="en-US" sz="1100"/>
          </a:p>
        </p:txBody>
      </p:sp>
      <p:cxnSp>
        <p:nvCxnSpPr>
          <p:cNvPr id="27" name="Connector 10"/>
          <p:cNvCxnSpPr/>
          <p:nvPr/>
        </p:nvCxnSpPr>
        <p:spPr>
          <a:xfrm rot="-4092">
            <a:off x="635004" y="1962785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11"/>
          <p:cNvSpPr/>
          <p:nvPr/>
        </p:nvSpPr>
        <p:spPr>
          <a:xfrm>
            <a:off x="762000" y="2058035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Baseline (删边+</a:t>
            </a: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BFS)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12"/>
          <p:cNvSpPr/>
          <p:nvPr/>
        </p:nvSpPr>
        <p:spPr>
          <a:xfrm>
            <a:off x="3492500" y="2096135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O(E(V+E))</a:t>
            </a:r>
            <a:endParaRPr lang="en-US" sz="1100"/>
          </a:p>
        </p:txBody>
      </p:sp>
      <p:sp>
        <p:nvSpPr>
          <p:cNvPr id="30" name="AutoShape 13"/>
          <p:cNvSpPr/>
          <p:nvPr/>
        </p:nvSpPr>
        <p:spPr>
          <a:xfrm>
            <a:off x="5969000" y="2096135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O(V²)</a:t>
            </a:r>
            <a:endParaRPr lang="en-US" sz="1100"/>
          </a:p>
        </p:txBody>
      </p:sp>
      <p:sp>
        <p:nvSpPr>
          <p:cNvPr id="31" name="AutoShape 14"/>
          <p:cNvSpPr/>
          <p:nvPr/>
        </p:nvSpPr>
        <p:spPr>
          <a:xfrm>
            <a:off x="8382000" y="2096135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O(V⁴)</a:t>
            </a:r>
            <a:endParaRPr lang="en-US" sz="1100"/>
          </a:p>
        </p:txBody>
      </p:sp>
      <p:cxnSp>
        <p:nvCxnSpPr>
          <p:cNvPr id="32" name="Connector 15"/>
          <p:cNvCxnSpPr/>
          <p:nvPr/>
        </p:nvCxnSpPr>
        <p:spPr>
          <a:xfrm rot="-4092">
            <a:off x="635004" y="2851785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7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2972118"/>
            <a:ext cx="5261610" cy="366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2972118"/>
            <a:ext cx="5261610" cy="3665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核心洞察：桥不在环上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3"/>
            </p:custDataLst>
          </p:nvPr>
        </p:nvSpPr>
        <p:spPr>
          <a:xfrm>
            <a:off x="762000" y="1524000"/>
            <a:ext cx="5207000" cy="304800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92000"/>
            </a:schemeClr>
          </a:solidFill>
          <a:ln w="25400" cap="flat" cmpd="sng">
            <a:solidFill>
              <a:srgbClr val="40E0D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4799" r="4799"/>
          <a:stretch>
            <a:fillRect/>
          </a:stretch>
        </p:blipFill>
        <p:spPr>
          <a:xfrm>
            <a:off x="952500" y="1714500"/>
            <a:ext cx="1651000" cy="165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2794000" y="1714500"/>
            <a:ext cx="2984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在封闭的环状拓扑结构中，每一条边都存在“冗余路径”。即使删除其中任意一条边，剩余节点依然通过其他边保持连通，系统整体完整性不受影响。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952500" y="3556000"/>
            <a:ext cx="4826000" cy="889000"/>
          </a:xfrm>
          <a:prstGeom prst="roundRect">
            <a:avLst>
              <a:gd name="adj" fmla="val 0"/>
            </a:avLst>
          </a:prstGeom>
          <a:solidFill>
            <a:srgbClr val="40E0D0">
              <a:alpha val="12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79500" y="3619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结论：此边 不是桥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9"/>
            </p:custDataLst>
          </p:nvPr>
        </p:nvCxnSpPr>
        <p:spPr>
          <a:xfrm rot="5385676">
            <a:off x="4635500" y="3041663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6350000" y="1524000"/>
            <a:ext cx="5207000" cy="304800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92000"/>
            </a:schemeClr>
          </a:solidFill>
          <a:ln w="25400" cap="flat" cmpd="sng">
            <a:solidFill>
              <a:srgbClr val="40E0D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6540500" y="1714500"/>
            <a:ext cx="1651000" cy="165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8382000" y="1714500"/>
            <a:ext cx="2984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在开放式的链状拓扑结构中，若移除图中高亮的关键边，整个连通分量会立即分裂为两个互不连通的子图。这条边是唯一的连接通道，无任何替代方案。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6540500" y="3556000"/>
            <a:ext cx="4826000" cy="889000"/>
          </a:xfrm>
          <a:prstGeom prst="roundRect">
            <a:avLst>
              <a:gd name="adj" fmla="val 0"/>
            </a:avLst>
          </a:prstGeom>
          <a:solidFill>
            <a:srgbClr val="EF4444">
              <a:alpha val="46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6667500" y="3619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结论：此边 是桥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953000"/>
            <a:ext cx="10795000" cy="1397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0E0D0">
                  <a:alpha val="22000"/>
                </a:srgbClr>
              </a:gs>
              <a:gs pos="100000">
                <a:srgbClr val="0C2D4B">
                  <a:alpha val="95000"/>
                </a:srgbClr>
              </a:gs>
            </a:gsLst>
            <a:lin ang="0"/>
          </a:gradFill>
          <a:ln w="25400" cap="flat" cmpd="sng">
            <a:solidFill>
              <a:srgbClr val="40E0D0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889000" y="5016500"/>
            <a:ext cx="1054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桥 = 不属于任何环的边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9000" y="5651500"/>
            <a:ext cx="1054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E6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这是判断图中边是否为桥的充要条件，也是我们重构图论算法、实现线性时间复杂度的理论基石。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并查集优化算法：生成森林 + 环边标记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65500" cy="1599565"/>
          </a:xfrm>
          <a:prstGeom prst="roundRect">
            <a:avLst>
              <a:gd name="adj" fmla="val 0"/>
            </a:avLst>
          </a:prstGeom>
          <a:solidFill>
            <a:srgbClr val="0F1C2E">
              <a:alpha val="8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3655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6510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01 · 生成森林构建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1590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</a:t>
            </a:r>
            <a:r>
              <a:rPr lang="en-US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BFS 遍历原图，构建无环的生成森林结构，将图中的边划分为树边与非树边两类。</a:t>
            </a:r>
            <a:endParaRPr lang="en-US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89000" y="2984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524000"/>
            <a:ext cx="3365500" cy="1600200"/>
          </a:xfrm>
          <a:prstGeom prst="roundRect">
            <a:avLst>
              <a:gd name="adj" fmla="val 0"/>
            </a:avLst>
          </a:prstGeom>
          <a:solidFill>
            <a:srgbClr val="0F1C2E">
              <a:alpha val="8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381500" y="1524000"/>
            <a:ext cx="33655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08500" y="16510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02 · 环路径锁定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08500" y="21590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08000"/>
              </a:lnSpc>
              <a:buSzTx/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遍历所有非树边 (u, v)，定位节点 u 和 v 在生成树中的最近公共祖先 (LCA)，从而确定由非树边与树边构成的唯一环。</a:t>
            </a:r>
            <a:endParaRPr lang="en-US" sz="1400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001000" y="1524000"/>
            <a:ext cx="3365500" cy="1599565"/>
          </a:xfrm>
          <a:prstGeom prst="roundRect">
            <a:avLst>
              <a:gd name="adj" fmla="val 0"/>
            </a:avLst>
          </a:prstGeom>
          <a:solidFill>
            <a:srgbClr val="0F1C2E">
              <a:alpha val="8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01000" y="1524000"/>
            <a:ext cx="33655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28000" y="16510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03 · 并查集标记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21590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u 到 LCA、v 到 LCA 路径上的所有边批量标记为“环边”。利用并查集的路径压缩特性，将路径上的节点合并，实现 O(α(n)) 的均摊时间复杂度。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244850"/>
            <a:ext cx="5397500" cy="1460500"/>
          </a:xfrm>
          <a:prstGeom prst="roundRect">
            <a:avLst>
              <a:gd name="adj" fmla="val 0"/>
            </a:avLst>
          </a:prstGeom>
          <a:solidFill>
            <a:srgbClr val="0F1C2E">
              <a:alpha val="8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3244850"/>
            <a:ext cx="50800" cy="1460500"/>
          </a:xfrm>
          <a:prstGeom prst="roundRect">
            <a:avLst>
              <a:gd name="adj" fmla="val 0"/>
            </a:avLst>
          </a:prstGeom>
          <a:solidFill>
            <a:srgbClr val="F43F5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3333750"/>
            <a:ext cx="495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43F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04 · 结果判定与输出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2500" y="3752850"/>
            <a:ext cx="495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完成所有非树边的处理后，所有未被标记为“环边”的树边即为图的桥（割边）。这些边是连通分量的关键连接，移除后会导致图的连通性降低。</a:t>
            </a:r>
            <a:endParaRPr lang="en-US" sz="1100"/>
          </a:p>
        </p:txBody>
      </p:sp>
      <p:pic>
        <p:nvPicPr>
          <p:cNvPr id="29" name="图片 28" descr="9a1bba62034540ffa33f5261576797f2"/>
          <p:cNvPicPr>
            <a:picLocks noChangeAspect="1"/>
          </p:cNvPicPr>
          <p:nvPr/>
        </p:nvPicPr>
        <p:blipFill>
          <a:blip r:embed="rId2"/>
          <a:srcRect l="31000" t="29438" r="13661" b="54268"/>
          <a:stretch>
            <a:fillRect/>
          </a:stretch>
        </p:blipFill>
        <p:spPr>
          <a:xfrm>
            <a:off x="647700" y="4965700"/>
            <a:ext cx="6118225" cy="831215"/>
          </a:xfrm>
          <a:prstGeom prst="rect">
            <a:avLst/>
          </a:prstGeom>
        </p:spPr>
      </p:pic>
      <p:pic>
        <p:nvPicPr>
          <p:cNvPr id="30" name="图片 29" descr="9a1bba62034540ffa33f5261576797f2"/>
          <p:cNvPicPr>
            <a:picLocks noChangeAspect="1"/>
          </p:cNvPicPr>
          <p:nvPr/>
        </p:nvPicPr>
        <p:blipFill>
          <a:blip r:embed="rId2"/>
          <a:srcRect l="39359" t="46929" r="15240" b="6177"/>
          <a:stretch>
            <a:fillRect/>
          </a:stretch>
        </p:blipFill>
        <p:spPr>
          <a:xfrm>
            <a:off x="7200900" y="4343400"/>
            <a:ext cx="4356100" cy="20758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并查集原理：路径压缩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12700" cap="flat" cmpd="sng">
            <a:solidFill>
              <a:srgbClr val="40E0D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2794000" y="1714500"/>
            <a:ext cx="311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普通树结构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2794000" y="2349500"/>
            <a:ext cx="2920365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原始层级较深，查询根节点时需从目标节点逐层向上回溯父节点。数据规模扩大时，重复遍历会导致高昂的时间成本，难以应对高频次连通性查询场景。</a:t>
            </a:r>
            <a:endParaRPr lang="en-US" sz="1600" b="0" i="0" u="none" strike="noStrike">
              <a:solidFill>
                <a:srgbClr val="E2E8F0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952500" y="4064000"/>
            <a:ext cx="4889500" cy="762000"/>
          </a:xfrm>
          <a:prstGeom prst="roundRect">
            <a:avLst>
              <a:gd name="adj" fmla="val 0"/>
            </a:avLst>
          </a:prstGeom>
          <a:solidFill>
            <a:srgbClr val="EF4444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079500" y="41275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FCA5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核心痛点：</a:t>
            </a:r>
            <a:r>
              <a:rPr lang="en-US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无记忆化的链式查找，每次操作都要经过完整路径，重复计算损耗严重。</a:t>
            </a:r>
            <a:endParaRPr lang="en-US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>
            <p:custDataLst>
              <p:tags r:id="rId7"/>
            </p:custDataLst>
          </p:nvPr>
        </p:nvCxnSpPr>
        <p:spPr>
          <a:xfrm rot="5387267">
            <a:off x="4445000" y="3232162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6286500" y="1524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12700" cap="flat" cmpd="sng">
            <a:solidFill>
              <a:srgbClr val="40E0D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8255000" y="1714500"/>
            <a:ext cx="311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路径压缩优化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8255000" y="2349500"/>
            <a:ext cx="311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17000"/>
              </a:lnSpc>
              <a:buSzTx/>
              <a:defRPr/>
            </a:pPr>
            <a:r>
              <a:rPr lang="en-US" sz="1600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find 操作过程中，将路径上所有节点直接挂载到根节点上，实现树的扁平化。后续查询无需再经过中间节点，一步直达根，大幅降低了操作的时间复杂度。</a:t>
            </a:r>
            <a:endParaRPr lang="en-US" sz="1600">
              <a:solidFill>
                <a:srgbClr val="E2E8F0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6413500" y="4064000"/>
            <a:ext cx="48895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6540500" y="41275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优化收益：</a:t>
            </a:r>
            <a:r>
              <a:rPr lang="en-US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将单次查询的优化结果固化，让后续所有操作共享扁平结构的红利。</a:t>
            </a:r>
            <a:endParaRPr lang="en-US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207000"/>
            <a:ext cx="10795000" cy="1333500"/>
          </a:xfrm>
          <a:prstGeom prst="roundRect">
            <a:avLst>
              <a:gd name="adj" fmla="val 0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207000"/>
            <a:ext cx="63500" cy="1333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79500" y="53086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核心价值：find(x) 路径压缩，重塑查询效率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79500" y="5778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1F5F9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通过将查询路径上的所有节点直接指向根节点，彻底消除了重复回溯的开销，使并查集的时间复杂度在均摊意义下接近常数级。</a:t>
            </a:r>
            <a:endParaRPr lang="en-US" sz="1100"/>
          </a:p>
        </p:txBody>
      </p:sp>
      <p:pic>
        <p:nvPicPr>
          <p:cNvPr id="21" name="图片 2" descr="IMG_25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536383" y="1714183"/>
            <a:ext cx="565785" cy="2259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" name="图片 1" descr="IMG_25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934835" y="1714183"/>
            <a:ext cx="668020" cy="2259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并查集原理：</a:t>
            </a:r>
            <a:r>
              <a:rPr 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平衡处理</a:t>
            </a:r>
            <a:endParaRPr lang="en-US" sz="32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7513955" cy="3429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12700" cap="flat" cmpd="sng">
            <a:solidFill>
              <a:srgbClr val="40E0D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207000"/>
            <a:ext cx="10795000" cy="1333500"/>
          </a:xfrm>
          <a:prstGeom prst="roundRect">
            <a:avLst>
              <a:gd name="adj" fmla="val 0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207000"/>
            <a:ext cx="63500" cy="1333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79500" y="5401945"/>
            <a:ext cx="10160000" cy="9131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>
                <a:solidFill>
                  <a:srgbClr val="F1F5F9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显然应该把简单的树往复杂的树上合并。因为这样合并后，到根节点距离变长的节点个数比较少。</a:t>
            </a:r>
            <a:r>
              <a:rPr lang="zh-CN" altLang="en-US" sz="1600">
                <a:solidFill>
                  <a:srgbClr val="F1F5F9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实现方法是用一个数组</a:t>
            </a:r>
            <a:r>
              <a:rPr lang="en-US" altLang="zh-CN" sz="1600">
                <a:solidFill>
                  <a:srgbClr val="F1F5F9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rank[]</a:t>
            </a:r>
            <a:r>
              <a:rPr lang="zh-CN" altLang="en-US" sz="1600">
                <a:solidFill>
                  <a:srgbClr val="F1F5F9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记录每个根节点对应的树的深度（如果不是根节点，其</a:t>
            </a:r>
            <a:r>
              <a:rPr lang="en-US" altLang="zh-CN" sz="1600">
                <a:solidFill>
                  <a:srgbClr val="F1F5F9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rank</a:t>
            </a:r>
            <a:r>
              <a:rPr lang="zh-CN" altLang="en-US" sz="1600">
                <a:solidFill>
                  <a:srgbClr val="F1F5F9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相当于以它作为根节点的子树的深度）。一开始，把所有元素的</a:t>
            </a:r>
            <a:r>
              <a:rPr lang="en-US" altLang="zh-CN" sz="1600">
                <a:solidFill>
                  <a:srgbClr val="F1F5F9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rank</a:t>
            </a:r>
            <a:r>
              <a:rPr lang="zh-CN" altLang="en-US" sz="1600">
                <a:solidFill>
                  <a:srgbClr val="F1F5F9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设为1。合并时比较两个根节点，把</a:t>
            </a:r>
            <a:r>
              <a:rPr lang="en-US" altLang="zh-CN" sz="1600">
                <a:solidFill>
                  <a:srgbClr val="F1F5F9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rank</a:t>
            </a:r>
            <a:r>
              <a:rPr lang="zh-CN" altLang="en-US" sz="1600">
                <a:solidFill>
                  <a:srgbClr val="F1F5F9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较小者往较大者上合并。</a:t>
            </a:r>
            <a:endParaRPr lang="zh-CN" altLang="en-US" sz="1600">
              <a:solidFill>
                <a:srgbClr val="F1F5F9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3" descr="IMG_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80" y="2029460"/>
            <a:ext cx="2217420" cy="22910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4" descr="IMG_2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9620" y="2029460"/>
            <a:ext cx="2879090" cy="22910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1416685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数据分析</a:t>
            </a:r>
            <a:endParaRPr lang="zh-CN" altLang="en-US" sz="3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4"/>
          <p:cNvSpPr/>
          <p:nvPr/>
        </p:nvSpPr>
        <p:spPr>
          <a:xfrm>
            <a:off x="635000" y="126111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101C32">
              <a:alpha val="92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5"/>
          <p:cNvSpPr/>
          <p:nvPr/>
        </p:nvSpPr>
        <p:spPr>
          <a:xfrm>
            <a:off x="635000" y="1261110"/>
            <a:ext cx="10668000" cy="571500"/>
          </a:xfrm>
          <a:prstGeom prst="roundRect">
            <a:avLst>
              <a:gd name="adj" fmla="val 0"/>
            </a:avLst>
          </a:prstGeom>
          <a:solidFill>
            <a:srgbClr val="40E0D0">
              <a:alpha val="2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/>
        </p:nvSpPr>
        <p:spPr>
          <a:xfrm>
            <a:off x="762000" y="129921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算法策略</a:t>
            </a:r>
            <a:endParaRPr lang="en-US" sz="1100"/>
          </a:p>
        </p:txBody>
      </p:sp>
      <p:sp>
        <p:nvSpPr>
          <p:cNvPr id="34" name="AutoShape 7"/>
          <p:cNvSpPr/>
          <p:nvPr/>
        </p:nvSpPr>
        <p:spPr>
          <a:xfrm>
            <a:off x="3492500" y="129921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理论时间复杂度</a:t>
            </a:r>
            <a:endParaRPr lang="en-US" sz="1100"/>
          </a:p>
        </p:txBody>
      </p:sp>
      <p:sp>
        <p:nvSpPr>
          <p:cNvPr id="35" name="AutoShape 8"/>
          <p:cNvSpPr/>
          <p:nvPr/>
        </p:nvSpPr>
        <p:spPr>
          <a:xfrm>
            <a:off x="5969000" y="129921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稀疏图 (E ≈ V)</a:t>
            </a:r>
            <a:endParaRPr lang="en-US" sz="1100"/>
          </a:p>
        </p:txBody>
      </p:sp>
      <p:sp>
        <p:nvSpPr>
          <p:cNvPr id="36" name="AutoShape 9"/>
          <p:cNvSpPr/>
          <p:nvPr/>
        </p:nvSpPr>
        <p:spPr>
          <a:xfrm>
            <a:off x="8382000" y="129921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稠密图 (E ≈ V²)</a:t>
            </a:r>
            <a:endParaRPr lang="en-US" sz="1100"/>
          </a:p>
        </p:txBody>
      </p:sp>
      <p:cxnSp>
        <p:nvCxnSpPr>
          <p:cNvPr id="39" name="Connector 10"/>
          <p:cNvCxnSpPr/>
          <p:nvPr/>
        </p:nvCxnSpPr>
        <p:spPr>
          <a:xfrm rot="-4092">
            <a:off x="635004" y="182626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" name="Connector 15"/>
          <p:cNvCxnSpPr/>
          <p:nvPr/>
        </p:nvCxnSpPr>
        <p:spPr>
          <a:xfrm rot="-4092">
            <a:off x="635004" y="186436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5" name="AutoShape 16"/>
          <p:cNvSpPr/>
          <p:nvPr/>
        </p:nvSpPr>
        <p:spPr>
          <a:xfrm>
            <a:off x="762000" y="1934210"/>
            <a:ext cx="266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Optimized (并查集)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6" name="AutoShape 17"/>
          <p:cNvSpPr/>
          <p:nvPr/>
        </p:nvSpPr>
        <p:spPr>
          <a:xfrm>
            <a:off x="3492500" y="190881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O((V+E)α(V))</a:t>
            </a:r>
            <a:endParaRPr lang="en-US" sz="1100"/>
          </a:p>
        </p:txBody>
      </p:sp>
      <p:sp>
        <p:nvSpPr>
          <p:cNvPr id="47" name="AutoShape 18"/>
          <p:cNvSpPr/>
          <p:nvPr/>
        </p:nvSpPr>
        <p:spPr>
          <a:xfrm>
            <a:off x="5969000" y="1959610"/>
            <a:ext cx="228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O(V)</a:t>
            </a:r>
            <a:endParaRPr lang="en-US" sz="1100"/>
          </a:p>
        </p:txBody>
      </p:sp>
      <p:sp>
        <p:nvSpPr>
          <p:cNvPr id="48" name="AutoShape 19"/>
          <p:cNvSpPr/>
          <p:nvPr/>
        </p:nvSpPr>
        <p:spPr>
          <a:xfrm>
            <a:off x="8382000" y="1959610"/>
            <a:ext cx="241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O(V²)</a:t>
            </a:r>
            <a:endParaRPr lang="en-US" sz="1100"/>
          </a:p>
        </p:txBody>
      </p:sp>
      <p:sp>
        <p:nvSpPr>
          <p:cNvPr id="49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数据分析</a:t>
            </a:r>
            <a:endParaRPr lang="zh-CN" altLang="en-US" sz="3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0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2880678"/>
            <a:ext cx="5260340" cy="366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620" y="2880995"/>
            <a:ext cx="5259070" cy="3662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性能分析：复杂度对比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286000"/>
          </a:xfrm>
          <a:prstGeom prst="roundRect">
            <a:avLst>
              <a:gd name="adj" fmla="val 0"/>
            </a:avLst>
          </a:prstGeom>
          <a:solidFill>
            <a:srgbClr val="101C32">
              <a:alpha val="92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571500"/>
          </a:xfrm>
          <a:prstGeom prst="roundRect">
            <a:avLst>
              <a:gd name="adj" fmla="val 0"/>
            </a:avLst>
          </a:prstGeom>
          <a:solidFill>
            <a:srgbClr val="40E0D0">
              <a:alpha val="2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4351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算法策略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619500" y="14351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理论时间复杂度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096000" y="14351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稀疏图 (E ≈ V)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509000" y="14351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稠密图 (E ≈ V²)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092">
            <a:off x="762004" y="1962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889000" y="20574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Baseline (删边+DFS)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619500" y="20955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O(E(V+E))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0" y="2095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O(V²)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509000" y="2095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O(V⁴)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092">
            <a:off x="762004" y="2851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889000" y="2921000"/>
            <a:ext cx="266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Optimized (并查集)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619500" y="29464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O((V+E)α(V))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096000" y="2946400"/>
            <a:ext cx="228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O(V)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509000" y="2946400"/>
            <a:ext cx="241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O(V²)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600200" y="40005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0A1428">
              <a:alpha val="88000"/>
            </a:srgbClr>
          </a:solidFill>
          <a:ln w="12700" cap="flat" cmpd="sng">
            <a:solidFill>
              <a:srgbClr val="40E0D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600200" y="4000500"/>
            <a:ext cx="34290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790700" y="4191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稀疏图：线性级降维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727200" y="48641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通过引入并查集结构，将稀疏图下的算法复杂度从传统的二次方 O(V²) 直接降低至线性 O(V)，彻底突破了数据规模的限制。</a:t>
            </a:r>
            <a:endParaRPr lang="en-US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096000" y="40005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0A1428">
              <a:alpha val="88000"/>
            </a:srgbClr>
          </a:solidFill>
          <a:ln w="12700" cap="flat" cmpd="sng">
            <a:solidFill>
              <a:srgbClr val="40E0D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096000" y="4000500"/>
            <a:ext cx="34290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286500" y="4191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稠密图：复杂度减半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86500" y="48641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针对边数接近顶点平方的稠密图，计算开销从难以接受的四次方 O(V⁴) 优化至可处理的二次方 O(V²)，运算效率实现指数级飞跃。</a:t>
            </a:r>
            <a:endParaRPr lang="en-US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正确性验证：图2验证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556000" cy="330200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92000"/>
            </a:scheme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3846" b="3846"/>
          <a:stretch>
            <a:fillRect/>
          </a:stretch>
        </p:blipFill>
        <p:spPr>
          <a:xfrm>
            <a:off x="889000" y="1627505"/>
            <a:ext cx="3302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8" name="Connector 8"/>
          <p:cNvCxnSpPr/>
          <p:nvPr/>
        </p:nvCxnSpPr>
        <p:spPr>
          <a:xfrm rot="5390953">
            <a:off x="22225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826000" y="1524000"/>
            <a:ext cx="6858000" cy="4953000"/>
          </a:xfrm>
          <a:prstGeom prst="roundRect">
            <a:avLst>
              <a:gd name="adj" fmla="val 0"/>
            </a:avLst>
          </a:prstGeom>
          <a:solidFill>
            <a:srgbClr val="172132">
              <a:alpha val="90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080000" y="1714500"/>
            <a:ext cx="635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算法输出结果展示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016500" y="5058410"/>
            <a:ext cx="6477000" cy="10795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5143500" y="5160010"/>
            <a:ext cx="762000" cy="889000"/>
          </a:xfrm>
          <a:prstGeom prst="roundRect">
            <a:avLst>
              <a:gd name="adj" fmla="val 0"/>
            </a:avLst>
          </a:prstGeom>
          <a:solidFill>
            <a:srgbClr val="40E0D0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5143500" y="5210810"/>
            <a:ext cx="762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096000" y="516001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个桥边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成功检出</a:t>
            </a:r>
            <a:endParaRPr 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27"/>
          <p:cNvCxnSpPr/>
          <p:nvPr/>
        </p:nvCxnSpPr>
        <p:spPr>
          <a:xfrm rot="5337502">
            <a:off x="7524750" y="5553768"/>
            <a:ext cx="69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8001000" y="5210810"/>
            <a:ext cx="342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算法完成计算，与测试用例的人工标注结果完全吻合。</a:t>
            </a:r>
            <a:endParaRPr lang="en-US" sz="1100"/>
          </a:p>
        </p:txBody>
      </p:sp>
      <p:pic>
        <p:nvPicPr>
          <p:cNvPr id="31" name="图片 39"/>
          <p:cNvPicPr>
            <a:picLocks noChangeAspect="1"/>
          </p:cNvPicPr>
          <p:nvPr/>
        </p:nvPicPr>
        <p:blipFill>
          <a:blip r:embed="rId3"/>
          <a:srcRect r="36773"/>
          <a:stretch>
            <a:fillRect/>
          </a:stretch>
        </p:blipFill>
        <p:spPr>
          <a:xfrm>
            <a:off x="5293995" y="2376170"/>
            <a:ext cx="2326005" cy="2449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图片 40"/>
          <p:cNvPicPr>
            <a:picLocks noChangeAspect="1"/>
          </p:cNvPicPr>
          <p:nvPr/>
        </p:nvPicPr>
        <p:blipFill>
          <a:blip r:embed="rId4"/>
          <a:srcRect r="39671"/>
          <a:stretch>
            <a:fillRect/>
          </a:stretch>
        </p:blipFill>
        <p:spPr>
          <a:xfrm>
            <a:off x="8265795" y="2374900"/>
            <a:ext cx="2530475" cy="24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AutoShape 19"/>
          <p:cNvSpPr/>
          <p:nvPr>
            <p:custDataLst>
              <p:tags r:id="rId5"/>
            </p:custDataLst>
          </p:nvPr>
        </p:nvSpPr>
        <p:spPr>
          <a:xfrm>
            <a:off x="1517650" y="5058410"/>
            <a:ext cx="1905000" cy="1492250"/>
          </a:xfrm>
          <a:prstGeom prst="roundRect">
            <a:avLst>
              <a:gd name="adj" fmla="val 0"/>
            </a:avLst>
          </a:prstGeom>
          <a:solidFill>
            <a:srgbClr val="40E0D0">
              <a:alpha val="18000"/>
            </a:srgbClr>
          </a:solidFill>
          <a:ln w="12700" cap="flat" cmpd="sng">
            <a:solidFill>
              <a:srgbClr val="40E0D0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20"/>
          <p:cNvSpPr/>
          <p:nvPr>
            <p:custDataLst>
              <p:tags r:id="rId6"/>
            </p:custDataLst>
          </p:nvPr>
        </p:nvSpPr>
        <p:spPr>
          <a:xfrm>
            <a:off x="1517650" y="5191125"/>
            <a:ext cx="1905000" cy="2984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综合性能提升</a:t>
            </a:r>
            <a:endParaRPr lang="en-US" sz="1100"/>
          </a:p>
        </p:txBody>
      </p:sp>
      <p:sp>
        <p:nvSpPr>
          <p:cNvPr id="34" name="AutoShape 21"/>
          <p:cNvSpPr/>
          <p:nvPr>
            <p:custDataLst>
              <p:tags r:id="rId7"/>
            </p:custDataLst>
          </p:nvPr>
        </p:nvSpPr>
        <p:spPr>
          <a:xfrm>
            <a:off x="1517650" y="5569585"/>
            <a:ext cx="19050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15.1 倍</a:t>
            </a:r>
            <a:endParaRPr lang="en-US" sz="1100"/>
          </a:p>
        </p:txBody>
      </p:sp>
      <p:sp>
        <p:nvSpPr>
          <p:cNvPr id="35" name="AutoShape 4"/>
          <p:cNvSpPr/>
          <p:nvPr/>
        </p:nvSpPr>
        <p:spPr>
          <a:xfrm>
            <a:off x="762000" y="1397000"/>
            <a:ext cx="3556000" cy="330200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92000"/>
            </a:scheme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5"/>
          <p:cNvPicPr>
            <a:picLocks noChangeAspect="1"/>
          </p:cNvPicPr>
          <p:nvPr/>
        </p:nvPicPr>
        <p:blipFill>
          <a:blip r:embed="rId2"/>
          <a:srcRect t="3846" b="3846"/>
          <a:stretch>
            <a:fillRect/>
          </a:stretch>
        </p:blipFill>
        <p:spPr>
          <a:xfrm>
            <a:off x="889000" y="1642745"/>
            <a:ext cx="3302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</a:t>
            </a: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953">
            <a:off x="-18415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62000" y="1524000"/>
            <a:ext cx="6858000" cy="4953000"/>
          </a:xfrm>
          <a:prstGeom prst="roundRect">
            <a:avLst>
              <a:gd name="adj" fmla="val 0"/>
            </a:avLst>
          </a:prstGeom>
          <a:solidFill>
            <a:srgbClr val="172132">
              <a:alpha val="90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1714500"/>
            <a:ext cx="635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算法输出结果展示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5058410"/>
            <a:ext cx="6477000" cy="10795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231900" y="5210810"/>
            <a:ext cx="61341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 mediumDG 数据集上，两种算法均能够快速完成桥的查找。</a:t>
            </a:r>
            <a:endParaRPr lang="en-US" sz="13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3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其中：Baseline 算法耗时 6.98ms，Optimized 算法耗时 0.46ms，性能提升约 15 倍。</a:t>
            </a:r>
            <a:endParaRPr lang="en-US" sz="13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algn="l">
              <a:lnSpc>
                <a:spcPct val="117000"/>
              </a:lnSpc>
              <a:buSzTx/>
              <a:buNone/>
              <a:defRPr/>
            </a:pPr>
            <a:r>
              <a:rPr lang="en-US" sz="13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 largeG 数据集上，由于边数规模显著增加，Baseline 算法运行时间过长，因此未完成测试。Optimized 算法仍能在 334.90ms 内完成桥的查找，</a:t>
            </a:r>
            <a:endParaRPr lang="zh-CN" altLang="en-US" sz="1100"/>
          </a:p>
        </p:txBody>
      </p:sp>
      <p:pic>
        <p:nvPicPr>
          <p:cNvPr id="38" name="图片 42"/>
          <p:cNvPicPr>
            <a:picLocks noChangeAspect="1"/>
          </p:cNvPicPr>
          <p:nvPr/>
        </p:nvPicPr>
        <p:blipFill>
          <a:blip r:embed="rId2"/>
          <a:srcRect r="42732"/>
          <a:stretch>
            <a:fillRect/>
          </a:stretch>
        </p:blipFill>
        <p:spPr>
          <a:xfrm>
            <a:off x="1141730" y="2374900"/>
            <a:ext cx="2118995" cy="2093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图片 39" descr="66020fc96048bf93c11c5831a2306def"/>
          <p:cNvPicPr>
            <a:picLocks noChangeAspect="1"/>
          </p:cNvPicPr>
          <p:nvPr/>
        </p:nvPicPr>
        <p:blipFill>
          <a:blip r:embed="rId3"/>
          <a:srcRect r="14382" b="5847"/>
          <a:stretch>
            <a:fillRect/>
          </a:stretch>
        </p:blipFill>
        <p:spPr>
          <a:xfrm>
            <a:off x="4168775" y="2055495"/>
            <a:ext cx="319786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实验结果：性能对比</a:t>
            </a:r>
            <a:endParaRPr lang="en-US" sz="1100"/>
          </a:p>
        </p:txBody>
      </p:sp>
      <p:pic>
        <p:nvPicPr>
          <p:cNvPr id="40" name="图片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45" y="1598930"/>
            <a:ext cx="5261610" cy="3660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图片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155" y="1596708"/>
            <a:ext cx="5261610" cy="3662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实验总结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" y="1511300"/>
            <a:ext cx="11049000" cy="209550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16383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EBE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 · 问题本质的降维表达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2082800"/>
            <a:ext cx="1054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桥 = 树边 − 环边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2844800"/>
            <a:ext cx="1054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2DC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这一精炼的数学表达，将复杂的图论连通性检测问题转化为基础的集合运算。它不仅是本次算法突破性能瓶颈的关键钥匙，更为解决同类网络结构分析问题提供了极具启发性的思维范式。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EBF5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0.00208332429102,&quot;left&quot;:60,&quot;top&quot;:249.99998195990173,&quot;width&quot;:853.85}"/>
</p:tagLst>
</file>

<file path=ppt/tags/tag2.xml><?xml version="1.0" encoding="utf-8"?>
<p:tagLst xmlns:p="http://schemas.openxmlformats.org/presentationml/2006/main">
  <p:tag name="KSO_WM_DIAGRAM_VIRTUALLY_FRAME" val="{&quot;height&quot;:240.00208332429102,&quot;left&quot;:60,&quot;top&quot;:249.99998195990173,&quot;width&quot;:853.85}"/>
</p:tagLst>
</file>

<file path=ppt/tags/tag3.xml><?xml version="1.0" encoding="utf-8"?>
<p:tagLst xmlns:p="http://schemas.openxmlformats.org/presentationml/2006/main">
  <p:tag name="KSO_WM_DIAGRAM_VIRTUALLY_FRAME" val="{&quot;height&quot;:240.00208332429102,&quot;left&quot;:60,&quot;top&quot;:249.99998195990173,&quot;width&quot;:853.85}"/>
</p:tagLst>
</file>

<file path=ppt/tags/tag4.xml><?xml version="1.0" encoding="utf-8"?>
<p:tagLst xmlns:p="http://schemas.openxmlformats.org/presentationml/2006/main">
  <p:tag name="KSO_WM_DIAGRAM_VIRTUALLY_FRAME" val="{&quot;height&quot;:240.00208332429102,&quot;left&quot;:60,&quot;top&quot;:249.99998195990173,&quot;width&quot;:853.85}"/>
</p:tagLst>
</file>

<file path=ppt/tags/tag5.xml><?xml version="1.0" encoding="utf-8"?>
<p:tagLst xmlns:p="http://schemas.openxmlformats.org/presentationml/2006/main">
  <p:tag name="KSO_WM_DIAGRAM_VIRTUALLY_FRAME" val="{&quot;height&quot;:240.00208332429102,&quot;left&quot;:60,&quot;top&quot;:249.99998195990173,&quot;width&quot;:853.85}"/>
</p:tagLst>
</file>

<file path=ppt/tags/tag6.xml><?xml version="1.0" encoding="utf-8"?>
<p:tagLst xmlns:p="http://schemas.openxmlformats.org/presentationml/2006/main">
  <p:tag name="KSO_WM_DIAGRAM_VIRTUALLY_FRAME" val="{&quot;height&quot;:240.00208332429102,&quot;left&quot;:60,&quot;top&quot;:249.99998195990173,&quot;width&quot;:853.85}"/>
</p:tagLst>
</file>

<file path=ppt/tags/tag7.xml><?xml version="1.0" encoding="utf-8"?>
<p:tagLst xmlns:p="http://schemas.openxmlformats.org/presentationml/2006/main">
  <p:tag name="KSO_WM_DIAGRAM_VIRTUALLY_FRAME" val="{&quot;height&quot;:240.00208332429102,&quot;left&quot;:60,&quot;top&quot;:249.99998195990173,&quot;width&quot;:853.85}"/>
</p:tagLst>
</file>

<file path=ppt/tags/tag8.xml><?xml version="1.0" encoding="utf-8"?>
<p:tagLst xmlns:p="http://schemas.openxmlformats.org/presentationml/2006/main">
  <p:tag name="KSO_WM_DIAGRAM_VIRTUALLY_FRAME" val="{&quot;height&quot;:240.00208332429102,&quot;left&quot;:60,&quot;top&quot;:249.99998195990173,&quot;width&quot;:853.85}"/>
</p:tagLst>
</file>

<file path=ppt/tags/tag9.xml><?xml version="1.0" encoding="utf-8"?>
<p:tagLst xmlns:p="http://schemas.openxmlformats.org/presentationml/2006/main">
  <p:tag name="KSO_WM_DIAGRAM_VIRTUALLY_FRAME" val="{&quot;height&quot;:240.00208332429102,&quot;left&quot;:60,&quot;top&quot;:249.99998195990173,&quot;width&quot;:853.85}"/>
</p:tagLst>
</file>

<file path=ppt/tags/tag10.xml><?xml version="1.0" encoding="utf-8"?>
<p:tagLst xmlns:p="http://schemas.openxmlformats.org/presentationml/2006/main">
  <p:tag name="KSO_WM_DIAGRAM_VIRTUALLY_FRAME" val="{&quot;height&quot;:240.00208332429102,&quot;left&quot;:60,&quot;top&quot;:249.99998195990173,&quot;width&quot;:853.85}"/>
</p:tagLst>
</file>

<file path=ppt/tags/tag11.xml><?xml version="1.0" encoding="utf-8"?>
<p:tagLst xmlns:p="http://schemas.openxmlformats.org/presentationml/2006/main">
  <p:tag name="KSO_WM_DIAGRAM_VIRTUALLY_FRAME" val="{&quot;height&quot;:240.00208332429102,&quot;left&quot;:60,&quot;top&quot;:249.99998195990173,&quot;width&quot;:853.85}"/>
</p:tagLst>
</file>

<file path=ppt/tags/tag12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13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14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15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16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17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18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19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20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21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22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23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24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25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26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27.xml><?xml version="1.0" encoding="utf-8"?>
<p:tagLst xmlns:p="http://schemas.openxmlformats.org/presentationml/2006/main">
  <p:tag name="KSO_WM_DIAGRAM_VIRTUALLY_FRAME" val="{&quot;height&quot;:165,&quot;left&quot;:60,&quot;top&quot;:120,&quot;width&quot;:856}"/>
</p:tagLst>
</file>

<file path=ppt/tags/tag28.xml><?xml version="1.0" encoding="utf-8"?>
<p:tagLst xmlns:p="http://schemas.openxmlformats.org/presentationml/2006/main">
  <p:tag name="KSO_WM_DIAGRAM_VIRTUALLY_FRAME" val="{&quot;height&quot;:400,&quot;left&quot;:60,&quot;top&quot;:40,&quot;width&quot;:850}"/>
</p:tagLst>
</file>

<file path=ppt/tags/tag29.xml><?xml version="1.0" encoding="utf-8"?>
<p:tagLst xmlns:p="http://schemas.openxmlformats.org/presentationml/2006/main">
  <p:tag name="KSO_WM_DIAGRAM_VIRTUALLY_FRAME" val="{&quot;height&quot;:400,&quot;left&quot;:60,&quot;top&quot;:40,&quot;width&quot;:850}"/>
</p:tagLst>
</file>

<file path=ppt/tags/tag30.xml><?xml version="1.0" encoding="utf-8"?>
<p:tagLst xmlns:p="http://schemas.openxmlformats.org/presentationml/2006/main">
  <p:tag name="KSO_WM_DIAGRAM_VIRTUALLY_FRAME" val="{&quot;height&quot;:400,&quot;left&quot;:60,&quot;top&quot;:40,&quot;width&quot;:850}"/>
</p:tagLst>
</file>

<file path=ppt/tags/tag31.xml><?xml version="1.0" encoding="utf-8"?>
<p:tagLst xmlns:p="http://schemas.openxmlformats.org/presentationml/2006/main">
  <p:tag name="KSO_WM_DIAGRAM_VIRTUALLY_FRAME" val="{&quot;height&quot;:400,&quot;left&quot;:60,&quot;top&quot;:40,&quot;width&quot;:850}"/>
</p:tagLst>
</file>

<file path=ppt/tags/tag32.xml><?xml version="1.0" encoding="utf-8"?>
<p:tagLst xmlns:p="http://schemas.openxmlformats.org/presentationml/2006/main">
  <p:tag name="KSO_WM_DIAGRAM_VIRTUALLY_FRAME" val="{&quot;height&quot;:400,&quot;left&quot;:60,&quot;top&quot;:40,&quot;width&quot;:850}"/>
</p:tagLst>
</file>

<file path=ppt/tags/tag33.xml><?xml version="1.0" encoding="utf-8"?>
<p:tagLst xmlns:p="http://schemas.openxmlformats.org/presentationml/2006/main">
  <p:tag name="KSO_WM_DIAGRAM_VIRTUALLY_FRAME" val="{&quot;height&quot;:400,&quot;left&quot;:60,&quot;top&quot;:40,&quot;width&quot;:850}"/>
</p:tagLst>
</file>

<file path=ppt/tags/tag34.xml><?xml version="1.0" encoding="utf-8"?>
<p:tagLst xmlns:p="http://schemas.openxmlformats.org/presentationml/2006/main">
  <p:tag name="KSO_WM_DIAGRAM_VIRTUALLY_FRAME" val="{&quot;height&quot;:400,&quot;left&quot;:60,&quot;top&quot;:40,&quot;width&quot;:850}"/>
</p:tagLst>
</file>

<file path=ppt/tags/tag35.xml><?xml version="1.0" encoding="utf-8"?>
<p:tagLst xmlns:p="http://schemas.openxmlformats.org/presentationml/2006/main">
  <p:tag name="KSO_WM_DIAGRAM_VIRTUALLY_FRAME" val="{&quot;height&quot;:400,&quot;left&quot;:60,&quot;top&quot;:40,&quot;width&quot;:850}"/>
</p:tagLst>
</file>

<file path=ppt/tags/tag36.xml><?xml version="1.0" encoding="utf-8"?>
<p:tagLst xmlns:p="http://schemas.openxmlformats.org/presentationml/2006/main">
  <p:tag name="KSO_WM_DIAGRAM_VIRTUALLY_FRAME" val="{&quot;height&quot;:400,&quot;left&quot;:60,&quot;top&quot;:40,&quot;width&quot;:850}"/>
</p:tagLst>
</file>

<file path=ppt/tags/tag37.xml><?xml version="1.0" encoding="utf-8"?>
<p:tagLst xmlns:p="http://schemas.openxmlformats.org/presentationml/2006/main">
  <p:tag name="KSO_WM_DIAGRAM_VIRTUALLY_FRAME" val="{&quot;height&quot;:400,&quot;left&quot;:60,&quot;top&quot;:40,&quot;width&quot;:850}"/>
</p:tagLst>
</file>

<file path=ppt/tags/tag38.xml><?xml version="1.0" encoding="utf-8"?>
<p:tagLst xmlns:p="http://schemas.openxmlformats.org/presentationml/2006/main">
  <p:tag name="KSO_WM_DIAGRAM_VIRTUALLY_FRAME" val="{&quot;height&quot;:400,&quot;left&quot;:60,&quot;top&quot;:40,&quot;width&quot;:850}"/>
</p:tagLst>
</file>

<file path=ppt/tags/tag39.xml><?xml version="1.0" encoding="utf-8"?>
<p:tagLst xmlns:p="http://schemas.openxmlformats.org/presentationml/2006/main">
  <p:tag name="KSO_WM_DIAGRAM_VIRTUALLY_FRAME" val="{&quot;height&quot;:400,&quot;left&quot;:60,&quot;top&quot;:40,&quot;width&quot;:850}"/>
</p:tagLst>
</file>

<file path=ppt/tags/tag40.xml><?xml version="1.0" encoding="utf-8"?>
<p:tagLst xmlns:p="http://schemas.openxmlformats.org/presentationml/2006/main">
  <p:tag name="KSO_WM_DIAGRAM_VIRTUALLY_FRAME" val="{&quot;height&quot;:400,&quot;left&quot;:60,&quot;top&quot;:40,&quot;width&quot;:850}"/>
</p:tagLst>
</file>

<file path=ppt/tags/tag41.xml><?xml version="1.0" encoding="utf-8"?>
<p:tagLst xmlns:p="http://schemas.openxmlformats.org/presentationml/2006/main">
  <p:tag name="KSO_WM_DIAGRAM_VIRTUALLY_FRAME" val="{&quot;height&quot;:279.1,&quot;left&quot;:60,&quot;top&quot;:120,&quot;width&quot;:850}"/>
</p:tagLst>
</file>

<file path=ppt/tags/tag42.xml><?xml version="1.0" encoding="utf-8"?>
<p:tagLst xmlns:p="http://schemas.openxmlformats.org/presentationml/2006/main">
  <p:tag name="KSO_WM_DIAGRAM_VIRTUALLY_FRAME" val="{&quot;height&quot;:279.1,&quot;left&quot;:60,&quot;top&quot;:120,&quot;width&quot;:850}"/>
</p:tagLst>
</file>

<file path=ppt/tags/tag43.xml><?xml version="1.0" encoding="utf-8"?>
<p:tagLst xmlns:p="http://schemas.openxmlformats.org/presentationml/2006/main">
  <p:tag name="KSO_WM_DIAGRAM_VIRTUALLY_FRAME" val="{&quot;height&quot;:279.1,&quot;left&quot;:60,&quot;top&quot;:120,&quot;width&quot;:850}"/>
</p:tagLst>
</file>

<file path=ppt/tags/tag44.xml><?xml version="1.0" encoding="utf-8"?>
<p:tagLst xmlns:p="http://schemas.openxmlformats.org/presentationml/2006/main">
  <p:tag name="KSO_WM_DIAGRAM_VIRTUALLY_FRAME" val="{&quot;height&quot;:279.1,&quot;left&quot;:60,&quot;top&quot;:120,&quot;width&quot;:850}"/>
</p:tagLst>
</file>

<file path=ppt/tags/tag45.xml><?xml version="1.0" encoding="utf-8"?>
<p:tagLst xmlns:p="http://schemas.openxmlformats.org/presentationml/2006/main">
  <p:tag name="KSO_WM_DIAGRAM_VIRTUALLY_FRAME" val="{&quot;height&quot;:279.1,&quot;left&quot;:60,&quot;top&quot;:120,&quot;width&quot;:850}"/>
</p:tagLst>
</file>

<file path=ppt/tags/tag46.xml><?xml version="1.0" encoding="utf-8"?>
<p:tagLst xmlns:p="http://schemas.openxmlformats.org/presentationml/2006/main">
  <p:tag name="KSO_WM_DIAGRAM_VIRTUALLY_FRAME" val="{&quot;height&quot;:279.1,&quot;left&quot;:60,&quot;top&quot;:120,&quot;width&quot;:850}"/>
</p:tagLst>
</file>

<file path=ppt/tags/tag47.xml><?xml version="1.0" encoding="utf-8"?>
<p:tagLst xmlns:p="http://schemas.openxmlformats.org/presentationml/2006/main">
  <p:tag name="KSO_WM_DIAGRAM_VIRTUALLY_FRAME" val="{&quot;height&quot;:279.1,&quot;left&quot;:60,&quot;top&quot;:120,&quot;width&quot;:850}"/>
</p:tagLst>
</file>

<file path=ppt/tags/tag48.xml><?xml version="1.0" encoding="utf-8"?>
<p:tagLst xmlns:p="http://schemas.openxmlformats.org/presentationml/2006/main">
  <p:tag name="KSO_WM_DIAGRAM_VIRTUALLY_FRAME" val="{&quot;height&quot;:279.1,&quot;left&quot;:60,&quot;top&quot;:120,&quot;width&quot;:850}"/>
</p:tagLst>
</file>

<file path=ppt/tags/tag49.xml><?xml version="1.0" encoding="utf-8"?>
<p:tagLst xmlns:p="http://schemas.openxmlformats.org/presentationml/2006/main">
  <p:tag name="KSO_WM_DIAGRAM_VIRTUALLY_FRAME" val="{&quot;height&quot;:279.1,&quot;left&quot;:60,&quot;top&quot;:120,&quot;width&quot;:850}"/>
</p:tagLst>
</file>

<file path=ppt/tags/tag50.xml><?xml version="1.0" encoding="utf-8"?>
<p:tagLst xmlns:p="http://schemas.openxmlformats.org/presentationml/2006/main">
  <p:tag name="KSO_WM_DIAGRAM_VIRTUALLY_FRAME" val="{&quot;height&quot;:279.1,&quot;left&quot;:60,&quot;top&quot;:120,&quot;width&quot;:850}"/>
</p:tagLst>
</file>

<file path=ppt/tags/tag51.xml><?xml version="1.0" encoding="utf-8"?>
<p:tagLst xmlns:p="http://schemas.openxmlformats.org/presentationml/2006/main">
  <p:tag name="KSO_WM_DIAGRAM_VIRTUALLY_FRAME" val="{&quot;height&quot;:279.1,&quot;left&quot;:60,&quot;top&quot;:120,&quot;width&quot;:850}"/>
</p:tagLst>
</file>

<file path=ppt/tags/tag52.xml><?xml version="1.0" encoding="utf-8"?>
<p:tagLst xmlns:p="http://schemas.openxmlformats.org/presentationml/2006/main">
  <p:tag name="KSO_WM_DIAGRAM_VIRTUALLY_FRAME" val="{&quot;height&quot;:279.1,&quot;left&quot;:60,&quot;top&quot;:120,&quot;width&quot;:850}"/>
</p:tagLst>
</file>

<file path=ppt/tags/tag53.xml><?xml version="1.0" encoding="utf-8"?>
<p:tagLst xmlns:p="http://schemas.openxmlformats.org/presentationml/2006/main">
  <p:tag name="KSO_WM_DIAGRAM_VIRTUALLY_FRAME" val="{&quot;height&quot;:279.1,&quot;left&quot;:60,&quot;top&quot;:120,&quot;width&quot;:850}"/>
</p:tagLst>
</file>

<file path=ppt/tags/tag54.xml><?xml version="1.0" encoding="utf-8"?>
<p:tagLst xmlns:p="http://schemas.openxmlformats.org/presentationml/2006/main">
  <p:tag name="KSO_WM_DIAGRAM_VIRTUALLY_FRAME" val="{&quot;height&quot;:292.0999810408583,&quot;left&quot;:60,&quot;top&quot;:107.00001895914163,&quot;width&quot;:850}"/>
</p:tagLst>
</file>

<file path=ppt/tags/tag55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56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57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2474</Words>
  <Application>WPS 演示</Application>
  <PresentationFormat/>
  <Paragraphs>228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生活不易靠演技</cp:lastModifiedBy>
  <cp:revision>5</cp:revision>
  <dcterms:created xsi:type="dcterms:W3CDTF">2026-06-02T12:20:00Z</dcterms:created>
  <dcterms:modified xsi:type="dcterms:W3CDTF">2026-06-06T15:48:22Z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{"Label":"1","ContentProducer":"001191110102MACQD9K64010000","ProduceID":"7646769090959805621","ReservedCode1":"","ContentPropagator":"","PropagateID":"","ReservedCode2":""}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77B3CE0628404D5093A9C6C669970C96_12</vt:lpwstr>
  </property>
</Properties>
</file>