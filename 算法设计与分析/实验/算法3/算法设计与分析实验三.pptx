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7"/>
  </p:handoutMasterIdLst>
  <p:sldIdLst>
    <p:sldId id="256" r:id="rId3"/>
    <p:sldId id="310" r:id="rId5"/>
    <p:sldId id="326" r:id="rId6"/>
    <p:sldId id="312" r:id="rId7"/>
    <p:sldId id="325" r:id="rId8"/>
    <p:sldId id="314" r:id="rId9"/>
    <p:sldId id="316" r:id="rId10"/>
    <p:sldId id="317" r:id="rId11"/>
    <p:sldId id="320" r:id="rId12"/>
    <p:sldId id="321" r:id="rId13"/>
    <p:sldId id="323" r:id="rId14"/>
    <p:sldId id="324" r:id="rId15"/>
    <p:sldId id="274" r:id="rId16"/>
  </p:sldIdLst>
  <p:sldSz cx="12192000" cy="6858000"/>
  <p:notesSz cx="6858000" cy="9144000"/>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欧阳 宇杰" initials="欧阳"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5153" autoAdjust="0"/>
  </p:normalViewPr>
  <p:slideViewPr>
    <p:cSldViewPr snapToGrid="0" snapToObjects="1" showGuides="1">
      <p:cViewPr varScale="1">
        <p:scale>
          <a:sx n="84" d="100"/>
          <a:sy n="84" d="100"/>
        </p:scale>
        <p:origin x="566" y="8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3" d="100"/>
          <a:sy n="83"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252723D-D4DE-4556-A681-674D63E5E761}" type="datetime1">
              <a:rPr lang="zh-CN" altLang="en-US" smtClean="0">
                <a:latin typeface="Microsoft YaHei UI" panose="020B0503020204020204" pitchFamily="34" charset="-122"/>
                <a:ea typeface="Microsoft YaHei UI" panose="020B0503020204020204" pitchFamily="34" charset="-122"/>
              </a:rPr>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EC605DA-80A8-4B7B-B889-6C5700BB4CEA}"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2A407D89-7B00-4E0F-AC04-610B20E7CAF9}" type="datetime1">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F3544625-0ADF-4414-89A2-9E135F0C849F}" type="slidenum">
              <a:rPr lang="en-US" altLang="zh-CN" noProof="0" smtClean="0"/>
            </a:fld>
            <a:endParaRPr lang="zh-CN" altLang="en-US" noProof="0">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5"/>
          </p:nvPr>
        </p:nvSpPr>
        <p:spPr/>
        <p:txBody>
          <a:bodyPr rtlCol="0"/>
          <a:lstStyle/>
          <a:p>
            <a:pPr rtl="0"/>
            <a:fld id="{F3544625-0ADF-4414-89A2-9E135F0C849F}"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5"/>
          </p:nvPr>
        </p:nvSpPr>
        <p:spPr/>
        <p:txBody>
          <a:bodyPr rtlCol="0"/>
          <a:lstStyle/>
          <a:p>
            <a:pPr rtl="0"/>
            <a:fld id="{F3544625-0ADF-4414-89A2-9E135F0C849F}"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ctrTitle"/>
          </p:nvPr>
        </p:nvSpPr>
        <p:spPr>
          <a:xfrm>
            <a:off x="3962399" y="1964267"/>
            <a:ext cx="7197726" cy="2421464"/>
          </a:xfrm>
        </p:spPr>
        <p:txBody>
          <a:bodyPr rtlCol="0" anchor="b">
            <a:normAutofit/>
          </a:bodyPr>
          <a:lstStyle>
            <a:lvl1pPr algn="r">
              <a:defRPr sz="4800">
                <a:effectLst/>
              </a:defRPr>
            </a:lvl1pPr>
          </a:lstStyle>
          <a:p>
            <a:pPr rtl="0"/>
            <a:r>
              <a:rPr lang="zh-CN" altLang="en-US" noProof="0"/>
              <a:t>单击此处编辑母版标题样式</a:t>
            </a:r>
            <a:endParaRPr lang="zh-CN" altLang="en-US" noProof="0"/>
          </a:p>
        </p:txBody>
      </p:sp>
      <p:sp>
        <p:nvSpPr>
          <p:cNvPr id="3" name="副标题 2"/>
          <p:cNvSpPr>
            <a:spLocks noGrp="1"/>
          </p:cNvSpPr>
          <p:nvPr>
            <p:ph type="subTitle" idx="1" hasCustomPrompt="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noProof="0"/>
              <a:t>单击以编辑母版副标题样式</a:t>
            </a:r>
            <a:endParaRPr lang="zh-CN" altLang="en-US" noProof="0"/>
          </a:p>
        </p:txBody>
      </p:sp>
      <p:sp>
        <p:nvSpPr>
          <p:cNvPr id="4" name="日期占位符 3"/>
          <p:cNvSpPr>
            <a:spLocks noGrp="1"/>
          </p:cNvSpPr>
          <p:nvPr>
            <p:ph type="dt" sz="half" idx="10"/>
          </p:nvPr>
        </p:nvSpPr>
        <p:spPr>
          <a:xfrm>
            <a:off x="8932558" y="5870575"/>
            <a:ext cx="1600200" cy="377825"/>
          </a:xfrm>
        </p:spPr>
        <p:txBody>
          <a:bodyPr rtlCol="0"/>
          <a:lstStyle/>
          <a:p>
            <a:pPr rtl="0"/>
            <a:fld id="{F8909168-4A34-4324-A83E-BD3E42B16F2A}" type="datetime1">
              <a:rPr lang="zh-CN" altLang="en-US" noProof="0" smtClean="0"/>
            </a:fld>
            <a:endParaRPr lang="zh-CN" altLang="en-US" noProof="0"/>
          </a:p>
        </p:txBody>
      </p:sp>
      <p:sp>
        <p:nvSpPr>
          <p:cNvPr id="5" name="页脚占位符 4"/>
          <p:cNvSpPr>
            <a:spLocks noGrp="1"/>
          </p:cNvSpPr>
          <p:nvPr>
            <p:ph type="ftr" sz="quarter" idx="11"/>
          </p:nvPr>
        </p:nvSpPr>
        <p:spPr>
          <a:xfrm>
            <a:off x="3962399" y="5870575"/>
            <a:ext cx="4893958" cy="377825"/>
          </a:xfrm>
        </p:spPr>
        <p:txBody>
          <a:bodyPr rtlCol="0"/>
          <a:lstStyle/>
          <a:p>
            <a:pPr rtl="0"/>
            <a:endParaRPr lang="zh-CN" altLang="en-US" noProof="0"/>
          </a:p>
        </p:txBody>
      </p:sp>
      <p:sp>
        <p:nvSpPr>
          <p:cNvPr id="6" name="幻灯片编号占位符 5"/>
          <p:cNvSpPr>
            <a:spLocks noGrp="1"/>
          </p:cNvSpPr>
          <p:nvPr>
            <p:ph type="sldNum" sz="quarter" idx="12"/>
          </p:nvPr>
        </p:nvSpPr>
        <p:spPr>
          <a:xfrm>
            <a:off x="10608958" y="5870575"/>
            <a:ext cx="551167" cy="377825"/>
          </a:xfrm>
        </p:spPr>
        <p:txBody>
          <a:bodyPr rtlCol="0"/>
          <a:lstStyle/>
          <a:p>
            <a:pPr rtl="0"/>
            <a:fld id="{69E57DC2-970A-4B3E-BB1C-7A09969E49DF}" type="slidenum">
              <a:rPr lang="en-US" altLang="zh-CN" noProof="0" smtClean="0"/>
            </a:fld>
            <a:endParaRPr lang="zh-CN" altLang="en-US" noProof="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a:p>
        </p:txBody>
      </p:sp>
      <p:sp>
        <p:nvSpPr>
          <p:cNvPr id="3" name="内容占位符 2"/>
          <p:cNvSpPr>
            <a:spLocks noGrp="1"/>
          </p:cNvSpPr>
          <p:nvPr>
            <p:ph idx="1"/>
          </p:nvPr>
        </p:nvSpPr>
        <p:spPr/>
        <p:txBody>
          <a:bodyPr rtlCol="0" anchor="ct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日期占位符 3"/>
          <p:cNvSpPr>
            <a:spLocks noGrp="1"/>
          </p:cNvSpPr>
          <p:nvPr>
            <p:ph type="dt" sz="half" idx="10"/>
          </p:nvPr>
        </p:nvSpPr>
        <p:spPr/>
        <p:txBody>
          <a:bodyPr rtlCol="0"/>
          <a:lstStyle/>
          <a:p>
            <a:pPr rtl="0"/>
            <a:fld id="{FAED38EE-2E2A-4F0B-8A99-E01B7D8AE739}"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3308581"/>
            <a:ext cx="10131427" cy="1468800"/>
          </a:xfrm>
        </p:spPr>
        <p:txBody>
          <a:bodyPr rtlCol="0" anchor="b"/>
          <a:lstStyle>
            <a:lvl1pPr algn="l">
              <a:defRPr sz="4000" b="0" cap="all"/>
            </a:lvl1p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p>
            <a:pPr rtl="0"/>
            <a:fld id="{DB9925AA-FD42-4E46-B5E3-34027E08BA98}"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a:p>
        </p:txBody>
      </p:sp>
      <p:sp>
        <p:nvSpPr>
          <p:cNvPr id="3" name="内容占位符 2"/>
          <p:cNvSpPr>
            <a:spLocks noGrp="1"/>
          </p:cNvSpPr>
          <p:nvPr>
            <p:ph sz="half" idx="1"/>
          </p:nvPr>
        </p:nvSpPr>
        <p:spPr>
          <a:xfrm>
            <a:off x="685802" y="2142067"/>
            <a:ext cx="4995334" cy="3649134"/>
          </a:xfrm>
        </p:spPr>
        <p:txBody>
          <a:bodyPr rtlCol="0">
            <a:normAutofit/>
          </a:body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内容占位符 3"/>
          <p:cNvSpPr>
            <a:spLocks noGrp="1"/>
          </p:cNvSpPr>
          <p:nvPr>
            <p:ph sz="half" idx="2"/>
          </p:nvPr>
        </p:nvSpPr>
        <p:spPr>
          <a:xfrm>
            <a:off x="5821895" y="2142067"/>
            <a:ext cx="4995332" cy="3649133"/>
          </a:xfrm>
        </p:spPr>
        <p:txBody>
          <a:bodyPr rtlCol="0">
            <a:normAutofit/>
          </a:body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5" name="日期占位符 4"/>
          <p:cNvSpPr>
            <a:spLocks noGrp="1"/>
          </p:cNvSpPr>
          <p:nvPr>
            <p:ph type="dt" sz="half" idx="10"/>
          </p:nvPr>
        </p:nvSpPr>
        <p:spPr/>
        <p:txBody>
          <a:bodyPr rtlCol="0"/>
          <a:lstStyle/>
          <a:p>
            <a:pPr rtl="0"/>
            <a:fld id="{7B6E6046-E7F8-43A6-A21B-5E897CAEBD47}" type="datetime1">
              <a:rPr lang="zh-CN" altLang="en-US" noProof="0" smtClean="0"/>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vl1p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685801" y="2870201"/>
            <a:ext cx="4996923" cy="2920998"/>
          </a:xfrm>
        </p:spPr>
        <p:txBody>
          <a:bodyPr rtlCol="0" anchor="t">
            <a:normAutofit/>
          </a:body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5" name="文本占位符 4"/>
          <p:cNvSpPr>
            <a:spLocks noGrp="1"/>
          </p:cNvSpPr>
          <p:nvPr>
            <p:ph type="body" sz="quarter" idx="3"/>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6" name="内容占位符 5"/>
          <p:cNvSpPr>
            <a:spLocks noGrp="1"/>
          </p:cNvSpPr>
          <p:nvPr>
            <p:ph sz="quarter" idx="4"/>
          </p:nvPr>
        </p:nvSpPr>
        <p:spPr>
          <a:xfrm>
            <a:off x="5823483" y="2870201"/>
            <a:ext cx="4995334" cy="2920998"/>
          </a:xfrm>
        </p:spPr>
        <p:txBody>
          <a:bodyPr rtlCol="0" anchor="t">
            <a:normAutofit/>
          </a:body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7" name="日期占位符 6"/>
          <p:cNvSpPr>
            <a:spLocks noGrp="1"/>
          </p:cNvSpPr>
          <p:nvPr>
            <p:ph type="dt" sz="half" idx="10"/>
          </p:nvPr>
        </p:nvSpPr>
        <p:spPr/>
        <p:txBody>
          <a:bodyPr rtlCol="0"/>
          <a:lstStyle/>
          <a:p>
            <a:pPr rtl="0"/>
            <a:fld id="{4076C7A7-9AEF-4176-B3C5-C9AC3A586E0A}" type="datetime1">
              <a:rPr lang="zh-CN" altLang="en-US" noProof="0" smtClean="0"/>
            </a:fld>
            <a:endParaRPr lang="zh-CN" altLang="en-US" noProof="0"/>
          </a:p>
        </p:txBody>
      </p:sp>
      <p:sp>
        <p:nvSpPr>
          <p:cNvPr id="8" name="页脚占位符 7"/>
          <p:cNvSpPr>
            <a:spLocks noGrp="1"/>
          </p:cNvSpPr>
          <p:nvPr>
            <p:ph type="ftr" sz="quarter" idx="11"/>
          </p:nvPr>
        </p:nvSpPr>
        <p:spPr/>
        <p:txBody>
          <a:bodyPr rtlCol="0"/>
          <a:lstStyle/>
          <a:p>
            <a:pPr rtl="0"/>
            <a:endParaRPr lang="zh-CN" altLang="en-US" noProof="0"/>
          </a:p>
        </p:txBody>
      </p:sp>
      <p:sp>
        <p:nvSpPr>
          <p:cNvPr id="9" name="灯片编号占位符 8"/>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图片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a:p>
        </p:txBody>
      </p:sp>
      <p:sp>
        <p:nvSpPr>
          <p:cNvPr id="3" name="日期占位符 2"/>
          <p:cNvSpPr>
            <a:spLocks noGrp="1"/>
          </p:cNvSpPr>
          <p:nvPr>
            <p:ph type="dt" sz="half" idx="10"/>
          </p:nvPr>
        </p:nvSpPr>
        <p:spPr/>
        <p:txBody>
          <a:bodyPr rtlCol="0"/>
          <a:lstStyle/>
          <a:p>
            <a:pPr rtl="0"/>
            <a:fld id="{629CBC08-4894-4154-92BB-CEC7564BF5D0}" type="datetime1">
              <a:rPr lang="zh-CN" altLang="en-US" noProof="0" smtClean="0"/>
            </a:fld>
            <a:endParaRPr lang="zh-CN" altLang="en-US" noProof="0"/>
          </a:p>
        </p:txBody>
      </p:sp>
      <p:sp>
        <p:nvSpPr>
          <p:cNvPr id="4" name="页脚占位符 3"/>
          <p:cNvSpPr>
            <a:spLocks noGrp="1"/>
          </p:cNvSpPr>
          <p:nvPr>
            <p:ph type="ftr" sz="quarter" idx="11"/>
          </p:nvPr>
        </p:nvSpPr>
        <p:spPr/>
        <p:txBody>
          <a:bodyPr rtlCol="0"/>
          <a:lstStyle/>
          <a:p>
            <a:pPr rtl="0"/>
            <a:endParaRPr lang="zh-CN" altLang="en-US" noProof="0"/>
          </a:p>
        </p:txBody>
      </p:sp>
      <p:sp>
        <p:nvSpPr>
          <p:cNvPr id="5" name="灯片编号占位符 4"/>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日期占位符 1"/>
          <p:cNvSpPr>
            <a:spLocks noGrp="1"/>
          </p:cNvSpPr>
          <p:nvPr>
            <p:ph type="dt" sz="half" idx="10"/>
          </p:nvPr>
        </p:nvSpPr>
        <p:spPr/>
        <p:txBody>
          <a:bodyPr rtlCol="0"/>
          <a:lstStyle/>
          <a:p>
            <a:pPr rtl="0"/>
            <a:fld id="{5704ACDB-403D-45F7-BA7B-CDC631E103DE}" type="datetime1">
              <a:rPr lang="zh-CN" altLang="en-US" noProof="0" smtClean="0"/>
            </a:fld>
            <a:endParaRPr lang="zh-CN" altLang="en-US" noProof="0"/>
          </a:p>
        </p:txBody>
      </p:sp>
      <p:sp>
        <p:nvSpPr>
          <p:cNvPr id="3" name="页脚占位符 2"/>
          <p:cNvSpPr>
            <a:spLocks noGrp="1"/>
          </p:cNvSpPr>
          <p:nvPr>
            <p:ph type="ftr" sz="quarter" idx="11"/>
          </p:nvPr>
        </p:nvSpPr>
        <p:spPr/>
        <p:txBody>
          <a:bodyPr rtlCol="0"/>
          <a:lstStyle/>
          <a:p>
            <a:pPr rtl="0"/>
            <a:endParaRPr lang="zh-CN" altLang="en-US" noProof="0"/>
          </a:p>
        </p:txBody>
      </p:sp>
      <p:sp>
        <p:nvSpPr>
          <p:cNvPr id="4" name="灯片编号占位符 3"/>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2074333"/>
            <a:ext cx="3680885" cy="1371600"/>
          </a:xfrm>
        </p:spPr>
        <p:txBody>
          <a:bodyPr rtlCol="0" anchor="b">
            <a:normAutofit/>
          </a:bodyPr>
          <a:lstStyle>
            <a:lvl1pPr algn="l">
              <a:defRPr sz="2400" b="0"/>
            </a:lvl1pPr>
          </a:lstStyle>
          <a:p>
            <a:pPr rtl="0"/>
            <a:r>
              <a:rPr lang="zh-CN" altLang="en-US" noProof="0"/>
              <a:t>单击此处编辑母版标题样式</a:t>
            </a:r>
            <a:endParaRPr lang="zh-CN" altLang="en-US" noProof="0"/>
          </a:p>
        </p:txBody>
      </p:sp>
      <p:sp>
        <p:nvSpPr>
          <p:cNvPr id="3" name="内容占位符 2"/>
          <p:cNvSpPr>
            <a:spLocks noGrp="1"/>
          </p:cNvSpPr>
          <p:nvPr>
            <p:ph idx="1"/>
          </p:nvPr>
        </p:nvSpPr>
        <p:spPr>
          <a:xfrm>
            <a:off x="4648201" y="609601"/>
            <a:ext cx="6169026" cy="5181600"/>
          </a:xfrm>
        </p:spPr>
        <p:txBody>
          <a:bodyPr rtlCol="0" anchor="ctr">
            <a:normAutofit/>
          </a:body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文本占位符 3"/>
          <p:cNvSpPr>
            <a:spLocks noGrp="1"/>
          </p:cNvSpPr>
          <p:nvPr>
            <p:ph type="body" sz="half" idx="2"/>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endParaRPr lang="zh-CN" altLang="en-US" noProof="0"/>
          </a:p>
        </p:txBody>
      </p:sp>
      <p:sp>
        <p:nvSpPr>
          <p:cNvPr id="5" name="日期占位符 4"/>
          <p:cNvSpPr>
            <a:spLocks noGrp="1"/>
          </p:cNvSpPr>
          <p:nvPr>
            <p:ph type="dt" sz="half" idx="10"/>
          </p:nvPr>
        </p:nvSpPr>
        <p:spPr/>
        <p:txBody>
          <a:bodyPr rtlCol="0"/>
          <a:lstStyle/>
          <a:p>
            <a:pPr rtl="0"/>
            <a:fld id="{D8905170-1958-47F4-9682-359E29E272CE}" type="datetime1">
              <a:rPr lang="zh-CN" altLang="en-US" noProof="0" smtClean="0"/>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1600200"/>
            <a:ext cx="6164653" cy="1371600"/>
          </a:xfrm>
        </p:spPr>
        <p:txBody>
          <a:bodyPr rtlCol="0" anchor="b">
            <a:normAutofit/>
          </a:bodyPr>
          <a:lstStyle>
            <a:lvl1pPr algn="l">
              <a:defRPr sz="2800" b="0"/>
            </a:lvl1pPr>
          </a:lstStyle>
          <a:p>
            <a:pPr rtl="0"/>
            <a:r>
              <a:rPr lang="zh-CN" altLang="en-US" noProof="0"/>
              <a:t>单击此处编辑母版标题样式</a:t>
            </a:r>
            <a:endParaRPr lang="zh-CN" altLang="en-US" noProof="0"/>
          </a:p>
        </p:txBody>
      </p:sp>
      <p:sp>
        <p:nvSpPr>
          <p:cNvPr id="14" name="图片占位符 2"/>
          <p:cNvSpPr>
            <a:spLocks noGrp="1" noChangeAspect="1"/>
          </p:cNvSpPr>
          <p:nvPr>
            <p:ph type="pic" idx="1" hasCustomPrompt="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endParaRPr lang="zh-CN" altLang="en-US" noProof="0"/>
          </a:p>
        </p:txBody>
      </p:sp>
      <p:sp>
        <p:nvSpPr>
          <p:cNvPr id="4" name="文本占位符 3"/>
          <p:cNvSpPr>
            <a:spLocks noGrp="1"/>
          </p:cNvSpPr>
          <p:nvPr>
            <p:ph type="body" sz="half" idx="2"/>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endParaRPr lang="zh-CN" altLang="en-US" noProof="0"/>
          </a:p>
        </p:txBody>
      </p:sp>
      <p:sp>
        <p:nvSpPr>
          <p:cNvPr id="5" name="日期占位符 4"/>
          <p:cNvSpPr>
            <a:spLocks noGrp="1"/>
          </p:cNvSpPr>
          <p:nvPr>
            <p:ph type="dt" sz="half" idx="10"/>
          </p:nvPr>
        </p:nvSpPr>
        <p:spPr/>
        <p:txBody>
          <a:bodyPr rtlCol="0"/>
          <a:lstStyle/>
          <a:p>
            <a:pPr rtl="0"/>
            <a:fld id="{57105F54-EE89-4D9B-9F9C-6DECEE061631}" type="datetime1">
              <a:rPr lang="zh-CN" altLang="en-US" noProof="0" smtClean="0"/>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4732865"/>
            <a:ext cx="10131427" cy="566738"/>
          </a:xfrm>
        </p:spPr>
        <p:txBody>
          <a:bodyPr rtlCol="0" anchor="b">
            <a:normAutofit/>
          </a:bodyPr>
          <a:lstStyle>
            <a:lvl1pPr algn="l">
              <a:defRPr sz="2400" b="0"/>
            </a:lvl1pPr>
          </a:lstStyle>
          <a:p>
            <a:pPr rtl="0"/>
            <a:r>
              <a:rPr lang="zh-CN" altLang="en-US" noProof="0"/>
              <a:t>单击此处编辑母版标题样式</a:t>
            </a:r>
            <a:endParaRPr lang="zh-CN" altLang="en-US" noProof="0"/>
          </a:p>
        </p:txBody>
      </p:sp>
      <p:sp>
        <p:nvSpPr>
          <p:cNvPr id="3" name="图片占位符 2"/>
          <p:cNvSpPr>
            <a:spLocks noGrp="1" noChangeAspect="1"/>
          </p:cNvSpPr>
          <p:nvPr>
            <p:ph type="pic" idx="1" hasCustomPrompt="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endParaRPr lang="zh-CN" altLang="en-US" noProof="0"/>
          </a:p>
        </p:txBody>
      </p:sp>
      <p:sp>
        <p:nvSpPr>
          <p:cNvPr id="4" name="文本占位符 3"/>
          <p:cNvSpPr>
            <a:spLocks noGrp="1"/>
          </p:cNvSpPr>
          <p:nvPr>
            <p:ph type="body" sz="half" idx="2"/>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endParaRPr lang="zh-CN" altLang="en-US" noProof="0"/>
          </a:p>
        </p:txBody>
      </p:sp>
      <p:sp>
        <p:nvSpPr>
          <p:cNvPr id="5" name="日期占位符 4"/>
          <p:cNvSpPr>
            <a:spLocks noGrp="1"/>
          </p:cNvSpPr>
          <p:nvPr>
            <p:ph type="dt" sz="half" idx="10"/>
          </p:nvPr>
        </p:nvSpPr>
        <p:spPr/>
        <p:txBody>
          <a:bodyPr rtlCol="0"/>
          <a:lstStyle/>
          <a:p>
            <a:pPr rtl="0"/>
            <a:fld id="{6AC26EF6-1ED0-4FB0-8F90-2C9921C13D99}" type="datetime1">
              <a:rPr lang="zh-CN" altLang="en-US" noProof="0" smtClean="0"/>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文字">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131427" cy="3124199"/>
          </a:xfrm>
        </p:spPr>
        <p:txBody>
          <a:bodyPr rtlCol="0" anchor="ctr">
            <a:normAutofit/>
          </a:bodyPr>
          <a:lstStyle>
            <a:lvl1pPr algn="l">
              <a:defRPr sz="3200" b="0" cap="none"/>
            </a:lvl1p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p>
            <a:pPr rtl="0"/>
            <a:fld id="{43EE78C5-681C-4317-A28E-695CCF90563A}"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题注的引用">
    <p:spTree>
      <p:nvGrpSpPr>
        <p:cNvPr id="1" name=""/>
        <p:cNvGrpSpPr/>
        <p:nvPr/>
      </p:nvGrpSpPr>
      <p:grpSpPr>
        <a:xfrm>
          <a:off x="0" y="0"/>
          <a:ext cx="0" cy="0"/>
          <a:chOff x="0" y="0"/>
          <a:chExt cx="0" cy="0"/>
        </a:xfrm>
      </p:grpSpPr>
      <p:pic>
        <p:nvPicPr>
          <p:cNvPr id="11" name="图片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文本框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endParaRPr lang="zh-CN" altLang="en-US" sz="8000" noProof="0">
              <a:solidFill>
                <a:schemeClr val="tx1"/>
              </a:solidFill>
              <a:effectLst/>
              <a:latin typeface="Microsoft YaHei UI" panose="020B0503020204020204" pitchFamily="34" charset="-122"/>
              <a:ea typeface="Microsoft YaHei UI" panose="020B0503020204020204" pitchFamily="34" charset="-122"/>
            </a:endParaRPr>
          </a:p>
        </p:txBody>
      </p:sp>
      <p:sp>
        <p:nvSpPr>
          <p:cNvPr id="14" name="文本框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endParaRPr lang="zh-CN" altLang="en-US" sz="8000" noProof="0">
              <a:solidFill>
                <a:schemeClr val="tx1"/>
              </a:solidFill>
              <a:effectLst/>
              <a:latin typeface="Microsoft YaHei UI" panose="020B0503020204020204" pitchFamily="34" charset="-122"/>
              <a:ea typeface="Microsoft YaHei UI" panose="020B0503020204020204" pitchFamily="34" charset="-122"/>
            </a:endParaRPr>
          </a:p>
        </p:txBody>
      </p:sp>
      <p:sp>
        <p:nvSpPr>
          <p:cNvPr id="16" name="标题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a:p>
        </p:txBody>
      </p:sp>
      <p:sp>
        <p:nvSpPr>
          <p:cNvPr id="10" name="文本占位符 9"/>
          <p:cNvSpPr>
            <a:spLocks noGrp="1"/>
          </p:cNvSpPr>
          <p:nvPr>
            <p:ph type="body" sz="quarter" idx="13"/>
          </p:nvPr>
        </p:nvSpPr>
        <p:spPr>
          <a:xfrm>
            <a:off x="1097875" y="3352800"/>
            <a:ext cx="9339184" cy="381000"/>
          </a:xfrm>
        </p:spPr>
        <p:txBody>
          <a:bodyPr rtlCol="0" anchor="ctr"/>
          <a:lstStyle>
            <a:lvl1pPr marL="0" indent="0">
              <a:buFontTx/>
              <a:buNone/>
              <a:defRPr>
                <a:latin typeface="Microsoft YaHei UI" panose="020B0503020204020204" pitchFamily="34" charset="-122"/>
                <a:ea typeface="Microsoft YaHei UI"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zh-CN" altLang="en-US" noProof="0"/>
              <a:t>单击此处编辑母版文本样式</a:t>
            </a:r>
            <a:endParaRPr lang="zh-CN" altLang="en-US" noProof="0"/>
          </a:p>
        </p:txBody>
      </p:sp>
      <p:sp>
        <p:nvSpPr>
          <p:cNvPr id="3" name="文本占位符 2"/>
          <p:cNvSpPr>
            <a:spLocks noGrp="1"/>
          </p:cNvSpPr>
          <p:nvPr>
            <p:ph type="body" idx="1"/>
          </p:nvPr>
        </p:nvSpPr>
        <p:spPr>
          <a:xfrm>
            <a:off x="687465" y="4343400"/>
            <a:ext cx="10152367" cy="1447800"/>
          </a:xfrm>
        </p:spPr>
        <p:txBody>
          <a:bodyPr rtlCol="0" anchor="ctr">
            <a:normAutofit/>
          </a:bodyPr>
          <a:lstStyle>
            <a:lvl1pPr marL="0" indent="0" algn="l">
              <a:buNone/>
              <a:defRPr sz="200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DDBD9451-F8BC-4121-A45B-F0B7464CF2AC}"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a:p>
        </p:txBody>
      </p:sp>
      <p:sp>
        <p:nvSpPr>
          <p:cNvPr id="6" name="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69E57DC2-970A-4B3E-BB1C-7A09969E49DF}" type="slidenum">
              <a:rPr lang="en-US" altLang="zh-CN" noProof="0" smtClean="0"/>
            </a:fld>
            <a:endParaRPr lang="zh-CN" alt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2" y="3308581"/>
            <a:ext cx="10131425" cy="1468800"/>
          </a:xfrm>
        </p:spPr>
        <p:txBody>
          <a:bodyPr rtlCol="0" anchor="b">
            <a:normAutofit/>
          </a:bodyPr>
          <a:lstStyle>
            <a:lvl1pPr algn="l">
              <a:defRPr sz="3200" b="0" cap="none"/>
            </a:lvl1p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p>
            <a:pPr rtl="0"/>
            <a:fld id="{73FEA4BC-BAE6-4A1F-994E-523C55AE5C9B}"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用名片">
    <p:spTree>
      <p:nvGrpSpPr>
        <p:cNvPr id="1" name=""/>
        <p:cNvGrpSpPr/>
        <p:nvPr/>
      </p:nvGrpSpPr>
      <p:grpSpPr>
        <a:xfrm>
          <a:off x="0" y="0"/>
          <a:ext cx="0" cy="0"/>
          <a:chOff x="0" y="0"/>
          <a:chExt cx="0" cy="0"/>
        </a:xfrm>
      </p:grpSpPr>
      <p:pic>
        <p:nvPicPr>
          <p:cNvPr id="11" name="图片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文本框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endParaRPr lang="zh-CN" altLang="en-US" sz="8000" noProof="0">
              <a:solidFill>
                <a:schemeClr val="tx1"/>
              </a:solidFill>
              <a:effectLst/>
              <a:latin typeface="Microsoft YaHei UI" panose="020B0503020204020204" pitchFamily="34" charset="-122"/>
              <a:ea typeface="Microsoft YaHei UI" panose="020B0503020204020204" pitchFamily="34" charset="-122"/>
            </a:endParaRPr>
          </a:p>
        </p:txBody>
      </p:sp>
      <p:sp>
        <p:nvSpPr>
          <p:cNvPr id="14" name="文本框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endParaRPr lang="zh-CN" altLang="en-US" sz="8000" noProof="0">
              <a:solidFill>
                <a:schemeClr val="tx1"/>
              </a:solidFill>
              <a:effectLst/>
              <a:latin typeface="Microsoft YaHei UI" panose="020B0503020204020204" pitchFamily="34" charset="-122"/>
              <a:ea typeface="Microsoft YaHei UI" panose="020B0503020204020204" pitchFamily="34" charset="-122"/>
            </a:endParaRPr>
          </a:p>
        </p:txBody>
      </p:sp>
      <p:sp>
        <p:nvSpPr>
          <p:cNvPr id="16" name="标题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a:p>
        </p:txBody>
      </p:sp>
      <p:sp>
        <p:nvSpPr>
          <p:cNvPr id="10" name="文本占位符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latin typeface="Microsoft YaHei UI" panose="020B0503020204020204" pitchFamily="34" charset="-122"/>
                <a:ea typeface="Microsoft YaHei UI" panose="020B0503020204020204" pitchFamily="34" charset="-122"/>
              </a:defRPr>
            </a:lvl1pPr>
          </a:lstStyle>
          <a:p>
            <a:pPr marL="0" lvl="0" rtl="0">
              <a:spcBef>
                <a:spcPct val="0"/>
              </a:spcBef>
              <a:buNone/>
            </a:pPr>
            <a:r>
              <a:rPr lang="zh-CN" altLang="en-US" noProof="0"/>
              <a:t>单击此处编辑母版文本样式</a:t>
            </a:r>
            <a:endParaRPr lang="zh-CN" altLang="en-US" noProof="0"/>
          </a:p>
        </p:txBody>
      </p:sp>
      <p:sp>
        <p:nvSpPr>
          <p:cNvPr id="3" name="文本占位符 2"/>
          <p:cNvSpPr>
            <a:spLocks noGrp="1"/>
          </p:cNvSpPr>
          <p:nvPr>
            <p:ph type="body" idx="1"/>
          </p:nvPr>
        </p:nvSpPr>
        <p:spPr>
          <a:xfrm>
            <a:off x="685799" y="4775200"/>
            <a:ext cx="10135436" cy="1016000"/>
          </a:xfrm>
        </p:spPr>
        <p:txBody>
          <a:bodyPr rtlCol="0" anchor="t">
            <a:normAutofit/>
          </a:bodyPr>
          <a:lstStyle>
            <a:lvl1pPr marL="0" indent="0" algn="l">
              <a:buNone/>
              <a:defRPr sz="180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025E4979-2E7C-4B55-B892-E9FF271F4E15}"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a:p>
        </p:txBody>
      </p:sp>
      <p:sp>
        <p:nvSpPr>
          <p:cNvPr id="6" name="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69E57DC2-970A-4B3E-BB1C-7A09969E49DF}" type="slidenum">
              <a:rPr lang="en-US" altLang="zh-CN" noProof="0" smtClean="0"/>
            </a:fld>
            <a:endParaRPr lang="zh-CN" altLang="en-U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或 False">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zh-CN" altLang="en-US" noProof="0"/>
              <a:t>单击此处编辑母版标题样式</a:t>
            </a:r>
            <a:endParaRPr lang="zh-CN" altLang="en-US" noProof="0"/>
          </a:p>
        </p:txBody>
      </p:sp>
      <p:sp>
        <p:nvSpPr>
          <p:cNvPr id="10" name="文本占位符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zh-CN" altLang="en-US" noProof="0"/>
              <a:t>单击此处编辑母版文本样式</a:t>
            </a:r>
            <a:endParaRPr lang="zh-CN" altLang="en-US" noProof="0"/>
          </a:p>
        </p:txBody>
      </p:sp>
      <p:sp>
        <p:nvSpPr>
          <p:cNvPr id="3" name="文本占位符 2"/>
          <p:cNvSpPr>
            <a:spLocks noGrp="1"/>
          </p:cNvSpPr>
          <p:nvPr>
            <p:ph type="body" idx="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p>
            <a:pPr rtl="0"/>
            <a:fld id="{171027BD-1FB7-485B-9032-6DD3B27E5252}"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标题 1"/>
          <p:cNvSpPr>
            <a:spLocks noGrp="1"/>
          </p:cNvSpPr>
          <p:nvPr>
            <p:ph type="title"/>
          </p:nvPr>
        </p:nvSpPr>
        <p:spPr>
          <a:xfrm>
            <a:off x="685801" y="609600"/>
            <a:ext cx="10131425" cy="1456267"/>
          </a:xfrm>
        </p:spPr>
        <p:txBody>
          <a:bodyPr rtlCol="0"/>
          <a:lstStyle/>
          <a:p>
            <a:pPr rtl="0"/>
            <a:r>
              <a:rPr lang="zh-CN" altLang="en-US" noProof="0"/>
              <a:t>单击此处编辑母版标题样式</a:t>
            </a:r>
            <a:endParaRPr lang="zh-CN" altLang="en-US" noProof="0"/>
          </a:p>
        </p:txBody>
      </p:sp>
      <p:sp>
        <p:nvSpPr>
          <p:cNvPr id="3" name="垂直文本占位符 2"/>
          <p:cNvSpPr>
            <a:spLocks noGrp="1"/>
          </p:cNvSpPr>
          <p:nvPr>
            <p:ph type="body" orient="vert" idx="1"/>
          </p:nvPr>
        </p:nvSpPr>
        <p:spPr/>
        <p:txBody>
          <a:bodyPr vert="eaVert" rtlCol="0" anchor="t"/>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日期占位符 3"/>
          <p:cNvSpPr>
            <a:spLocks noGrp="1"/>
          </p:cNvSpPr>
          <p:nvPr>
            <p:ph type="dt" sz="half" idx="10"/>
          </p:nvPr>
        </p:nvSpPr>
        <p:spPr/>
        <p:txBody>
          <a:bodyPr rtlCol="0"/>
          <a:lstStyle/>
          <a:p>
            <a:pPr rtl="0"/>
            <a:fld id="{A2A2B674-02BF-4098-BE33-7013FA47DF03}"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垂直标题 1"/>
          <p:cNvSpPr>
            <a:spLocks noGrp="1"/>
          </p:cNvSpPr>
          <p:nvPr>
            <p:ph type="title" orient="vert"/>
          </p:nvPr>
        </p:nvSpPr>
        <p:spPr>
          <a:xfrm>
            <a:off x="8658675" y="609599"/>
            <a:ext cx="2158552" cy="5181601"/>
          </a:xfrm>
        </p:spPr>
        <p:txBody>
          <a:bodyPr vert="eaVert" rtlCol="0"/>
          <a:lstStyle/>
          <a:p>
            <a:pPr rtl="0"/>
            <a:r>
              <a:rPr lang="zh-CN" altLang="en-US" noProof="0"/>
              <a:t>单击此处编辑母版标题样式</a:t>
            </a:r>
            <a:endParaRPr lang="zh-CN" altLang="en-US" noProof="0"/>
          </a:p>
        </p:txBody>
      </p:sp>
      <p:sp>
        <p:nvSpPr>
          <p:cNvPr id="3" name="垂直文本占位符 2"/>
          <p:cNvSpPr>
            <a:spLocks noGrp="1"/>
          </p:cNvSpPr>
          <p:nvPr>
            <p:ph type="body" orient="vert" idx="1"/>
          </p:nvPr>
        </p:nvSpPr>
        <p:spPr>
          <a:xfrm>
            <a:off x="685800" y="609600"/>
            <a:ext cx="7832116" cy="5181600"/>
          </a:xfrm>
        </p:spPr>
        <p:txBody>
          <a:bodyPr vert="eaVert" rtlCol="0" anchor="t"/>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日期占位符 3"/>
          <p:cNvSpPr>
            <a:spLocks noGrp="1"/>
          </p:cNvSpPr>
          <p:nvPr>
            <p:ph type="dt" sz="half" idx="10"/>
          </p:nvPr>
        </p:nvSpPr>
        <p:spPr/>
        <p:txBody>
          <a:bodyPr rtlCol="0"/>
          <a:lstStyle/>
          <a:p>
            <a:pPr rtl="0"/>
            <a:fld id="{266CD0FE-0A49-4198-A732-213A10C7BDD9}" type="datetime1">
              <a:rPr lang="zh-CN" altLang="en-US" noProof="0" smtClean="0"/>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fld>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a:p>
        </p:txBody>
      </p:sp>
      <p:sp>
        <p:nvSpPr>
          <p:cNvPr id="4" name="日期占位符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icrosoft YaHei UI" panose="020B0503020204020204" pitchFamily="34" charset="-122"/>
                <a:ea typeface="Microsoft YaHei UI" panose="020B0503020204020204" pitchFamily="34" charset="-122"/>
              </a:defRPr>
            </a:lvl1pPr>
          </a:lstStyle>
          <a:p>
            <a:fld id="{EFAB11F1-59FE-48BE-91BA-99BF2D5E1491}" type="datetime1">
              <a:rPr lang="zh-CN" altLang="en-US" noProof="0" smtClean="0"/>
            </a:fld>
            <a:endParaRPr lang="zh-CN" altLang="en-US" noProof="0">
              <a:latin typeface="Microsoft YaHei UI" panose="020B0503020204020204" pitchFamily="34" charset="-122"/>
              <a:ea typeface="Microsoft YaHei UI" panose="020B0503020204020204" pitchFamily="34" charset="-122"/>
            </a:endParaRPr>
          </a:p>
        </p:txBody>
      </p:sp>
      <p:sp>
        <p:nvSpPr>
          <p:cNvPr id="5" name="页脚占位符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6" name="幻灯片编号占位符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icrosoft YaHei UI" panose="020B0503020204020204" pitchFamily="34" charset="-122"/>
                <a:ea typeface="Microsoft YaHei UI" panose="020B0503020204020204" pitchFamily="34" charset="-122"/>
              </a:defRPr>
            </a:lvl1pPr>
          </a:lstStyle>
          <a:p>
            <a:fld id="{69E57DC2-970A-4B3E-BB1C-7A09969E49DF}" type="slidenum">
              <a:rPr lang="en-US" altLang="zh-CN" noProof="0" smtClean="0"/>
            </a:fld>
            <a:endParaRPr lang="zh-CN" altLang="en-US" noProof="0">
              <a:latin typeface="Microsoft YaHei UI" panose="020B0503020204020204" pitchFamily="34" charset="-122"/>
              <a:ea typeface="Microsoft YaHei UI" panose="020B0503020204020204" pitchFamily="34" charset="-122"/>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panose="020B0604020202020204"/>
        <a:buChar char="•"/>
        <a:defRPr sz="1800" kern="1200" cap="none">
          <a:solidFill>
            <a:schemeClr val="tx1"/>
          </a:solidFill>
          <a:effectLst/>
          <a:latin typeface="Microsoft YaHei UI" panose="020B0503020204020204" pitchFamily="34" charset="-122"/>
          <a:ea typeface="Microsoft YaHei UI" panose="020B0503020204020204" pitchFamily="34" charset="-122"/>
          <a:cs typeface="+mn-cs"/>
        </a:defRPr>
      </a:lvl1pPr>
      <a:lvl2pPr marL="742950" indent="-285750" algn="l" defTabSz="457200" rtl="0" eaLnBrk="1" latinLnBrk="0" hangingPunct="1">
        <a:spcBef>
          <a:spcPts val="0"/>
        </a:spcBef>
        <a:spcAft>
          <a:spcPts val="1000"/>
        </a:spcAft>
        <a:buClr>
          <a:schemeClr val="tx1"/>
        </a:buClr>
        <a:buSzPct val="100000"/>
        <a:buFont typeface="Arial" panose="020B0604020202020204"/>
        <a:buChar char="•"/>
        <a:defRPr sz="1600" kern="1200" cap="none">
          <a:solidFill>
            <a:schemeClr val="tx1"/>
          </a:solidFill>
          <a:effectLst/>
          <a:latin typeface="Microsoft YaHei UI" panose="020B0503020204020204" pitchFamily="34" charset="-122"/>
          <a:ea typeface="Microsoft YaHei UI" panose="020B0503020204020204" pitchFamily="34" charset="-122"/>
          <a:cs typeface="+mn-cs"/>
        </a:defRPr>
      </a:lvl2pPr>
      <a:lvl3pPr marL="1200150" indent="-285750" algn="l" defTabSz="457200" rtl="0" eaLnBrk="1" latinLnBrk="0" hangingPunct="1">
        <a:spcBef>
          <a:spcPts val="0"/>
        </a:spcBef>
        <a:spcAft>
          <a:spcPts val="1000"/>
        </a:spcAft>
        <a:buClr>
          <a:schemeClr val="tx1"/>
        </a:buClr>
        <a:buSzPct val="100000"/>
        <a:buFont typeface="Arial" panose="020B0604020202020204"/>
        <a:buChar char="•"/>
        <a:defRPr sz="1400" kern="1200" cap="none">
          <a:solidFill>
            <a:schemeClr val="tx1"/>
          </a:solidFill>
          <a:effectLst/>
          <a:latin typeface="Microsoft YaHei UI" panose="020B0503020204020204" pitchFamily="34" charset="-122"/>
          <a:ea typeface="Microsoft YaHei UI" panose="020B0503020204020204" pitchFamily="34" charset="-122"/>
          <a:cs typeface="+mn-cs"/>
        </a:defRPr>
      </a:lvl3pPr>
      <a:lvl4pPr marL="15430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icrosoft YaHei UI" panose="020B0503020204020204" pitchFamily="34" charset="-122"/>
          <a:ea typeface="Microsoft YaHei UI" panose="020B0503020204020204" pitchFamily="34" charset="-122"/>
          <a:cs typeface="+mn-cs"/>
        </a:defRPr>
      </a:lvl4pPr>
      <a:lvl5pPr marL="20002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icrosoft YaHei UI" panose="020B0503020204020204" pitchFamily="34" charset="-122"/>
          <a:ea typeface="Microsoft YaHei UI" panose="020B0503020204020204" pitchFamily="34" charset="-122"/>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05334" y="1499018"/>
            <a:ext cx="7187124" cy="829667"/>
          </a:xfrm>
        </p:spPr>
        <p:txBody>
          <a:bodyPr rtlCol="0">
            <a:normAutofit fontScale="90000"/>
          </a:bodyPr>
          <a:lstStyle/>
          <a:p>
            <a:pPr rtl="0"/>
            <a:r>
              <a:rPr lang="zh-CN" altLang="en-US" b="1" dirty="0"/>
              <a:t>算法设计与分析实验</a:t>
            </a:r>
            <a:r>
              <a:rPr lang="zh-CN" altLang="en-US" b="1" dirty="0"/>
              <a:t>三</a:t>
            </a:r>
            <a:endParaRPr lang="zh-CN" altLang="en-US" b="1" dirty="0"/>
          </a:p>
        </p:txBody>
      </p:sp>
      <p:sp>
        <p:nvSpPr>
          <p:cNvPr id="3" name="副标题 2"/>
          <p:cNvSpPr>
            <a:spLocks noGrp="1"/>
          </p:cNvSpPr>
          <p:nvPr>
            <p:ph type="subTitle" idx="1"/>
          </p:nvPr>
        </p:nvSpPr>
        <p:spPr>
          <a:xfrm>
            <a:off x="3434080" y="4172602"/>
            <a:ext cx="5261033" cy="543618"/>
          </a:xfrm>
        </p:spPr>
        <p:txBody>
          <a:bodyPr rtlCol="0">
            <a:normAutofit/>
          </a:bodyPr>
          <a:lstStyle/>
          <a:p>
            <a:pPr rtl="0"/>
            <a:r>
              <a:rPr lang="zh-CN" altLang="en-US" sz="2400" dirty="0">
                <a:solidFill>
                  <a:schemeClr val="tx1"/>
                </a:solidFill>
              </a:rPr>
              <a:t>姚泽棉   </a:t>
            </a:r>
            <a:r>
              <a:rPr lang="en-US" altLang="zh-CN" sz="2400" dirty="0">
                <a:solidFill>
                  <a:schemeClr val="tx1"/>
                </a:solidFill>
              </a:rPr>
              <a:t>2024150026</a:t>
            </a:r>
            <a:r>
              <a:rPr lang="zh-CN" altLang="en-US" sz="2400" dirty="0">
                <a:solidFill>
                  <a:schemeClr val="tx1"/>
                </a:solidFill>
              </a:rPr>
              <a:t>         </a:t>
            </a:r>
            <a:endParaRPr lang="zh-CN" altLang="en-US" sz="2400" dirty="0">
              <a:solidFill>
                <a:schemeClr val="tx1"/>
              </a:solidFill>
            </a:endParaRPr>
          </a:p>
        </p:txBody>
      </p:sp>
      <p:sp>
        <p:nvSpPr>
          <p:cNvPr id="6" name="标题 1"/>
          <p:cNvSpPr txBox="1"/>
          <p:nvPr/>
        </p:nvSpPr>
        <p:spPr>
          <a:xfrm>
            <a:off x="1786337" y="2835810"/>
            <a:ext cx="7187124" cy="829667"/>
          </a:xfrm>
          <a:prstGeom prst="rect">
            <a:avLst/>
          </a:prstGeom>
          <a:effectLst/>
        </p:spPr>
        <p:txBody>
          <a:bodyPr vert="horz" lIns="91440" tIns="45720" rIns="91440" bIns="45720" rtlCol="0" anchor="b">
            <a:normAutofit/>
          </a:bodyPr>
          <a:lstStyle>
            <a:lvl1pPr algn="r" defTabSz="457200" rtl="0" eaLnBrk="1" latinLnBrk="0" hangingPunct="1">
              <a:spcBef>
                <a:spcPct val="0"/>
              </a:spcBef>
              <a:buNone/>
              <a:defRPr sz="4800" kern="1200" cap="all">
                <a:ln w="3175" cmpd="sng">
                  <a:noFill/>
                </a:ln>
                <a:solidFill>
                  <a:schemeClr val="tx1"/>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b="1" i="1" dirty="0"/>
              <a:t>回溯法</a:t>
            </a:r>
            <a:r>
              <a:rPr lang="en-US" altLang="zh-CN" b="1" i="1" dirty="0"/>
              <a:t>—</a:t>
            </a:r>
            <a:r>
              <a:rPr lang="zh-CN" altLang="en-US" b="1" i="1" dirty="0"/>
              <a:t>地图填色问题</a:t>
            </a:r>
            <a:endParaRPr lang="zh-CN" altLang="en-US"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5095" y="187960"/>
            <a:ext cx="11941810" cy="1662430"/>
          </a:xfrm>
          <a:prstGeom prst="rect">
            <a:avLst/>
          </a:prstGeom>
          <a:noFill/>
        </p:spPr>
        <p:txBody>
          <a:bodyPr wrap="square">
            <a:noAutofit/>
          </a:bodyPr>
          <a:lstStyle/>
          <a:p>
            <a:pPr marL="0" marR="0" algn="l">
              <a:spcBef>
                <a:spcPts val="1000"/>
              </a:spcBef>
              <a:spcAft>
                <a:spcPts val="0"/>
              </a:spcAft>
            </a:pPr>
            <a:r>
              <a:rPr lang="zh-CN" altLang="en-US" sz="2800" b="1" kern="0" dirty="0">
                <a:effectLst/>
                <a:latin typeface="微软雅黑" panose="020B0503020204020204" pitchFamily="34" charset="-122"/>
                <a:ea typeface="微软雅黑" panose="020B0503020204020204" pitchFamily="34" charset="-122"/>
              </a:rPr>
              <a:t>问题描述</a:t>
            </a:r>
            <a:endParaRPr lang="zh-CN" altLang="en-US" sz="1800" kern="100" dirty="0">
              <a:effectLst/>
              <a:latin typeface="Times New Roman" panose="02020603050405020304" pitchFamily="18" charset="0"/>
            </a:endParaRPr>
          </a:p>
          <a:p>
            <a:pPr marL="0" marR="0" indent="266700" algn="just">
              <a:spcBef>
                <a:spcPts val="0"/>
              </a:spcBef>
              <a:spcAft>
                <a:spcPts val="0"/>
              </a:spcAft>
            </a:pPr>
            <a:r>
              <a:rPr lang="zh-CN" altLang="en-US" dirty="0">
                <a:sym typeface="+mn-ea"/>
              </a:rPr>
              <a:t>对一个地图中每一个块涂色，保证相邻块的涂色不同</a:t>
            </a:r>
            <a:endParaRPr lang="en-US" altLang="zh-CN" dirty="0"/>
          </a:p>
          <a:p>
            <a:pPr marL="0" marR="0" indent="266700" algn="just">
              <a:spcBef>
                <a:spcPts val="0"/>
              </a:spcBef>
              <a:spcAft>
                <a:spcPts val="0"/>
              </a:spcAft>
            </a:pPr>
            <a:r>
              <a:rPr lang="zh-CN" altLang="en-US" dirty="0">
                <a:sym typeface="+mn-ea"/>
              </a:rPr>
              <a:t>图描述：</a:t>
            </a:r>
            <a:endParaRPr lang="zh-CN" altLang="en-US" dirty="0">
              <a:sym typeface="+mn-ea"/>
            </a:endParaRPr>
          </a:p>
          <a:p>
            <a:pPr marL="0" marR="0" indent="266700" algn="just">
              <a:spcBef>
                <a:spcPts val="0"/>
              </a:spcBef>
              <a:spcAft>
                <a:spcPts val="0"/>
              </a:spcAft>
            </a:pPr>
            <a:r>
              <a:rPr lang="zh-CN" altLang="en-US" dirty="0">
                <a:sym typeface="+mn-ea"/>
              </a:rPr>
              <a:t>对一个无向图中每一个顶点涂色，保证相邻顶点的涂色不同</a:t>
            </a:r>
            <a:endParaRPr lang="en-US" altLang="zh-CN" dirty="0"/>
          </a:p>
          <a:p>
            <a:pPr marL="0" marR="0" indent="266700" algn="just">
              <a:spcBef>
                <a:spcPts val="0"/>
              </a:spcBef>
              <a:spcAft>
                <a:spcPts val="0"/>
              </a:spcAft>
            </a:pPr>
            <a:endParaRPr lang="zh-CN" altLang="en-US" kern="100" dirty="0">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6818630" y="187960"/>
            <a:ext cx="2620010" cy="1469390"/>
          </a:xfrm>
          <a:prstGeom prst="rect">
            <a:avLst/>
          </a:prstGeom>
        </p:spPr>
      </p:pic>
      <p:pic>
        <p:nvPicPr>
          <p:cNvPr id="7" name="图片 6" descr="cf382b91260999a41b62f83a07ae7ac3"/>
          <p:cNvPicPr>
            <a:picLocks noChangeAspect="1"/>
          </p:cNvPicPr>
          <p:nvPr/>
        </p:nvPicPr>
        <p:blipFill>
          <a:blip r:embed="rId2"/>
          <a:srcRect l="29333" t="3537" r="46545" b="75259"/>
          <a:stretch>
            <a:fillRect/>
          </a:stretch>
        </p:blipFill>
        <p:spPr>
          <a:xfrm>
            <a:off x="9977755" y="59690"/>
            <a:ext cx="1357630" cy="1790700"/>
          </a:xfrm>
          <a:prstGeom prst="rect">
            <a:avLst/>
          </a:prstGeom>
        </p:spPr>
      </p:pic>
      <p:pic>
        <p:nvPicPr>
          <p:cNvPr id="8" name="图片 7" descr="60878dae58675c0f06d1090cd2d17527"/>
          <p:cNvPicPr>
            <a:picLocks noChangeAspect="1"/>
          </p:cNvPicPr>
          <p:nvPr/>
        </p:nvPicPr>
        <p:blipFill>
          <a:blip r:embed="rId3"/>
          <a:srcRect t="32370" b="18000"/>
          <a:stretch>
            <a:fillRect/>
          </a:stretch>
        </p:blipFill>
        <p:spPr>
          <a:xfrm>
            <a:off x="1227455" y="1996440"/>
            <a:ext cx="6010275" cy="4474845"/>
          </a:xfrm>
          <a:prstGeom prst="rect">
            <a:avLst/>
          </a:prstGeom>
        </p:spPr>
      </p:pic>
      <p:pic>
        <p:nvPicPr>
          <p:cNvPr id="12" name="图片 11"/>
          <p:cNvPicPr>
            <a:picLocks noChangeAspect="1"/>
          </p:cNvPicPr>
          <p:nvPr/>
        </p:nvPicPr>
        <p:blipFill>
          <a:blip r:embed="rId4"/>
          <a:stretch>
            <a:fillRect/>
          </a:stretch>
        </p:blipFill>
        <p:spPr>
          <a:xfrm>
            <a:off x="0" y="1604010"/>
            <a:ext cx="12192000" cy="52533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11942064" cy="2958465"/>
          </a:xfrm>
          <a:prstGeom prst="rect">
            <a:avLst/>
          </a:prstGeom>
          <a:noFill/>
        </p:spPr>
        <p:txBody>
          <a:bodyPr wrap="square">
            <a:spAutoFit/>
          </a:bodyPr>
          <a:lstStyle/>
          <a:p>
            <a:pPr marL="0" marR="0" algn="l">
              <a:spcBef>
                <a:spcPts val="1000"/>
              </a:spcBef>
              <a:spcAft>
                <a:spcPts val="0"/>
              </a:spcAft>
            </a:pPr>
            <a:r>
              <a:rPr lang="zh-CN" altLang="en-US" sz="2800" b="1" kern="0" dirty="0">
                <a:effectLst/>
                <a:latin typeface="微软雅黑" panose="020B0503020204020204" pitchFamily="34" charset="-122"/>
                <a:ea typeface="微软雅黑" panose="020B0503020204020204" pitchFamily="34" charset="-122"/>
              </a:rPr>
              <a:t>剪枝策略</a:t>
            </a:r>
            <a:endParaRPr lang="zh-CN" altLang="en-US" sz="1800" kern="100" dirty="0">
              <a:effectLst/>
              <a:latin typeface="Times New Roman" panose="02020603050405020304" pitchFamily="18" charset="0"/>
            </a:endParaRPr>
          </a:p>
          <a:p>
            <a:pPr marL="342900" marR="0" lvl="0" indent="-342900" algn="l">
              <a:spcBef>
                <a:spcPts val="1000"/>
              </a:spcBef>
              <a:spcAft>
                <a:spcPts val="0"/>
              </a:spcAft>
              <a:buFont typeface="Wingdings" panose="05000000000000000000" pitchFamily="2" charset="2"/>
              <a:buChar char=""/>
            </a:pPr>
            <a:r>
              <a:rPr lang="zh-CN" altLang="en-US" sz="2400" b="1" kern="0" dirty="0">
                <a:solidFill>
                  <a:srgbClr val="FFFF00"/>
                </a:solidFill>
                <a:effectLst/>
                <a:latin typeface="宋体" panose="02010600030101010101" pitchFamily="2" charset="-122"/>
                <a:ea typeface="宋体" panose="02010600030101010101" pitchFamily="2" charset="-122"/>
              </a:rPr>
              <a:t>剪枝策略</a:t>
            </a:r>
            <a:r>
              <a:rPr lang="en-US" altLang="zh-CN" sz="2400" b="1" kern="0" dirty="0">
                <a:solidFill>
                  <a:srgbClr val="FFFF00"/>
                </a:solidFill>
                <a:effectLst/>
                <a:latin typeface="Consolas" panose="020B0609020204030204" pitchFamily="49" charset="0"/>
                <a:ea typeface="宋体" panose="02010600030101010101" pitchFamily="2" charset="-122"/>
              </a:rPr>
              <a:t>1</a:t>
            </a:r>
            <a:r>
              <a:rPr lang="zh-CN" altLang="en-US" sz="2400" b="1" kern="0" dirty="0">
                <a:solidFill>
                  <a:srgbClr val="FFFF00"/>
                </a:solidFill>
                <a:effectLst/>
                <a:latin typeface="宋体" panose="02010600030101010101" pitchFamily="2" charset="-122"/>
                <a:ea typeface="宋体" panose="02010600030101010101" pitchFamily="2" charset="-122"/>
              </a:rPr>
              <a:t>：向前探测</a:t>
            </a:r>
            <a:endParaRPr lang="zh-CN" altLang="en-US" sz="1800" kern="100" dirty="0">
              <a:solidFill>
                <a:srgbClr val="FFFF00"/>
              </a:solidFill>
              <a:effectLst/>
              <a:latin typeface="Times New Roman" panose="02020603050405020304" pitchFamily="18" charset="0"/>
            </a:endParaRPr>
          </a:p>
          <a:p>
            <a:pPr marL="0" marR="0" indent="266700" algn="just">
              <a:spcBef>
                <a:spcPts val="0"/>
              </a:spcBef>
              <a:spcAft>
                <a:spcPts val="0"/>
              </a:spcAft>
            </a:pPr>
            <a:r>
              <a:rPr lang="zh-CN" altLang="en-US" kern="100" dirty="0">
                <a:effectLst/>
                <a:latin typeface="Consolas" panose="020B0609020204030204" pitchFamily="49" charset="0"/>
              </a:rPr>
              <a:t>在填涂当前节点颜色时，对当前节点的相邻待填色节点进行遍历，若此节点填当前颜色</a:t>
            </a:r>
            <a:r>
              <a:rPr lang="en-US" altLang="zh-CN" kern="100" dirty="0">
                <a:effectLst/>
                <a:latin typeface="Consolas" panose="020B0609020204030204" pitchFamily="49" charset="0"/>
              </a:rPr>
              <a:t>i</a:t>
            </a:r>
            <a:r>
              <a:rPr lang="zh-CN" altLang="en-US" kern="100" dirty="0">
                <a:effectLst/>
                <a:latin typeface="Consolas" panose="020B0609020204030204" pitchFamily="49" charset="0"/>
              </a:rPr>
              <a:t>后会导致其相邻待填色节点中有节点无色可填，那么表明当前节点填颜色</a:t>
            </a:r>
            <a:r>
              <a:rPr lang="en-US" altLang="zh-CN" kern="100" dirty="0">
                <a:effectLst/>
                <a:latin typeface="Consolas" panose="020B0609020204030204" pitchFamily="49" charset="0"/>
              </a:rPr>
              <a:t>i</a:t>
            </a:r>
            <a:r>
              <a:rPr lang="zh-CN" altLang="en-US" kern="100" dirty="0">
                <a:effectLst/>
                <a:latin typeface="Consolas" panose="020B0609020204030204" pitchFamily="49" charset="0"/>
              </a:rPr>
              <a:t>是不可行的，是没有前途的。所以我们可以对当前节点填颜色</a:t>
            </a:r>
            <a:r>
              <a:rPr lang="en-US" altLang="zh-CN" kern="100" dirty="0">
                <a:effectLst/>
                <a:latin typeface="Consolas" panose="020B0609020204030204" pitchFamily="49" charset="0"/>
              </a:rPr>
              <a:t>i</a:t>
            </a:r>
            <a:r>
              <a:rPr lang="zh-CN" altLang="en-US" kern="100" dirty="0">
                <a:effectLst/>
                <a:latin typeface="Consolas" panose="020B0609020204030204" pitchFamily="49" charset="0"/>
              </a:rPr>
              <a:t>这种情况不继续向下探索，而是直接回溯，这样就做到了剪枝。</a:t>
            </a:r>
            <a:endParaRPr lang="zh-CN" altLang="en-US" kern="100" dirty="0">
              <a:effectLst/>
              <a:latin typeface="Consolas" panose="020B0609020204030204" pitchFamily="49" charset="0"/>
            </a:endParaRPr>
          </a:p>
          <a:p>
            <a:pPr marL="0" marR="0" indent="266700" algn="just">
              <a:spcBef>
                <a:spcPts val="0"/>
              </a:spcBef>
              <a:spcAft>
                <a:spcPts val="0"/>
              </a:spcAft>
            </a:pPr>
            <a:r>
              <a:rPr lang="zh-CN" altLang="en-US" kern="100" dirty="0">
                <a:effectLst/>
                <a:latin typeface="Consolas" panose="020B0609020204030204" pitchFamily="49" charset="0"/>
              </a:rPr>
              <a:t>下面是一个示例（可供选择的颜色为红黄蓝绿</a:t>
            </a:r>
            <a:r>
              <a:rPr lang="en-US" altLang="zh-CN" kern="100" dirty="0">
                <a:effectLst/>
                <a:latin typeface="Consolas" panose="020B0609020204030204" pitchFamily="49" charset="0"/>
              </a:rPr>
              <a:t>4</a:t>
            </a:r>
            <a:r>
              <a:rPr lang="zh-CN" altLang="en-US" kern="100" dirty="0">
                <a:effectLst/>
                <a:latin typeface="Consolas" panose="020B0609020204030204" pitchFamily="49" charset="0"/>
              </a:rPr>
              <a:t>种），观察下图可以发现，在当前已填涂三个区域的情况下，将进行填涂第四个区域的操作，该区域剩余两种颜色可供选择。若选择红色，那么对该区域的相邻节点进行遍历未出现可选颜色为</a:t>
            </a:r>
            <a:r>
              <a:rPr lang="en-US" altLang="zh-CN" kern="100" dirty="0">
                <a:effectLst/>
                <a:latin typeface="Consolas" panose="020B0609020204030204" pitchFamily="49" charset="0"/>
              </a:rPr>
              <a:t>0</a:t>
            </a:r>
            <a:r>
              <a:rPr lang="zh-CN" altLang="en-US" kern="100" dirty="0">
                <a:effectLst/>
                <a:latin typeface="Consolas" panose="020B0609020204030204" pitchFamily="49" charset="0"/>
              </a:rPr>
              <a:t>的情况，因此保留；若选择蓝色，那么该区域的相邻节点中就有节点（即圆形区域）会出现可选颜色为</a:t>
            </a:r>
            <a:r>
              <a:rPr lang="en-US" altLang="zh-CN" kern="100" dirty="0">
                <a:effectLst/>
                <a:latin typeface="Consolas" panose="020B0609020204030204" pitchFamily="49" charset="0"/>
              </a:rPr>
              <a:t>0</a:t>
            </a:r>
            <a:r>
              <a:rPr lang="zh-CN" altLang="en-US" kern="100" dirty="0">
                <a:effectLst/>
                <a:latin typeface="Consolas" panose="020B0609020204030204" pitchFamily="49" charset="0"/>
              </a:rPr>
              <a:t>的情况，因此对此进行剪枝。</a:t>
            </a:r>
            <a:endParaRPr lang="zh-CN" altLang="en-US" kern="100" dirty="0">
              <a:effectLst/>
              <a:latin typeface="Consolas" panose="020B0609020204030204" pitchFamily="49"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22258" y="3136585"/>
            <a:ext cx="6176542" cy="3629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4864" y="201974"/>
            <a:ext cx="6636258" cy="461665"/>
          </a:xfrm>
          <a:prstGeom prst="rect">
            <a:avLst/>
          </a:prstGeom>
          <a:noFill/>
        </p:spPr>
        <p:txBody>
          <a:bodyPr wrap="square">
            <a:spAutoFit/>
          </a:bodyPr>
          <a:lstStyle/>
          <a:p>
            <a:pPr marL="342900" marR="0" lvl="0" indent="-342900" algn="l">
              <a:spcBef>
                <a:spcPts val="1000"/>
              </a:spcBef>
              <a:spcAft>
                <a:spcPts val="0"/>
              </a:spcAft>
              <a:buFont typeface="Wingdings" panose="05000000000000000000" pitchFamily="2" charset="2"/>
              <a:buChar char=""/>
            </a:pPr>
            <a:r>
              <a:rPr lang="zh-CN" altLang="en-US" sz="2400" b="1" kern="0" dirty="0">
                <a:solidFill>
                  <a:srgbClr val="FFFF00"/>
                </a:solidFill>
                <a:effectLst/>
                <a:latin typeface="宋体" panose="02010600030101010101" pitchFamily="2" charset="-122"/>
                <a:ea typeface="宋体" panose="02010600030101010101" pitchFamily="2" charset="-122"/>
              </a:rPr>
              <a:t>剪枝策略</a:t>
            </a:r>
            <a:r>
              <a:rPr lang="en-US" altLang="zh-CN" sz="2400" b="1" kern="0" dirty="0">
                <a:solidFill>
                  <a:srgbClr val="FFFF00"/>
                </a:solidFill>
                <a:effectLst/>
                <a:latin typeface="Consolas" panose="020B0609020204030204" pitchFamily="49" charset="0"/>
                <a:ea typeface="宋体" panose="02010600030101010101" pitchFamily="2" charset="-122"/>
              </a:rPr>
              <a:t>2</a:t>
            </a:r>
            <a:r>
              <a:rPr lang="zh-CN" altLang="en-US" sz="2400" b="1" kern="0" dirty="0">
                <a:solidFill>
                  <a:srgbClr val="FFFF00"/>
                </a:solidFill>
                <a:effectLst/>
                <a:latin typeface="宋体" panose="02010600030101010101" pitchFamily="2" charset="-122"/>
                <a:ea typeface="宋体" panose="02010600030101010101" pitchFamily="2" charset="-122"/>
              </a:rPr>
              <a:t>：</a:t>
            </a:r>
            <a:r>
              <a:rPr lang="en-US" altLang="zh-CN" sz="2400" b="1" kern="100" dirty="0">
                <a:solidFill>
                  <a:srgbClr val="FFFF00"/>
                </a:solidFill>
                <a:effectLst/>
                <a:latin typeface="Consolas" panose="020B0609020204030204" pitchFamily="49" charset="0"/>
              </a:rPr>
              <a:t>MRV+DH——</a:t>
            </a:r>
            <a:r>
              <a:rPr lang="zh-CN" altLang="en-US" sz="2400" b="1" kern="0" dirty="0">
                <a:solidFill>
                  <a:srgbClr val="FFFF00"/>
                </a:solidFill>
                <a:effectLst/>
                <a:latin typeface="宋体" panose="02010600030101010101" pitchFamily="2" charset="-122"/>
                <a:ea typeface="宋体" panose="02010600030101010101" pitchFamily="2" charset="-122"/>
              </a:rPr>
              <a:t>选点策略的实现</a:t>
            </a:r>
            <a:endParaRPr lang="zh-CN" altLang="en-US" kern="100" dirty="0">
              <a:solidFill>
                <a:srgbClr val="FFFF00"/>
              </a:solidFill>
              <a:effectLst/>
              <a:latin typeface="Times New Roman" panose="02020603050405020304" pitchFamily="18" charset="0"/>
            </a:endParaRPr>
          </a:p>
        </p:txBody>
      </p:sp>
      <p:sp>
        <p:nvSpPr>
          <p:cNvPr id="13" name="文本框 12"/>
          <p:cNvSpPr txBox="1"/>
          <p:nvPr/>
        </p:nvSpPr>
        <p:spPr>
          <a:xfrm>
            <a:off x="114109" y="663368"/>
            <a:ext cx="11963782" cy="1014730"/>
          </a:xfrm>
          <a:prstGeom prst="rect">
            <a:avLst/>
          </a:prstGeom>
          <a:noFill/>
        </p:spPr>
        <p:txBody>
          <a:bodyPr wrap="square">
            <a:spAutoFit/>
          </a:bodyPr>
          <a:lstStyle/>
          <a:p>
            <a:pPr marL="0" marR="0" indent="266700" algn="just">
              <a:spcBef>
                <a:spcPts val="0"/>
              </a:spcBef>
              <a:spcAft>
                <a:spcPts val="0"/>
              </a:spcAft>
            </a:pPr>
            <a:endParaRPr lang="zh-CN" altLang="en-US" sz="2000" kern="100" dirty="0">
              <a:solidFill>
                <a:schemeClr val="accent3">
                  <a:lumMod val="40000"/>
                  <a:lumOff val="60000"/>
                </a:schemeClr>
              </a:solidFill>
              <a:effectLst/>
              <a:latin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eriod"/>
            </a:pPr>
            <a:r>
              <a:rPr lang="en-US" altLang="zh-CN" sz="2000" kern="100" dirty="0">
                <a:solidFill>
                  <a:schemeClr val="accent3">
                    <a:lumMod val="40000"/>
                    <a:lumOff val="60000"/>
                  </a:schemeClr>
                </a:solidFill>
                <a:effectLst/>
                <a:latin typeface="Times New Roman" panose="02020603050405020304" pitchFamily="18" charset="0"/>
              </a:rPr>
              <a:t>MRV</a:t>
            </a:r>
            <a:r>
              <a:rPr lang="en-US" altLang="zh-CN" sz="2000" kern="100" dirty="0">
                <a:solidFill>
                  <a:schemeClr val="accent3">
                    <a:lumMod val="40000"/>
                    <a:lumOff val="60000"/>
                  </a:schemeClr>
                </a:solidFill>
                <a:effectLst/>
                <a:latin typeface="Times New Roman" panose="02020603050405020304" pitchFamily="18" charset="0"/>
                <a:ea typeface="宋体" panose="02010600030101010101" pitchFamily="2" charset="-122"/>
              </a:rPr>
              <a:t>(</a:t>
            </a:r>
            <a:r>
              <a:rPr lang="zh-CN" altLang="en-US" sz="2000" kern="100" dirty="0">
                <a:solidFill>
                  <a:schemeClr val="accent3">
                    <a:lumMod val="40000"/>
                    <a:lumOff val="60000"/>
                  </a:schemeClr>
                </a:solidFill>
                <a:effectLst/>
                <a:latin typeface="宋体" panose="02010600030101010101" pitchFamily="2" charset="-122"/>
                <a:ea typeface="宋体" panose="02010600030101010101" pitchFamily="2" charset="-122"/>
              </a:rPr>
              <a:t>最少剩余量选择</a:t>
            </a:r>
            <a:r>
              <a:rPr lang="en-US" altLang="zh-CN" sz="2000" kern="100" dirty="0">
                <a:solidFill>
                  <a:schemeClr val="accent3">
                    <a:lumMod val="40000"/>
                    <a:lumOff val="60000"/>
                  </a:schemeClr>
                </a:solidFill>
                <a:effectLst/>
                <a:latin typeface="Times New Roman" panose="02020603050405020304" pitchFamily="18" charset="0"/>
                <a:ea typeface="宋体" panose="02010600030101010101" pitchFamily="2" charset="-122"/>
              </a:rPr>
              <a:t>)</a:t>
            </a:r>
            <a:r>
              <a:rPr lang="zh-CN" altLang="en-US" sz="2000" kern="100" dirty="0">
                <a:solidFill>
                  <a:schemeClr val="accent3">
                    <a:lumMod val="40000"/>
                    <a:lumOff val="60000"/>
                  </a:schemeClr>
                </a:solidFill>
                <a:effectLst/>
                <a:latin typeface="宋体" panose="02010600030101010101" pitchFamily="2" charset="-122"/>
                <a:ea typeface="宋体" panose="02010600030101010101" pitchFamily="2" charset="-122"/>
              </a:rPr>
              <a:t>：在待填色的节点中寻找可选颜色数最小的节点。</a:t>
            </a:r>
            <a:endParaRPr lang="zh-CN" altLang="en-US" sz="2000" kern="100" dirty="0">
              <a:solidFill>
                <a:schemeClr val="accent3">
                  <a:lumMod val="40000"/>
                  <a:lumOff val="60000"/>
                </a:schemeClr>
              </a:solidFill>
              <a:effectLst/>
              <a:latin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eriod"/>
            </a:pPr>
            <a:r>
              <a:rPr lang="en-US" altLang="zh-CN" sz="2000" kern="100" dirty="0">
                <a:solidFill>
                  <a:schemeClr val="accent3">
                    <a:lumMod val="40000"/>
                    <a:lumOff val="60000"/>
                  </a:schemeClr>
                </a:solidFill>
                <a:effectLst/>
                <a:latin typeface="Times New Roman" panose="02020603050405020304" pitchFamily="18" charset="0"/>
              </a:rPr>
              <a:t>DH</a:t>
            </a:r>
            <a:r>
              <a:rPr lang="en-US" altLang="zh-CN" sz="2000" kern="100" dirty="0">
                <a:solidFill>
                  <a:schemeClr val="accent3">
                    <a:lumMod val="40000"/>
                    <a:lumOff val="60000"/>
                  </a:schemeClr>
                </a:solidFill>
                <a:effectLst/>
                <a:latin typeface="Times New Roman" panose="02020603050405020304" pitchFamily="18" charset="0"/>
                <a:ea typeface="宋体" panose="02010600030101010101" pitchFamily="2" charset="-122"/>
              </a:rPr>
              <a:t>(</a:t>
            </a:r>
            <a:r>
              <a:rPr lang="zh-CN" altLang="en-US" sz="2000" kern="100" dirty="0">
                <a:solidFill>
                  <a:schemeClr val="accent3">
                    <a:lumMod val="40000"/>
                    <a:lumOff val="60000"/>
                  </a:schemeClr>
                </a:solidFill>
                <a:effectLst/>
                <a:latin typeface="宋体" panose="02010600030101010101" pitchFamily="2" charset="-122"/>
                <a:ea typeface="宋体" panose="02010600030101010101" pitchFamily="2" charset="-122"/>
              </a:rPr>
              <a:t>度最大选择</a:t>
            </a:r>
            <a:r>
              <a:rPr lang="en-US" altLang="zh-CN" sz="2000" kern="100" dirty="0">
                <a:solidFill>
                  <a:schemeClr val="accent3">
                    <a:lumMod val="40000"/>
                    <a:lumOff val="60000"/>
                  </a:schemeClr>
                </a:solidFill>
                <a:effectLst/>
                <a:latin typeface="Times New Roman" panose="02020603050405020304" pitchFamily="18" charset="0"/>
                <a:ea typeface="宋体" panose="02010600030101010101" pitchFamily="2" charset="-122"/>
              </a:rPr>
              <a:t>)</a:t>
            </a:r>
            <a:r>
              <a:rPr lang="zh-CN" altLang="en-US" sz="2000" kern="100" dirty="0">
                <a:solidFill>
                  <a:schemeClr val="accent3">
                    <a:lumMod val="40000"/>
                    <a:lumOff val="60000"/>
                  </a:schemeClr>
                </a:solidFill>
                <a:effectLst/>
                <a:latin typeface="宋体" panose="02010600030101010101" pitchFamily="2" charset="-122"/>
                <a:ea typeface="宋体" panose="02010600030101010101" pitchFamily="2" charset="-122"/>
              </a:rPr>
              <a:t>：在可选颜色数最小的节点中选择度最大的作为下一个需要着色的节点。</a:t>
            </a:r>
            <a:endParaRPr lang="zh-CN" altLang="en-US" sz="1800" kern="100" dirty="0">
              <a:solidFill>
                <a:schemeClr val="accent3">
                  <a:lumMod val="40000"/>
                  <a:lumOff val="60000"/>
                </a:schemeClr>
              </a:solidFill>
              <a:effectLst/>
              <a:latin typeface="Times New Roman" panose="02020603050405020304" pitchFamily="18" charset="0"/>
            </a:endParaRPr>
          </a:p>
        </p:txBody>
      </p:sp>
      <p:sp>
        <p:nvSpPr>
          <p:cNvPr id="15" name="文本框 14"/>
          <p:cNvSpPr txBox="1"/>
          <p:nvPr/>
        </p:nvSpPr>
        <p:spPr>
          <a:xfrm>
            <a:off x="0" y="1869440"/>
            <a:ext cx="11328400" cy="1938020"/>
          </a:xfrm>
          <a:prstGeom prst="rect">
            <a:avLst/>
          </a:prstGeom>
          <a:noFill/>
        </p:spPr>
        <p:txBody>
          <a:bodyPr wrap="square">
            <a:spAutoFit/>
          </a:bodyPr>
          <a:lstStyle/>
          <a:p>
            <a:pPr marL="0" marR="0" algn="just">
              <a:spcBef>
                <a:spcPts val="0"/>
              </a:spcBef>
              <a:spcAft>
                <a:spcPts val="0"/>
              </a:spcAft>
            </a:pPr>
            <a:r>
              <a:rPr lang="en-US" altLang="zh-CN" sz="2000" kern="100" dirty="0">
                <a:solidFill>
                  <a:schemeClr val="accent6">
                    <a:lumMod val="20000"/>
                    <a:lumOff val="80000"/>
                  </a:schemeClr>
                </a:solidFill>
                <a:effectLst/>
                <a:latin typeface="Times New Roman" panose="02020603050405020304" pitchFamily="18" charset="0"/>
                <a:ea typeface="宋体" panose="02010600030101010101" pitchFamily="2" charset="-122"/>
              </a:rPr>
              <a:t>MRV</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：优先填涂可选颜色数最少的节点，即先对容易导致失败的节点填涂，那么便可以早些发现是否当前填色方案必然失败，从而可以提前回溯，避开不少的不可行解。</a:t>
            </a:r>
            <a:endPar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endParaRPr>
          </a:p>
          <a:p>
            <a:pPr marL="0" marR="0" algn="just">
              <a:spcBef>
                <a:spcPts val="0"/>
              </a:spcBef>
              <a:spcAft>
                <a:spcPts val="0"/>
              </a:spcAft>
            </a:pPr>
            <a:endParaRPr lang="zh-CN" altLang="en-US" sz="2000" kern="100" dirty="0">
              <a:solidFill>
                <a:schemeClr val="accent6">
                  <a:lumMod val="20000"/>
                  <a:lumOff val="80000"/>
                </a:schemeClr>
              </a:solidFill>
              <a:effectLst/>
              <a:latin typeface="Times New Roman" panose="02020603050405020304" pitchFamily="18" charset="0"/>
            </a:endParaRPr>
          </a:p>
          <a:p>
            <a:pPr marL="0" marR="0" algn="just">
              <a:spcBef>
                <a:spcPts val="0"/>
              </a:spcBef>
              <a:spcAft>
                <a:spcPts val="0"/>
              </a:spcAft>
            </a:pPr>
            <a:r>
              <a:rPr lang="en-US" altLang="zh-CN" sz="2000" kern="100" dirty="0">
                <a:solidFill>
                  <a:schemeClr val="accent6">
                    <a:lumMod val="20000"/>
                    <a:lumOff val="80000"/>
                  </a:schemeClr>
                </a:solidFill>
                <a:effectLst/>
                <a:latin typeface="Times New Roman" panose="02020603050405020304" pitchFamily="18" charset="0"/>
                <a:ea typeface="宋体" panose="02010600030101010101" pitchFamily="2" charset="-122"/>
              </a:rPr>
              <a:t>DH</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：优先对度最多的节点进行填色，假设填色为</a:t>
            </a:r>
            <a:r>
              <a:rPr lang="en-US" altLang="zh-CN" sz="2000" kern="100" dirty="0">
                <a:solidFill>
                  <a:schemeClr val="accent6">
                    <a:lumMod val="20000"/>
                    <a:lumOff val="80000"/>
                  </a:schemeClr>
                </a:solidFill>
                <a:effectLst/>
                <a:latin typeface="Times New Roman" panose="02020603050405020304" pitchFamily="18" charset="0"/>
                <a:ea typeface="宋体" panose="02010600030101010101" pitchFamily="2" charset="-122"/>
              </a:rPr>
              <a:t>c</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，因为度最多的节点约束了</a:t>
            </a:r>
            <a:r>
              <a:rPr lang="zh-CN" altLang="en-US" sz="2000" b="1" kern="100" dirty="0">
                <a:solidFill>
                  <a:schemeClr val="accent6">
                    <a:lumMod val="20000"/>
                    <a:lumOff val="80000"/>
                  </a:schemeClr>
                </a:solidFill>
                <a:effectLst/>
                <a:latin typeface="宋体" panose="02010600030101010101" pitchFamily="2" charset="-122"/>
                <a:ea typeface="宋体" panose="02010600030101010101" pitchFamily="2" charset="-122"/>
              </a:rPr>
              <a:t>最多的</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其他节点，使得</a:t>
            </a:r>
            <a:r>
              <a:rPr lang="zh-CN" altLang="en-US" sz="2000" b="1" kern="100" dirty="0">
                <a:solidFill>
                  <a:schemeClr val="accent6">
                    <a:lumMod val="20000"/>
                    <a:lumOff val="80000"/>
                  </a:schemeClr>
                </a:solidFill>
                <a:effectLst/>
                <a:latin typeface="宋体" panose="02010600030101010101" pitchFamily="2" charset="-122"/>
                <a:ea typeface="宋体" panose="02010600030101010101" pitchFamily="2" charset="-122"/>
              </a:rPr>
              <a:t>最多的</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其他节点都不会去探索节点填色为</a:t>
            </a:r>
            <a:r>
              <a:rPr lang="en-US" altLang="zh-CN" sz="2000" kern="100" dirty="0">
                <a:solidFill>
                  <a:schemeClr val="accent6">
                    <a:lumMod val="20000"/>
                    <a:lumOff val="80000"/>
                  </a:schemeClr>
                </a:solidFill>
                <a:effectLst/>
                <a:latin typeface="Times New Roman" panose="02020603050405020304" pitchFamily="18" charset="0"/>
                <a:ea typeface="宋体" panose="02010600030101010101" pitchFamily="2" charset="-122"/>
              </a:rPr>
              <a:t>c</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的情况（因为不合法），使得</a:t>
            </a:r>
            <a:r>
              <a:rPr lang="zh-CN" altLang="en-US" sz="2000" b="1" kern="100" dirty="0">
                <a:solidFill>
                  <a:schemeClr val="accent6">
                    <a:lumMod val="20000"/>
                    <a:lumOff val="80000"/>
                  </a:schemeClr>
                </a:solidFill>
                <a:effectLst/>
                <a:latin typeface="宋体" panose="02010600030101010101" pitchFamily="2" charset="-122"/>
                <a:ea typeface="宋体" panose="02010600030101010101" pitchFamily="2" charset="-122"/>
              </a:rPr>
              <a:t>最多的</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其他节点的填色为</a:t>
            </a:r>
            <a:r>
              <a:rPr lang="en-US" altLang="zh-CN" sz="2000" kern="100" dirty="0">
                <a:solidFill>
                  <a:schemeClr val="accent6">
                    <a:lumMod val="20000"/>
                    <a:lumOff val="80000"/>
                  </a:schemeClr>
                </a:solidFill>
                <a:effectLst/>
                <a:latin typeface="Times New Roman" panose="02020603050405020304" pitchFamily="18" charset="0"/>
                <a:ea typeface="宋体" panose="02010600030101010101" pitchFamily="2" charset="-122"/>
              </a:rPr>
              <a:t>c</a:t>
            </a:r>
            <a:r>
              <a:rPr lang="zh-CN" altLang="en-US" sz="2000" kern="100" dirty="0">
                <a:solidFill>
                  <a:schemeClr val="accent6">
                    <a:lumMod val="20000"/>
                    <a:lumOff val="80000"/>
                  </a:schemeClr>
                </a:solidFill>
                <a:effectLst/>
                <a:latin typeface="宋体" panose="02010600030101010101" pitchFamily="2" charset="-122"/>
                <a:ea typeface="宋体" panose="02010600030101010101" pitchFamily="2" charset="-122"/>
              </a:rPr>
              <a:t>的分枝被剪掉了，从而实现了剪枝。</a:t>
            </a:r>
            <a:endParaRPr lang="zh-CN" altLang="en-US" sz="2000" kern="100" dirty="0">
              <a:solidFill>
                <a:schemeClr val="accent6">
                  <a:lumMod val="20000"/>
                  <a:lumOff val="80000"/>
                </a:schemeClr>
              </a:solidFill>
              <a:effectLst/>
              <a:latin typeface="Times New Roman" panose="02020603050405020304" pitchFamily="18" charset="0"/>
            </a:endParaRPr>
          </a:p>
        </p:txBody>
      </p:sp>
      <p:pic>
        <p:nvPicPr>
          <p:cNvPr id="8" name="图片 7" descr="图示&#10;&#10;描述已自动生成"/>
          <p:cNvPicPr>
            <a:picLocks noChangeAspect="1"/>
          </p:cNvPicPr>
          <p:nvPr/>
        </p:nvPicPr>
        <p:blipFill>
          <a:blip r:embed="rId1"/>
          <a:stretch>
            <a:fillRect/>
          </a:stretch>
        </p:blipFill>
        <p:spPr>
          <a:xfrm>
            <a:off x="1227016" y="5477400"/>
            <a:ext cx="7620000" cy="1238250"/>
          </a:xfrm>
          <a:prstGeom prst="rect">
            <a:avLst/>
          </a:prstGeom>
        </p:spPr>
      </p:pic>
      <p:pic>
        <p:nvPicPr>
          <p:cNvPr id="9" name="Picture 4" descr="australia-most-constrained-variable"/>
          <p:cNvPicPr>
            <a:picLocks noChangeAspect="1" noChangeArrowheads="1"/>
          </p:cNvPicPr>
          <p:nvPr/>
        </p:nvPicPr>
        <p:blipFill>
          <a:blip r:embed="rId2" cstate="print"/>
          <a:srcRect/>
          <a:stretch>
            <a:fillRect/>
          </a:stretch>
        </p:blipFill>
        <p:spPr bwMode="auto">
          <a:xfrm>
            <a:off x="1243856" y="3998411"/>
            <a:ext cx="7602846" cy="123353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4864" y="201974"/>
            <a:ext cx="6636258" cy="461665"/>
          </a:xfrm>
          <a:prstGeom prst="rect">
            <a:avLst/>
          </a:prstGeom>
          <a:noFill/>
        </p:spPr>
        <p:txBody>
          <a:bodyPr wrap="square">
            <a:spAutoFit/>
          </a:bodyPr>
          <a:lstStyle/>
          <a:p>
            <a:pPr marL="342900" marR="0" lvl="0" indent="-342900" algn="l">
              <a:spcBef>
                <a:spcPts val="1000"/>
              </a:spcBef>
              <a:spcAft>
                <a:spcPts val="0"/>
              </a:spcAft>
              <a:buFont typeface="Wingdings" panose="05000000000000000000" pitchFamily="2" charset="2"/>
              <a:buChar char=""/>
            </a:pPr>
            <a:r>
              <a:rPr lang="zh-CN" altLang="en-US" sz="2400" b="1" kern="0" dirty="0">
                <a:solidFill>
                  <a:srgbClr val="FFFF00"/>
                </a:solidFill>
                <a:effectLst/>
                <a:latin typeface="宋体" panose="02010600030101010101" pitchFamily="2" charset="-122"/>
                <a:ea typeface="宋体" panose="02010600030101010101" pitchFamily="2" charset="-122"/>
              </a:rPr>
              <a:t>剪枝策略</a:t>
            </a:r>
            <a:r>
              <a:rPr lang="en-US" altLang="zh-CN" sz="2400" b="1" kern="0" dirty="0">
                <a:solidFill>
                  <a:srgbClr val="FFFF00"/>
                </a:solidFill>
                <a:effectLst/>
                <a:latin typeface="Consolas" panose="020B0609020204030204" pitchFamily="49" charset="0"/>
                <a:ea typeface="宋体" panose="02010600030101010101" pitchFamily="2" charset="-122"/>
              </a:rPr>
              <a:t>2</a:t>
            </a:r>
            <a:r>
              <a:rPr lang="zh-CN" altLang="en-US" sz="2400" b="1" kern="0" dirty="0">
                <a:solidFill>
                  <a:srgbClr val="FFFF00"/>
                </a:solidFill>
                <a:effectLst/>
                <a:latin typeface="宋体" panose="02010600030101010101" pitchFamily="2" charset="-122"/>
                <a:ea typeface="宋体" panose="02010600030101010101" pitchFamily="2" charset="-122"/>
              </a:rPr>
              <a:t>：</a:t>
            </a:r>
            <a:r>
              <a:rPr lang="en-US" altLang="zh-CN" sz="2400" b="1" kern="100" dirty="0">
                <a:solidFill>
                  <a:srgbClr val="FFFF00"/>
                </a:solidFill>
                <a:effectLst/>
                <a:latin typeface="Consolas" panose="020B0609020204030204" pitchFamily="49" charset="0"/>
              </a:rPr>
              <a:t>MRV+DH——</a:t>
            </a:r>
            <a:r>
              <a:rPr lang="zh-CN" altLang="en-US" sz="2400" b="1" kern="0" dirty="0">
                <a:solidFill>
                  <a:srgbClr val="FFFF00"/>
                </a:solidFill>
                <a:effectLst/>
                <a:latin typeface="宋体" panose="02010600030101010101" pitchFamily="2" charset="-122"/>
                <a:ea typeface="宋体" panose="02010600030101010101" pitchFamily="2" charset="-122"/>
              </a:rPr>
              <a:t>选点策略的实现</a:t>
            </a:r>
            <a:endParaRPr lang="zh-CN" altLang="en-US" kern="100" dirty="0">
              <a:solidFill>
                <a:srgbClr val="FFFF00"/>
              </a:solidFill>
              <a:effectLst/>
              <a:latin typeface="Times New Roman" panose="02020603050405020304" pitchFamily="18" charset="0"/>
            </a:endParaRPr>
          </a:p>
        </p:txBody>
      </p:sp>
      <p:pic>
        <p:nvPicPr>
          <p:cNvPr id="2" name="图片 1" descr="176b1dbcd9976d4120e9d0eaa14fbfb6"/>
          <p:cNvPicPr>
            <a:picLocks noChangeAspect="1"/>
          </p:cNvPicPr>
          <p:nvPr/>
        </p:nvPicPr>
        <p:blipFill>
          <a:blip r:embed="rId1"/>
          <a:stretch>
            <a:fillRect/>
          </a:stretch>
        </p:blipFill>
        <p:spPr>
          <a:xfrm>
            <a:off x="1119505" y="663575"/>
            <a:ext cx="9044940" cy="6029960"/>
          </a:xfrm>
          <a:prstGeom prst="rect">
            <a:avLst/>
          </a:prstGeom>
        </p:spPr>
      </p:pic>
      <p:sp>
        <p:nvSpPr>
          <p:cNvPr id="4" name="矩形 3"/>
          <p:cNvSpPr/>
          <p:nvPr/>
        </p:nvSpPr>
        <p:spPr>
          <a:xfrm>
            <a:off x="7795895" y="2090420"/>
            <a:ext cx="993775" cy="130492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9446" y="46859"/>
            <a:ext cx="11674602" cy="1398905"/>
          </a:xfrm>
          <a:prstGeom prst="rect">
            <a:avLst/>
          </a:prstGeom>
          <a:noFill/>
        </p:spPr>
        <p:txBody>
          <a:bodyPr wrap="square">
            <a:spAutoFit/>
          </a:bodyPr>
          <a:lstStyle/>
          <a:p>
            <a:pPr marL="0" marR="0" algn="l">
              <a:spcBef>
                <a:spcPts val="1000"/>
              </a:spcBef>
              <a:spcAft>
                <a:spcPts val="0"/>
              </a:spcAft>
            </a:pPr>
            <a:r>
              <a:rPr lang="zh-CN" altLang="en-US" sz="2400" b="1" kern="100" dirty="0">
                <a:effectLst/>
                <a:latin typeface="微软雅黑" panose="020B0503020204020204" pitchFamily="34" charset="-122"/>
                <a:ea typeface="微软雅黑" panose="020B0503020204020204" pitchFamily="34" charset="-122"/>
              </a:rPr>
              <a:t>通过小规模数据测试算法正确性</a:t>
            </a:r>
            <a:endParaRPr lang="zh-CN" altLang="en-US" sz="1800" kern="100" dirty="0">
              <a:effectLst/>
              <a:latin typeface="Times New Roman" panose="02020603050405020304" pitchFamily="18" charset="0"/>
            </a:endParaRPr>
          </a:p>
          <a:p>
            <a:pPr marL="0" marR="0" algn="l">
              <a:lnSpc>
                <a:spcPct val="114000"/>
              </a:lnSpc>
              <a:spcBef>
                <a:spcPts val="1200"/>
              </a:spcBef>
              <a:spcAft>
                <a:spcPts val="0"/>
              </a:spcAft>
            </a:pPr>
            <a:r>
              <a:rPr lang="zh-CN" altLang="en-US" kern="100" dirty="0">
                <a:effectLst/>
                <a:latin typeface="宋体" panose="02010600030101010101" pitchFamily="2" charset="-122"/>
                <a:ea typeface="宋体" panose="02010600030101010101" pitchFamily="2" charset="-122"/>
              </a:rPr>
              <a:t>对实验要求给出的小规模数据，利用四色填色测试算法的正确性。</a:t>
            </a:r>
            <a:endParaRPr lang="zh-CN" altLang="en-US" kern="100" dirty="0">
              <a:effectLst/>
              <a:latin typeface="Times New Roman" panose="02020603050405020304" pitchFamily="18" charset="0"/>
            </a:endParaRPr>
          </a:p>
          <a:p>
            <a:pPr marR="0" lvl="0" indent="0" algn="l">
              <a:lnSpc>
                <a:spcPct val="114000"/>
              </a:lnSpc>
              <a:spcBef>
                <a:spcPts val="1200"/>
              </a:spcBef>
              <a:spcAft>
                <a:spcPts val="0"/>
              </a:spcAft>
              <a:buFont typeface="Times New Roman" panose="02020603050405020304" pitchFamily="18" charset="0"/>
              <a:buNone/>
            </a:pPr>
            <a:r>
              <a:rPr lang="zh-CN" altLang="en-US" kern="100" dirty="0">
                <a:effectLst/>
                <a:latin typeface="宋体" panose="02010600030101010101" pitchFamily="2" charset="-122"/>
                <a:ea typeface="宋体" panose="02010600030101010101" pitchFamily="2" charset="-122"/>
              </a:rPr>
              <a:t>对于该小地图，首先我对各个区域进行编号如下。</a:t>
            </a:r>
            <a:endParaRPr lang="zh-CN" altLang="en-US" kern="100" dirty="0">
              <a:effectLst/>
              <a:latin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203835" y="1445895"/>
            <a:ext cx="6642100" cy="3948430"/>
          </a:xfrm>
          <a:prstGeom prst="rect">
            <a:avLst/>
          </a:prstGeom>
        </p:spPr>
      </p:pic>
      <p:sp>
        <p:nvSpPr>
          <p:cNvPr id="2" name="文本框 1"/>
          <p:cNvSpPr txBox="1"/>
          <p:nvPr/>
        </p:nvSpPr>
        <p:spPr>
          <a:xfrm>
            <a:off x="7330440" y="1191260"/>
            <a:ext cx="4483735" cy="1896110"/>
          </a:xfrm>
          <a:prstGeom prst="rect">
            <a:avLst/>
          </a:prstGeom>
          <a:noFill/>
        </p:spPr>
        <p:txBody>
          <a:bodyPr wrap="square">
            <a:noAutofit/>
          </a:bodyPr>
          <a:lstStyle/>
          <a:p>
            <a:pPr marL="0" marR="0" algn="just">
              <a:spcBef>
                <a:spcPts val="0"/>
              </a:spcBef>
              <a:spcAft>
                <a:spcPts val="0"/>
              </a:spcAft>
            </a:pPr>
            <a:r>
              <a:rPr lang="en-US" altLang="zh-CN" sz="2000" kern="100" dirty="0">
                <a:effectLst/>
                <a:latin typeface="宋体" panose="02010600030101010101" pitchFamily="2" charset="-122"/>
                <a:ea typeface="宋体" panose="02010600030101010101" pitchFamily="2" charset="-122"/>
              </a:rPr>
              <a:t>	</a:t>
            </a:r>
            <a:r>
              <a:rPr lang="zh-CN" altLang="en-US" sz="2400" kern="100" dirty="0">
                <a:effectLst/>
                <a:latin typeface="宋体" panose="02010600030101010101" pitchFamily="2" charset="-122"/>
                <a:ea typeface="宋体" panose="02010600030101010101" pitchFamily="2" charset="-122"/>
              </a:rPr>
              <a:t>利用四色填色测试了算法的正确性，从下图可以看到对于这个小地图，程序在</a:t>
            </a:r>
            <a:r>
              <a:rPr lang="en-US" altLang="zh-CN" sz="2400" kern="100" dirty="0">
                <a:effectLst/>
                <a:latin typeface="Times New Roman" panose="02020603050405020304" pitchFamily="18" charset="0"/>
                <a:ea typeface="宋体" panose="02010600030101010101" pitchFamily="2" charset="-122"/>
              </a:rPr>
              <a:t>&lt;0.5ms</a:t>
            </a:r>
            <a:r>
              <a:rPr lang="zh-CN" altLang="en-US" sz="2400" kern="100" dirty="0">
                <a:effectLst/>
                <a:latin typeface="宋体" panose="02010600030101010101" pitchFamily="2" charset="-122"/>
                <a:ea typeface="宋体" panose="02010600030101010101" pitchFamily="2" charset="-122"/>
              </a:rPr>
              <a:t>内找到了全部</a:t>
            </a:r>
            <a:r>
              <a:rPr lang="en-US" altLang="zh-CN" sz="2400" kern="100" dirty="0">
                <a:effectLst/>
                <a:latin typeface="Times New Roman" panose="02020603050405020304" pitchFamily="18" charset="0"/>
                <a:ea typeface="宋体" panose="02010600030101010101" pitchFamily="2" charset="-122"/>
              </a:rPr>
              <a:t>480</a:t>
            </a:r>
            <a:r>
              <a:rPr lang="zh-CN" altLang="en-US" sz="2400" kern="100" dirty="0">
                <a:effectLst/>
                <a:latin typeface="宋体" panose="02010600030101010101" pitchFamily="2" charset="-122"/>
                <a:ea typeface="宋体" panose="02010600030101010101" pitchFamily="2" charset="-122"/>
              </a:rPr>
              <a:t>个解，解的个数正确，算法是正确的。</a:t>
            </a:r>
            <a:endParaRPr lang="zh-CN" altLang="en-US" sz="2000" kern="100" dirty="0">
              <a:effectLst/>
              <a:latin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7370445" y="3481705"/>
            <a:ext cx="4443730" cy="17392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96950" y="427990"/>
            <a:ext cx="10198100" cy="1845310"/>
          </a:xfrm>
          <a:prstGeom prst="rect">
            <a:avLst/>
          </a:prstGeom>
          <a:noFill/>
        </p:spPr>
        <p:txBody>
          <a:bodyPr wrap="square">
            <a:spAutoFit/>
          </a:bodyPr>
          <a:lstStyle/>
          <a:p>
            <a:pPr marL="342900" marR="0" lvl="0" indent="-342900" algn="l">
              <a:spcBef>
                <a:spcPts val="1000"/>
              </a:spcBef>
              <a:spcAft>
                <a:spcPts val="0"/>
              </a:spcAft>
              <a:buFont typeface="Wingdings" panose="05000000000000000000" pitchFamily="2" charset="2"/>
              <a:buChar char=""/>
            </a:pPr>
            <a:r>
              <a:rPr lang="zh-CN" altLang="en-US" sz="2400" b="1" kern="0" dirty="0">
                <a:solidFill>
                  <a:srgbClr val="FFFF00"/>
                </a:solidFill>
                <a:effectLst/>
                <a:latin typeface="宋体" panose="02010600030101010101" pitchFamily="2" charset="-122"/>
                <a:ea typeface="宋体" panose="02010600030101010101" pitchFamily="2" charset="-122"/>
              </a:rPr>
              <a:t>剪枝策略</a:t>
            </a:r>
            <a:r>
              <a:rPr lang="en-US" altLang="zh-CN" sz="2400" b="1" kern="0" dirty="0">
                <a:solidFill>
                  <a:srgbClr val="FFFF00"/>
                </a:solidFill>
                <a:effectLst/>
                <a:latin typeface="Consolas" panose="020B0609020204030204" pitchFamily="49" charset="0"/>
                <a:ea typeface="宋体" panose="02010600030101010101" pitchFamily="2" charset="-122"/>
              </a:rPr>
              <a:t>3</a:t>
            </a:r>
            <a:r>
              <a:rPr lang="zh-CN" altLang="en-US" sz="2400" b="1" kern="0" dirty="0">
                <a:solidFill>
                  <a:srgbClr val="FFFF00"/>
                </a:solidFill>
                <a:effectLst/>
                <a:latin typeface="宋体" panose="02010600030101010101" pitchFamily="2" charset="-122"/>
                <a:ea typeface="宋体" panose="02010600030101010101" pitchFamily="2" charset="-122"/>
              </a:rPr>
              <a:t>：</a:t>
            </a:r>
            <a:r>
              <a:rPr lang="zh-CN" altLang="en-US" sz="2400" b="1" kern="0" dirty="0">
                <a:solidFill>
                  <a:srgbClr val="FFFF00"/>
                </a:solidFill>
                <a:effectLst/>
                <a:latin typeface="Consolas" panose="020B0609020204030204" pitchFamily="49" charset="0"/>
                <a:ea typeface="宋体" panose="02010600030101010101" pitchFamily="2" charset="-122"/>
              </a:rPr>
              <a:t>“</a:t>
            </a:r>
            <a:r>
              <a:rPr lang="zh-CN" altLang="en-US" sz="2400" b="1" kern="0" dirty="0">
                <a:solidFill>
                  <a:srgbClr val="FFFF00"/>
                </a:solidFill>
                <a:effectLst/>
                <a:latin typeface="宋体" panose="02010600030101010101" pitchFamily="2" charset="-122"/>
                <a:ea typeface="宋体" panose="02010600030101010101" pitchFamily="2" charset="-122"/>
              </a:rPr>
              <a:t>树层去重</a:t>
            </a:r>
            <a:r>
              <a:rPr lang="zh-CN" altLang="en-US" sz="2400" b="1" kern="0" dirty="0">
                <a:solidFill>
                  <a:srgbClr val="FFFF00"/>
                </a:solidFill>
                <a:effectLst/>
                <a:latin typeface="Consolas" panose="020B0609020204030204" pitchFamily="49" charset="0"/>
                <a:ea typeface="宋体" panose="02010600030101010101" pitchFamily="2" charset="-122"/>
              </a:rPr>
              <a:t>”</a:t>
            </a:r>
            <a:endParaRPr lang="zh-CN" altLang="en-US" sz="1800" kern="100" dirty="0">
              <a:solidFill>
                <a:srgbClr val="FFFF00"/>
              </a:solidFill>
              <a:effectLst/>
              <a:latin typeface="Times New Roman" panose="02020603050405020304" pitchFamily="18" charset="0"/>
            </a:endParaRPr>
          </a:p>
          <a:p>
            <a:pPr marL="0" marR="0" indent="266700" algn="just">
              <a:spcBef>
                <a:spcPts val="0"/>
              </a:spcBef>
              <a:spcAft>
                <a:spcPts val="0"/>
              </a:spcAft>
            </a:pPr>
            <a:r>
              <a:rPr lang="zh-CN" altLang="en-US" sz="1800" kern="100" dirty="0">
                <a:solidFill>
                  <a:schemeClr val="accent2">
                    <a:lumMod val="20000"/>
                    <a:lumOff val="80000"/>
                  </a:schemeClr>
                </a:solidFill>
                <a:effectLst/>
                <a:latin typeface="Times New Roman" panose="02020603050405020304" pitchFamily="18" charset="0"/>
              </a:rPr>
              <a:t>一旦同层节点的某节点填涂了一个之前节点都没用过的新颜色，那么我们在不断深搜计算得到由该节点填涂该新颜色不断拓展最后得到的可行解的数量</a:t>
            </a:r>
            <a:r>
              <a:rPr lang="en-US" altLang="zh-CN" sz="1800" kern="100" dirty="0">
                <a:solidFill>
                  <a:schemeClr val="accent2">
                    <a:lumMod val="20000"/>
                    <a:lumOff val="80000"/>
                  </a:schemeClr>
                </a:solidFill>
                <a:effectLst/>
                <a:latin typeface="Times New Roman" panose="02020603050405020304" pitchFamily="18" charset="0"/>
              </a:rPr>
              <a:t>n</a:t>
            </a:r>
            <a:r>
              <a:rPr lang="zh-CN" altLang="en-US" sz="1800" kern="100" dirty="0">
                <a:solidFill>
                  <a:schemeClr val="accent2">
                    <a:lumMod val="20000"/>
                    <a:lumOff val="80000"/>
                  </a:schemeClr>
                </a:solidFill>
                <a:effectLst/>
                <a:latin typeface="Times New Roman" panose="02020603050405020304" pitchFamily="18" charset="0"/>
              </a:rPr>
              <a:t>后，就不再去深搜计算该节点填其他新颜色时的解的数量，因为该节点填其他新颜色时解的数量也为</a:t>
            </a:r>
            <a:r>
              <a:rPr lang="en-US" altLang="zh-CN" sz="1800" kern="100" dirty="0">
                <a:solidFill>
                  <a:schemeClr val="accent2">
                    <a:lumMod val="20000"/>
                    <a:lumOff val="80000"/>
                  </a:schemeClr>
                </a:solidFill>
                <a:effectLst/>
                <a:latin typeface="Times New Roman" panose="02020603050405020304" pitchFamily="18" charset="0"/>
              </a:rPr>
              <a:t>n</a:t>
            </a:r>
            <a:r>
              <a:rPr lang="zh-CN" altLang="en-US" sz="1800" kern="100" dirty="0">
                <a:solidFill>
                  <a:schemeClr val="accent2">
                    <a:lumMod val="20000"/>
                    <a:lumOff val="80000"/>
                  </a:schemeClr>
                </a:solidFill>
                <a:effectLst/>
                <a:latin typeface="Times New Roman" panose="02020603050405020304" pitchFamily="18" charset="0"/>
              </a:rPr>
              <a:t>，既然解的个数是一样的，那么就算一次就足够了。统计解总个数的变量</a:t>
            </a:r>
            <a:r>
              <a:rPr lang="en-US" altLang="zh-CN" sz="1800" kern="100" dirty="0">
                <a:solidFill>
                  <a:schemeClr val="accent2">
                    <a:lumMod val="20000"/>
                    <a:lumOff val="80000"/>
                  </a:schemeClr>
                </a:solidFill>
                <a:effectLst/>
                <a:latin typeface="Times New Roman" panose="02020603050405020304" pitchFamily="18" charset="0"/>
              </a:rPr>
              <a:t>sum += n</a:t>
            </a:r>
            <a:r>
              <a:rPr lang="en-US" altLang="en-US" sz="1800" kern="100" dirty="0">
                <a:solidFill>
                  <a:schemeClr val="accent2">
                    <a:lumMod val="20000"/>
                    <a:lumOff val="80000"/>
                  </a:schemeClr>
                </a:solidFill>
                <a:effectLst/>
                <a:latin typeface="Times New Roman" panose="02020603050405020304" pitchFamily="18" charset="0"/>
              </a:rPr>
              <a:t>×</a:t>
            </a:r>
            <a:r>
              <a:rPr lang="zh-CN" altLang="en-US" sz="1800" kern="100" dirty="0">
                <a:solidFill>
                  <a:schemeClr val="accent2">
                    <a:lumMod val="20000"/>
                    <a:lumOff val="80000"/>
                  </a:schemeClr>
                </a:solidFill>
                <a:effectLst/>
                <a:latin typeface="Times New Roman" panose="02020603050405020304" pitchFamily="18" charset="0"/>
              </a:rPr>
              <a:t>新颜色总数。我们对该树形结构的每一层都做这样的剪枝操作，那么我们将减去该树形结构大部分的分枝。</a:t>
            </a:r>
            <a:endParaRPr lang="zh-CN" altLang="en-US" sz="1800" kern="100" dirty="0">
              <a:solidFill>
                <a:schemeClr val="accent2">
                  <a:lumMod val="20000"/>
                  <a:lumOff val="80000"/>
                </a:schemeClr>
              </a:solidFill>
              <a:effectLst/>
              <a:latin typeface="Times New Roman" panose="02020603050405020304" pitchFamily="18"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2091" y="2761755"/>
            <a:ext cx="9708434" cy="35440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03454" y="294521"/>
            <a:ext cx="11610594" cy="1383665"/>
          </a:xfrm>
          <a:prstGeom prst="rect">
            <a:avLst/>
          </a:prstGeom>
          <a:noFill/>
        </p:spPr>
        <p:txBody>
          <a:bodyPr wrap="square">
            <a:spAutoFit/>
          </a:bodyPr>
          <a:lstStyle/>
          <a:p>
            <a:pPr marL="0" marR="0" algn="just">
              <a:spcBef>
                <a:spcPts val="0"/>
              </a:spcBef>
              <a:spcAft>
                <a:spcPts val="0"/>
              </a:spcAft>
            </a:pPr>
            <a:r>
              <a:rPr lang="zh-CN" altLang="en-US" sz="2400" b="1" kern="100" dirty="0">
                <a:effectLst/>
                <a:latin typeface="微软雅黑" panose="020B0503020204020204" pitchFamily="34" charset="-122"/>
                <a:ea typeface="微软雅黑" panose="020B0503020204020204" pitchFamily="34" charset="-122"/>
              </a:rPr>
              <a:t>根据实验要求，对附件中给定的地图数据填涂</a:t>
            </a:r>
            <a:endParaRPr lang="zh-CN" altLang="en-US" kern="100" dirty="0">
              <a:effectLst/>
              <a:latin typeface="Times New Roman" panose="02020603050405020304" pitchFamily="18" charset="0"/>
            </a:endParaRPr>
          </a:p>
          <a:p>
            <a:pPr marL="0" marR="0" algn="just">
              <a:spcBef>
                <a:spcPts val="0"/>
              </a:spcBef>
              <a:spcAft>
                <a:spcPts val="0"/>
              </a:spcAft>
            </a:pPr>
            <a:endParaRPr lang="en-US" altLang="zh-CN" sz="2000" kern="100" dirty="0">
              <a:effectLst/>
              <a:latin typeface="宋体" panose="02010600030101010101" pitchFamily="2" charset="-122"/>
              <a:ea typeface="宋体" panose="02010600030101010101" pitchFamily="2" charset="-122"/>
            </a:endParaRPr>
          </a:p>
          <a:p>
            <a:pPr marL="0" marR="0" algn="just">
              <a:spcBef>
                <a:spcPts val="0"/>
              </a:spcBef>
              <a:spcAft>
                <a:spcPts val="0"/>
              </a:spcAft>
            </a:pPr>
            <a:r>
              <a:rPr lang="zh-CN" altLang="en-US" sz="2000" kern="100" dirty="0">
                <a:effectLst/>
                <a:latin typeface="宋体" panose="02010600030101010101" pitchFamily="2" charset="-122"/>
                <a:ea typeface="宋体" panose="02010600030101010101" pitchFamily="2" charset="-122"/>
              </a:rPr>
              <a:t>①得到第一个可行解的时间：</a:t>
            </a:r>
            <a:endParaRPr lang="en-US" altLang="zh-CN" sz="2000" kern="100" dirty="0">
              <a:effectLst/>
              <a:latin typeface="宋体" panose="02010600030101010101" pitchFamily="2" charset="-122"/>
              <a:ea typeface="宋体" panose="02010600030101010101" pitchFamily="2" charset="-122"/>
            </a:endParaRPr>
          </a:p>
          <a:p>
            <a:pPr marL="0" marR="0" algn="just">
              <a:spcBef>
                <a:spcPts val="0"/>
              </a:spcBef>
              <a:spcAft>
                <a:spcPts val="0"/>
              </a:spcAft>
            </a:pPr>
            <a:endParaRPr lang="zh-CN" altLang="en-US" sz="2000" kern="100" dirty="0">
              <a:effectLst/>
              <a:latin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297180" y="1504950"/>
            <a:ext cx="10805795" cy="1085850"/>
          </a:xfrm>
          <a:prstGeom prst="rect">
            <a:avLst/>
          </a:prstGeom>
        </p:spPr>
      </p:pic>
      <p:sp>
        <p:nvSpPr>
          <p:cNvPr id="8" name="文本框 7"/>
          <p:cNvSpPr txBox="1"/>
          <p:nvPr/>
        </p:nvSpPr>
        <p:spPr>
          <a:xfrm>
            <a:off x="297307" y="2958605"/>
            <a:ext cx="9077706" cy="1014730"/>
          </a:xfrm>
          <a:prstGeom prst="rect">
            <a:avLst/>
          </a:prstGeom>
          <a:noFill/>
        </p:spPr>
        <p:txBody>
          <a:bodyPr wrap="square">
            <a:spAutoFit/>
          </a:bodyPr>
          <a:lstStyle/>
          <a:p>
            <a:pPr marL="0" marR="0" algn="just">
              <a:spcBef>
                <a:spcPts val="0"/>
              </a:spcBef>
              <a:spcAft>
                <a:spcPts val="0"/>
              </a:spcAft>
            </a:pPr>
            <a:r>
              <a:rPr lang="zh-CN" altLang="en-US" sz="2000" kern="100" dirty="0">
                <a:effectLst/>
                <a:latin typeface="宋体" panose="02010600030101010101" pitchFamily="2" charset="-122"/>
                <a:ea typeface="宋体" panose="02010600030101010101" pitchFamily="2" charset="-122"/>
              </a:rPr>
              <a:t>②尝试得到全部可行解（以</a:t>
            </a:r>
            <a:r>
              <a:rPr lang="en-US" altLang="zh-CN" sz="2000" kern="100" dirty="0">
                <a:effectLst/>
                <a:latin typeface="宋体" panose="02010600030101010101" pitchFamily="2" charset="-122"/>
                <a:ea typeface="宋体" panose="02010600030101010101" pitchFamily="2" charset="-122"/>
              </a:rPr>
              <a:t>4</a:t>
            </a:r>
            <a:r>
              <a:rPr lang="zh-CN" altLang="en-US" sz="2000" kern="100" dirty="0">
                <a:effectLst/>
                <a:latin typeface="宋体" panose="02010600030101010101" pitchFamily="2" charset="-122"/>
                <a:ea typeface="宋体" panose="02010600030101010101" pitchFamily="2" charset="-122"/>
              </a:rPr>
              <a:t>号节点为起始节点）：</a:t>
            </a:r>
            <a:endParaRPr lang="zh-CN" altLang="en-US" sz="2000" kern="100" dirty="0">
              <a:effectLst/>
              <a:latin typeface="Times New Roman" panose="02020603050405020304" pitchFamily="18" charset="0"/>
            </a:endParaRPr>
          </a:p>
          <a:p>
            <a:pPr marL="0" marR="0" algn="just">
              <a:spcBef>
                <a:spcPts val="0"/>
              </a:spcBef>
              <a:spcAft>
                <a:spcPts val="0"/>
              </a:spcAft>
            </a:pPr>
            <a:r>
              <a:rPr lang="en-US" altLang="zh-CN" sz="2000" kern="100" dirty="0">
                <a:effectLst/>
                <a:latin typeface="Times New Roman" panose="02020603050405020304" pitchFamily="18" charset="0"/>
              </a:rPr>
              <a:t>1.</a:t>
            </a:r>
            <a:r>
              <a:rPr lang="zh-CN" altLang="en-US" sz="2000" kern="100" dirty="0">
                <a:effectLst/>
                <a:latin typeface="Times New Roman" panose="02020603050405020304" pitchFamily="18" charset="0"/>
              </a:rPr>
              <a:t>对于</a:t>
            </a:r>
            <a:r>
              <a:rPr lang="en-US" altLang="zh-CN" sz="2000" kern="100" dirty="0">
                <a:effectLst/>
                <a:latin typeface="Times New Roman" panose="02020603050405020304" pitchFamily="18" charset="0"/>
              </a:rPr>
              <a:t>450</a:t>
            </a:r>
            <a:r>
              <a:rPr lang="zh-CN" altLang="en-US" sz="2000" kern="100" dirty="0">
                <a:effectLst/>
                <a:latin typeface="Times New Roman" panose="02020603050405020304" pitchFamily="18" charset="0"/>
              </a:rPr>
              <a:t>点</a:t>
            </a:r>
            <a:r>
              <a:rPr lang="en-US" altLang="zh-CN" sz="2000" kern="100" dirty="0">
                <a:effectLst/>
                <a:latin typeface="Times New Roman" panose="02020603050405020304" pitchFamily="18" charset="0"/>
              </a:rPr>
              <a:t>5</a:t>
            </a:r>
            <a:r>
              <a:rPr lang="zh-CN" altLang="en-US" sz="2000" kern="100" dirty="0">
                <a:effectLst/>
                <a:latin typeface="Times New Roman" panose="02020603050405020304" pitchFamily="18" charset="0"/>
              </a:rPr>
              <a:t>色图，可见经过重重优化后仅用</a:t>
            </a:r>
            <a:r>
              <a:rPr lang="en-US" altLang="zh-CN" sz="2000" kern="100" dirty="0">
                <a:effectLst/>
                <a:latin typeface="Times New Roman" panose="02020603050405020304" pitchFamily="18" charset="0"/>
              </a:rPr>
              <a:t>4.520s</a:t>
            </a:r>
            <a:r>
              <a:rPr lang="zh-CN" altLang="en-US" sz="2000" kern="100" dirty="0">
                <a:effectLst/>
                <a:latin typeface="Times New Roman" panose="02020603050405020304" pitchFamily="18" charset="0"/>
              </a:rPr>
              <a:t>就可得到全部的</a:t>
            </a:r>
            <a:r>
              <a:rPr lang="en-US" altLang="zh-CN" sz="2000" kern="100" dirty="0">
                <a:effectLst/>
                <a:latin typeface="Times New Roman" panose="02020603050405020304" pitchFamily="18" charset="0"/>
              </a:rPr>
              <a:t>3840</a:t>
            </a:r>
            <a:r>
              <a:rPr lang="zh-CN" altLang="en-US" sz="2000" kern="100" dirty="0">
                <a:effectLst/>
                <a:latin typeface="Times New Roman" panose="02020603050405020304" pitchFamily="18" charset="0"/>
              </a:rPr>
              <a:t>个解。</a:t>
            </a:r>
            <a:endParaRPr lang="zh-CN" altLang="en-US" sz="2000" kern="100" dirty="0">
              <a:effectLst/>
              <a:latin typeface="Times New Roman" panose="02020603050405020304" pitchFamily="18" charset="0"/>
            </a:endParaRPr>
          </a:p>
          <a:p>
            <a:pPr marL="0" marR="0" algn="just">
              <a:spcBef>
                <a:spcPts val="0"/>
              </a:spcBef>
              <a:spcAft>
                <a:spcPts val="0"/>
              </a:spcAft>
            </a:pPr>
            <a:r>
              <a:rPr lang="en-US" altLang="zh-CN" sz="2000" kern="100" dirty="0">
                <a:effectLst/>
                <a:latin typeface="Times New Roman" panose="02020603050405020304" pitchFamily="18" charset="0"/>
              </a:rPr>
              <a:t>2.</a:t>
            </a:r>
            <a:r>
              <a:rPr lang="zh-CN" altLang="en-US" sz="2000" kern="100" dirty="0">
                <a:effectLst/>
                <a:latin typeface="Times New Roman" panose="02020603050405020304" pitchFamily="18" charset="0"/>
              </a:rPr>
              <a:t>对于</a:t>
            </a:r>
            <a:r>
              <a:rPr lang="en-US" altLang="zh-CN" sz="2000" kern="100" dirty="0">
                <a:effectLst/>
                <a:latin typeface="Times New Roman" panose="02020603050405020304" pitchFamily="18" charset="0"/>
              </a:rPr>
              <a:t>450</a:t>
            </a:r>
            <a:r>
              <a:rPr lang="zh-CN" altLang="en-US" sz="2000" kern="100" dirty="0">
                <a:effectLst/>
                <a:latin typeface="Times New Roman" panose="02020603050405020304" pitchFamily="18" charset="0"/>
              </a:rPr>
              <a:t>点</a:t>
            </a:r>
            <a:r>
              <a:rPr lang="en-US" altLang="zh-CN" sz="2000" kern="100" dirty="0">
                <a:effectLst/>
                <a:latin typeface="Times New Roman" panose="02020603050405020304" pitchFamily="18" charset="0"/>
              </a:rPr>
              <a:t>15</a:t>
            </a:r>
            <a:r>
              <a:rPr lang="zh-CN" altLang="en-US" sz="2000" kern="100" dirty="0">
                <a:effectLst/>
                <a:latin typeface="Times New Roman" panose="02020603050405020304" pitchFamily="18" charset="0"/>
              </a:rPr>
              <a:t>色图和</a:t>
            </a:r>
            <a:r>
              <a:rPr lang="en-US" altLang="zh-CN" sz="2000" kern="100" dirty="0">
                <a:effectLst/>
                <a:latin typeface="Times New Roman" panose="02020603050405020304" pitchFamily="18" charset="0"/>
              </a:rPr>
              <a:t>450</a:t>
            </a:r>
            <a:r>
              <a:rPr lang="zh-CN" altLang="en-US" sz="2000" kern="100" dirty="0">
                <a:effectLst/>
                <a:latin typeface="Times New Roman" panose="02020603050405020304" pitchFamily="18" charset="0"/>
              </a:rPr>
              <a:t>点</a:t>
            </a:r>
            <a:r>
              <a:rPr lang="en-US" altLang="zh-CN" sz="2000" kern="100" dirty="0">
                <a:effectLst/>
                <a:latin typeface="Times New Roman" panose="02020603050405020304" pitchFamily="18" charset="0"/>
              </a:rPr>
              <a:t>25</a:t>
            </a:r>
            <a:r>
              <a:rPr lang="zh-CN" altLang="en-US" sz="2000" kern="100" dirty="0">
                <a:effectLst/>
                <a:latin typeface="Times New Roman" panose="02020603050405020304" pitchFamily="18" charset="0"/>
              </a:rPr>
              <a:t>色图，运行</a:t>
            </a:r>
            <a:r>
              <a:rPr lang="zh-CN" altLang="en-US" sz="2000" kern="100" dirty="0">
                <a:effectLst/>
                <a:latin typeface="Times New Roman" panose="02020603050405020304" pitchFamily="18" charset="0"/>
              </a:rPr>
              <a:t>太久了。便只求它的第一个解。</a:t>
            </a:r>
            <a:endParaRPr lang="zh-CN" altLang="en-US" sz="2000" kern="100" dirty="0">
              <a:effectLst/>
              <a:latin typeface="Times New Roman" panose="02020603050405020304" pitchFamily="18" charset="0"/>
            </a:endParaRPr>
          </a:p>
        </p:txBody>
      </p:sp>
      <p:sp>
        <p:nvSpPr>
          <p:cNvPr id="2" name="文本框 1"/>
          <p:cNvSpPr txBox="1"/>
          <p:nvPr/>
        </p:nvSpPr>
        <p:spPr>
          <a:xfrm>
            <a:off x="508000" y="4442460"/>
            <a:ext cx="9895205" cy="1454150"/>
          </a:xfrm>
          <a:prstGeom prst="rect">
            <a:avLst/>
          </a:prstGeom>
        </p:spPr>
        <p:txBody>
          <a:bodyPr>
            <a:noAutofit/>
          </a:bodyPr>
          <a:p>
            <a:pPr algn="just">
              <a:spcBef>
                <a:spcPts val="0"/>
              </a:spcBef>
              <a:spcAft>
                <a:spcPts val="0"/>
              </a:spcAft>
              <a:buClrTx/>
              <a:buSzTx/>
              <a:buNone/>
            </a:pPr>
            <a:r>
              <a:rPr lang="zh-CN" altLang="en-US" sz="2000" b="1" kern="100" dirty="0">
                <a:effectLst/>
                <a:latin typeface="微软雅黑" panose="020B0503020204020204" pitchFamily="34" charset="-122"/>
                <a:ea typeface="微软雅黑" panose="020B0503020204020204" pitchFamily="34" charset="-122"/>
              </a:rPr>
              <a:t>解释为什么填涂颜色超过了四色</a:t>
            </a:r>
            <a:endParaRPr lang="zh-CN" altLang="en-US" sz="2000" kern="100" dirty="0">
              <a:effectLst/>
              <a:latin typeface="Times New Roman" panose="02020603050405020304" pitchFamily="18" charset="0"/>
            </a:endParaRPr>
          </a:p>
          <a:p>
            <a:pPr algn="just">
              <a:spcBef>
                <a:spcPts val="0"/>
              </a:spcBef>
              <a:spcAft>
                <a:spcPts val="0"/>
              </a:spcAft>
              <a:buClrTx/>
              <a:buSzTx/>
              <a:buNone/>
            </a:pPr>
            <a:endParaRPr lang="zh-CN" altLang="en-US" sz="2000" kern="100" dirty="0">
              <a:solidFill>
                <a:schemeClr val="tx1"/>
              </a:solidFill>
              <a:effectLst/>
              <a:latin typeface="Times New Roman" panose="02020603050405020304" pitchFamily="18" charset="0"/>
            </a:endParaRPr>
          </a:p>
          <a:p>
            <a:pPr algn="just">
              <a:spcBef>
                <a:spcPts val="0"/>
              </a:spcBef>
              <a:spcAft>
                <a:spcPts val="0"/>
              </a:spcAft>
              <a:buClrTx/>
              <a:buSzTx/>
              <a:buNone/>
            </a:pPr>
            <a:r>
              <a:rPr lang="zh-CN" altLang="en-US" sz="2000" kern="100" dirty="0">
                <a:solidFill>
                  <a:schemeClr val="tx1"/>
                </a:solidFill>
                <a:effectLst/>
                <a:latin typeface="Times New Roman" panose="02020603050405020304" pitchFamily="18" charset="0"/>
              </a:rPr>
              <a:t>E≤3V−6E是由欧拉公式推导出的：“平面图最大边数限制条件”</a:t>
            </a:r>
            <a:endParaRPr lang="zh-CN" altLang="en-US" sz="2000" kern="100" dirty="0">
              <a:solidFill>
                <a:schemeClr val="tx1"/>
              </a:solidFill>
              <a:effectLst/>
              <a:latin typeface="Times New Roman" panose="02020603050405020304" pitchFamily="18" charset="0"/>
            </a:endParaRPr>
          </a:p>
          <a:p>
            <a:pPr algn="just">
              <a:spcBef>
                <a:spcPts val="0"/>
              </a:spcBef>
              <a:spcAft>
                <a:spcPts val="0"/>
              </a:spcAft>
              <a:buClrTx/>
              <a:buSzTx/>
              <a:buNone/>
            </a:pPr>
            <a:r>
              <a:rPr lang="zh-CN" altLang="en-US" sz="2000" kern="100" dirty="0">
                <a:solidFill>
                  <a:schemeClr val="tx1"/>
                </a:solidFill>
                <a:effectLst/>
                <a:latin typeface="Times New Roman" panose="02020603050405020304" pitchFamily="18" charset="0"/>
              </a:rPr>
              <a:t> 用于快速判断图是否可能为平面图。</a:t>
            </a:r>
            <a:endParaRPr lang="zh-CN" altLang="en-US" sz="2000" kern="100" dirty="0">
              <a:solidFill>
                <a:schemeClr val="tx1"/>
              </a:solidFill>
              <a:effectLst/>
              <a:latin typeface="Times New Roman" panose="02020603050405020304" pitchFamily="18" charset="0"/>
            </a:endParaRPr>
          </a:p>
          <a:p>
            <a:pPr algn="just">
              <a:spcBef>
                <a:spcPts val="0"/>
              </a:spcBef>
              <a:spcAft>
                <a:spcPts val="0"/>
              </a:spcAft>
              <a:buClrTx/>
              <a:buSzTx/>
              <a:buNone/>
            </a:pPr>
            <a:r>
              <a:rPr lang="zh-CN" altLang="en-US" sz="2000" kern="100" dirty="0">
                <a:solidFill>
                  <a:schemeClr val="tx1"/>
                </a:solidFill>
                <a:effectLst/>
                <a:latin typeface="Times New Roman" panose="02020603050405020304" pitchFamily="18" charset="0"/>
              </a:rPr>
              <a:t>而实验中的</a:t>
            </a:r>
            <a:r>
              <a:rPr lang="en-US" altLang="zh-CN" sz="2000" kern="100" dirty="0">
                <a:solidFill>
                  <a:schemeClr val="tx1"/>
                </a:solidFill>
                <a:effectLst/>
                <a:latin typeface="Times New Roman" panose="02020603050405020304" pitchFamily="18" charset="0"/>
              </a:rPr>
              <a:t> Leighton </a:t>
            </a:r>
            <a:r>
              <a:rPr lang="zh-CN" altLang="en-US" sz="2000" kern="100" dirty="0">
                <a:solidFill>
                  <a:schemeClr val="tx1"/>
                </a:solidFill>
                <a:effectLst/>
                <a:latin typeface="Times New Roman" panose="02020603050405020304" pitchFamily="18" charset="0"/>
              </a:rPr>
              <a:t>图边数远超该限制，因此它不是平面图，不适用于四色定理，所以可能需要超过</a:t>
            </a:r>
            <a:r>
              <a:rPr lang="en-US" altLang="zh-CN" sz="2000" kern="100" dirty="0">
                <a:solidFill>
                  <a:schemeClr val="tx1"/>
                </a:solidFill>
                <a:effectLst/>
                <a:latin typeface="Times New Roman" panose="02020603050405020304" pitchFamily="18" charset="0"/>
              </a:rPr>
              <a:t> 4 </a:t>
            </a:r>
            <a:r>
              <a:rPr lang="zh-CN" altLang="en-US" sz="2000" kern="100" dirty="0">
                <a:solidFill>
                  <a:schemeClr val="tx1"/>
                </a:solidFill>
                <a:effectLst/>
                <a:latin typeface="Times New Roman" panose="02020603050405020304" pitchFamily="18" charset="0"/>
              </a:rPr>
              <a:t>种颜色。</a:t>
            </a:r>
            <a:endParaRPr lang="zh-CN" altLang="en-US" sz="2000" kern="100" dirty="0">
              <a:solidFill>
                <a:schemeClr val="tx1"/>
              </a:solidFill>
              <a:effectLst/>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696212" y="2230245"/>
            <a:ext cx="9916668" cy="1198880"/>
          </a:xfrm>
          <a:prstGeom prst="rect">
            <a:avLst/>
          </a:prstGeom>
          <a:noFill/>
        </p:spPr>
        <p:txBody>
          <a:bodyPr wrap="square">
            <a:spAutoFit/>
          </a:bodyPr>
          <a:lstStyle/>
          <a:p>
            <a:pPr marL="0" marR="0" indent="0" algn="just">
              <a:lnSpc>
                <a:spcPts val="1680"/>
              </a:lnSpc>
              <a:spcBef>
                <a:spcPts val="1440"/>
              </a:spcBef>
              <a:spcAft>
                <a:spcPts val="480"/>
              </a:spcAft>
            </a:pPr>
            <a:endParaRPr lang="en-US" altLang="zh-CN" sz="2800" b="1" i="0" kern="100" spc="0" dirty="0">
              <a:solidFill>
                <a:srgbClr val="FFFF00"/>
              </a:solidFill>
              <a:effectLst/>
              <a:latin typeface="微软雅黑" panose="020B0503020204020204" pitchFamily="34" charset="-122"/>
              <a:ea typeface="微软雅黑" panose="020B0503020204020204" pitchFamily="34" charset="-122"/>
            </a:endParaRPr>
          </a:p>
          <a:p>
            <a:pPr marL="0" marR="0" indent="0" algn="just">
              <a:lnSpc>
                <a:spcPts val="1680"/>
              </a:lnSpc>
              <a:spcBef>
                <a:spcPts val="1440"/>
              </a:spcBef>
              <a:spcAft>
                <a:spcPts val="480"/>
              </a:spcAft>
            </a:pPr>
            <a:r>
              <a:rPr lang="zh-CN" altLang="en-US" sz="4800" b="1" kern="100" dirty="0">
                <a:solidFill>
                  <a:srgbClr val="FFFF00"/>
                </a:solidFill>
                <a:effectLst/>
                <a:latin typeface="Times New Roman" panose="02020603050405020304" pitchFamily="18" charset="0"/>
              </a:rPr>
              <a:t>分析算法效率与图规模的关系</a:t>
            </a:r>
            <a:endParaRPr lang="zh-CN" altLang="en-US" sz="4800" b="1" kern="100" dirty="0">
              <a:solidFill>
                <a:srgbClr val="FFFF00"/>
              </a:solidFill>
              <a:effectLst/>
              <a:latin typeface="Times New Roman" panose="02020603050405020304" pitchFamily="18" charset="0"/>
            </a:endParaRPr>
          </a:p>
          <a:p>
            <a:pPr marL="0" marR="0" indent="266700" algn="just">
              <a:spcBef>
                <a:spcPts val="0"/>
              </a:spcBef>
              <a:spcAft>
                <a:spcPts val="0"/>
              </a:spcAft>
            </a:pPr>
            <a:r>
              <a:rPr lang="zh-CN" altLang="en-US" sz="2400" b="0" kern="100" dirty="0">
                <a:effectLst/>
                <a:latin typeface="宋体" panose="02010600030101010101" pitchFamily="2" charset="-122"/>
                <a:ea typeface="宋体" panose="02010600030101010101" pitchFamily="2" charset="-122"/>
              </a:rPr>
              <a:t>  </a:t>
            </a:r>
            <a:endParaRPr lang="zh-CN" altLang="en-US" sz="2400" kern="100" dirty="0">
              <a:effectLst/>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4310" y="199157"/>
            <a:ext cx="8053578" cy="733534"/>
          </a:xfrm>
          <a:prstGeom prst="rect">
            <a:avLst/>
          </a:prstGeom>
          <a:noFill/>
        </p:spPr>
        <p:txBody>
          <a:bodyPr wrap="square">
            <a:spAutoFit/>
          </a:bodyPr>
          <a:lstStyle/>
          <a:p>
            <a:pPr marR="0" lvl="0" algn="l">
              <a:lnSpc>
                <a:spcPts val="1560"/>
              </a:lnSpc>
              <a:spcBef>
                <a:spcPts val="0"/>
              </a:spcBef>
              <a:spcAft>
                <a:spcPts val="960"/>
              </a:spcAft>
            </a:pPr>
            <a:r>
              <a:rPr lang="en-US" altLang="zh-CN" sz="2000" b="1" i="0" spc="0" dirty="0">
                <a:effectLst/>
                <a:latin typeface="宋体" panose="02010600030101010101" pitchFamily="2" charset="-122"/>
                <a:ea typeface="宋体" panose="02010600030101010101" pitchFamily="2" charset="-122"/>
              </a:rPr>
              <a:t>1</a:t>
            </a:r>
            <a:r>
              <a:rPr lang="zh-CN" altLang="en-US" sz="2000" b="1" i="0" spc="0" dirty="0">
                <a:effectLst/>
                <a:latin typeface="宋体" panose="02010600030101010101" pitchFamily="2" charset="-122"/>
                <a:ea typeface="宋体" panose="02010600030101010101" pitchFamily="2" charset="-122"/>
              </a:rPr>
              <a:t>）图规模对运行时间的影响：</a:t>
            </a:r>
            <a:endParaRPr lang="zh-CN" altLang="en-US" sz="2800" dirty="0">
              <a:effectLst/>
              <a:latin typeface="Times New Roman" panose="02020603050405020304" pitchFamily="18" charset="0"/>
            </a:endParaRPr>
          </a:p>
          <a:p>
            <a:pPr marL="0" marR="0" algn="just">
              <a:spcBef>
                <a:spcPts val="0"/>
              </a:spcBef>
              <a:spcAft>
                <a:spcPts val="0"/>
              </a:spcAft>
            </a:pPr>
            <a:r>
              <a:rPr lang="zh-CN" altLang="en-US" sz="2000" kern="100" dirty="0">
                <a:effectLst/>
                <a:latin typeface="宋体" panose="02010600030101010101" pitchFamily="2" charset="-122"/>
                <a:ea typeface="宋体" panose="02010600030101010101" pitchFamily="2" charset="-122"/>
              </a:rPr>
              <a:t>注：对于不同的点数，边数均为点数的</a:t>
            </a:r>
            <a:r>
              <a:rPr lang="en-US" altLang="zh-CN" sz="2000" kern="100" dirty="0">
                <a:effectLst/>
                <a:latin typeface="Times New Roman" panose="02020603050405020304" pitchFamily="18" charset="0"/>
                <a:ea typeface="宋体" panose="02010600030101010101" pitchFamily="2" charset="-122"/>
              </a:rPr>
              <a:t>2</a:t>
            </a:r>
            <a:r>
              <a:rPr lang="zh-CN" altLang="en-US" sz="2000" kern="100" dirty="0">
                <a:effectLst/>
                <a:latin typeface="宋体" panose="02010600030101010101" pitchFamily="2" charset="-122"/>
                <a:ea typeface="宋体" panose="02010600030101010101" pitchFamily="2" charset="-122"/>
              </a:rPr>
              <a:t>倍，颜色总数均为</a:t>
            </a:r>
            <a:r>
              <a:rPr lang="en-US" altLang="zh-CN" sz="2000" kern="100" dirty="0">
                <a:effectLst/>
                <a:latin typeface="Times New Roman" panose="02020603050405020304" pitchFamily="18" charset="0"/>
                <a:ea typeface="宋体" panose="02010600030101010101" pitchFamily="2" charset="-122"/>
              </a:rPr>
              <a:t>4</a:t>
            </a:r>
            <a:r>
              <a:rPr lang="zh-CN" altLang="en-US" sz="2000" kern="100" dirty="0">
                <a:effectLst/>
                <a:latin typeface="宋体" panose="02010600030101010101" pitchFamily="2" charset="-122"/>
                <a:ea typeface="宋体" panose="02010600030101010101" pitchFamily="2" charset="-122"/>
              </a:rPr>
              <a:t>。</a:t>
            </a:r>
            <a:endParaRPr lang="zh-CN" altLang="en-US" sz="2000" kern="100" dirty="0">
              <a:effectLst/>
              <a:latin typeface="Times New Roman" panose="02020603050405020304" pitchFamily="18" charset="0"/>
            </a:endParaRPr>
          </a:p>
        </p:txBody>
      </p:sp>
      <p:sp>
        <p:nvSpPr>
          <p:cNvPr id="8" name="文本框 7"/>
          <p:cNvSpPr txBox="1"/>
          <p:nvPr/>
        </p:nvSpPr>
        <p:spPr>
          <a:xfrm>
            <a:off x="675005" y="1480820"/>
            <a:ext cx="2586990" cy="2584450"/>
          </a:xfrm>
          <a:prstGeom prst="rect">
            <a:avLst/>
          </a:prstGeom>
          <a:noFill/>
        </p:spPr>
        <p:txBody>
          <a:bodyPr wrap="square">
            <a:noAutofit/>
          </a:bodyPr>
          <a:lstStyle/>
          <a:p>
            <a:pPr marL="0" marR="0" indent="266700" algn="just">
              <a:spcBef>
                <a:spcPts val="0"/>
              </a:spcBef>
              <a:spcAft>
                <a:spcPts val="0"/>
              </a:spcAft>
            </a:pPr>
            <a:r>
              <a:rPr lang="zh-CN" altLang="en-US" sz="2400" kern="100" dirty="0">
                <a:solidFill>
                  <a:srgbClr val="FFFF00"/>
                </a:solidFill>
                <a:effectLst/>
                <a:latin typeface="宋体" panose="02010600030101010101" pitchFamily="2" charset="-122"/>
                <a:ea typeface="宋体" panose="02010600030101010101" pitchFamily="2" charset="-122"/>
              </a:rPr>
              <a:t>从上面的表格和曲线图可知：随着图规模的增大，算法的运行时间也随之增大。</a:t>
            </a:r>
            <a:endParaRPr lang="en-US" altLang="zh-CN" sz="2400" kern="100" dirty="0">
              <a:solidFill>
                <a:srgbClr val="FFFF00"/>
              </a:solidFill>
              <a:effectLst/>
              <a:latin typeface="宋体" panose="02010600030101010101" pitchFamily="2" charset="-122"/>
              <a:ea typeface="宋体" panose="02010600030101010101" pitchFamily="2" charset="-122"/>
            </a:endParaRPr>
          </a:p>
          <a:p>
            <a:pPr marL="0" marR="0" indent="266700" algn="just">
              <a:spcBef>
                <a:spcPts val="0"/>
              </a:spcBef>
              <a:spcAft>
                <a:spcPts val="0"/>
              </a:spcAft>
            </a:pPr>
            <a:endParaRPr lang="zh-CN" altLang="en-US" sz="2400" kern="100" dirty="0">
              <a:solidFill>
                <a:srgbClr val="FFFF00"/>
              </a:solidFill>
              <a:effectLst/>
              <a:latin typeface="Times New Roman" panose="02020603050405020304" pitchFamily="18" charset="0"/>
            </a:endParaRPr>
          </a:p>
        </p:txBody>
      </p:sp>
      <p:sp>
        <p:nvSpPr>
          <p:cNvPr id="7" name="文本框 6"/>
          <p:cNvSpPr txBox="1"/>
          <p:nvPr/>
        </p:nvSpPr>
        <p:spPr>
          <a:xfrm>
            <a:off x="194310" y="5518150"/>
            <a:ext cx="11473815" cy="1014730"/>
          </a:xfrm>
          <a:prstGeom prst="rect">
            <a:avLst/>
          </a:prstGeom>
          <a:noFill/>
        </p:spPr>
        <p:txBody>
          <a:bodyPr wrap="square">
            <a:spAutoFit/>
          </a:bodyPr>
          <a:lstStyle/>
          <a:p>
            <a:pPr marL="0" marR="0" algn="just">
              <a:spcBef>
                <a:spcPts val="0"/>
              </a:spcBef>
              <a:spcAft>
                <a:spcPts val="0"/>
              </a:spcAft>
            </a:pPr>
            <a:r>
              <a:rPr lang="zh-CN" altLang="en-US" sz="2000" kern="100" dirty="0">
                <a:effectLst/>
                <a:latin typeface="宋体" panose="02010600030101010101" pitchFamily="2" charset="-122"/>
                <a:ea typeface="宋体" panose="02010600030101010101" pitchFamily="2" charset="-122"/>
              </a:rPr>
              <a:t>    分析原因：由于回溯树形结构同层节点即对应于图的同一个节点填不同颜色，故我们容易知道随着图规模的增大，点的个数增多，那么回溯树形结构的层数也就增多，整棵树也就更为庞大，故算法的运行时间也随之增大。</a:t>
            </a:r>
            <a:endParaRPr lang="zh-CN" altLang="en-US" sz="1600" kern="100" dirty="0">
              <a:effectLst/>
              <a:latin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4474210" y="932815"/>
            <a:ext cx="6744970" cy="42176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4310" y="199156"/>
            <a:ext cx="8190738" cy="733534"/>
          </a:xfrm>
          <a:prstGeom prst="rect">
            <a:avLst/>
          </a:prstGeom>
          <a:noFill/>
        </p:spPr>
        <p:txBody>
          <a:bodyPr wrap="square">
            <a:spAutoFit/>
          </a:bodyPr>
          <a:lstStyle/>
          <a:p>
            <a:pPr marR="0" lvl="0" algn="l">
              <a:lnSpc>
                <a:spcPts val="1560"/>
              </a:lnSpc>
              <a:spcBef>
                <a:spcPts val="0"/>
              </a:spcBef>
              <a:spcAft>
                <a:spcPts val="960"/>
              </a:spcAft>
            </a:pPr>
            <a:r>
              <a:rPr lang="en-US" altLang="zh-CN" sz="2000" b="1" i="0" spc="0" dirty="0">
                <a:effectLst/>
                <a:latin typeface="宋体" panose="02010600030101010101" pitchFamily="2" charset="-122"/>
                <a:ea typeface="宋体" panose="02010600030101010101" pitchFamily="2" charset="-122"/>
              </a:rPr>
              <a:t>2</a:t>
            </a:r>
            <a:r>
              <a:rPr lang="zh-CN" altLang="en-US" sz="2000" b="1" i="0" spc="0" dirty="0">
                <a:effectLst/>
                <a:latin typeface="宋体" panose="02010600030101010101" pitchFamily="2" charset="-122"/>
                <a:ea typeface="宋体" panose="02010600030101010101" pitchFamily="2" charset="-122"/>
              </a:rPr>
              <a:t>）图的边数对运行时间的影响：</a:t>
            </a:r>
            <a:endParaRPr lang="zh-CN" altLang="en-US" sz="2000" dirty="0">
              <a:effectLst/>
              <a:latin typeface="Times New Roman" panose="02020603050405020304" pitchFamily="18" charset="0"/>
            </a:endParaRPr>
          </a:p>
          <a:p>
            <a:pPr marL="0" marR="0" algn="just">
              <a:spcBef>
                <a:spcPts val="0"/>
              </a:spcBef>
              <a:spcAft>
                <a:spcPts val="0"/>
              </a:spcAft>
            </a:pPr>
            <a:r>
              <a:rPr lang="zh-CN" altLang="en-US" sz="2000" kern="100" dirty="0">
                <a:effectLst/>
                <a:latin typeface="宋体" panose="02010600030101010101" pitchFamily="2" charset="-122"/>
                <a:ea typeface="宋体" panose="02010600030101010101" pitchFamily="2" charset="-122"/>
              </a:rPr>
              <a:t>注：颜色总数均为</a:t>
            </a:r>
            <a:r>
              <a:rPr lang="en-US" altLang="zh-CN" sz="2000" kern="100" dirty="0">
                <a:effectLst/>
                <a:latin typeface="Times New Roman" panose="02020603050405020304" pitchFamily="18" charset="0"/>
                <a:ea typeface="宋体" panose="02010600030101010101" pitchFamily="2" charset="-122"/>
              </a:rPr>
              <a:t>4</a:t>
            </a:r>
            <a:r>
              <a:rPr lang="zh-CN" altLang="en-US" sz="2000" kern="100" dirty="0">
                <a:effectLst/>
                <a:latin typeface="宋体" panose="02010600030101010101" pitchFamily="2" charset="-122"/>
                <a:ea typeface="宋体" panose="02010600030101010101" pitchFamily="2" charset="-122"/>
              </a:rPr>
              <a:t>。</a:t>
            </a:r>
            <a:endParaRPr lang="zh-CN" altLang="en-US" sz="2000" kern="100" dirty="0">
              <a:effectLst/>
              <a:latin typeface="Times New Roman" panose="02020603050405020304" pitchFamily="18" charset="0"/>
            </a:endParaRPr>
          </a:p>
        </p:txBody>
      </p:sp>
      <p:sp>
        <p:nvSpPr>
          <p:cNvPr id="8" name="文本框 7"/>
          <p:cNvSpPr txBox="1"/>
          <p:nvPr/>
        </p:nvSpPr>
        <p:spPr>
          <a:xfrm>
            <a:off x="354965" y="1346835"/>
            <a:ext cx="3452495" cy="1568450"/>
          </a:xfrm>
          <a:prstGeom prst="rect">
            <a:avLst/>
          </a:prstGeom>
          <a:noFill/>
        </p:spPr>
        <p:txBody>
          <a:bodyPr wrap="square">
            <a:spAutoFit/>
          </a:bodyPr>
          <a:lstStyle/>
          <a:p>
            <a:pPr marL="0" marR="0" indent="266700" algn="just">
              <a:spcBef>
                <a:spcPts val="0"/>
              </a:spcBef>
              <a:spcAft>
                <a:spcPts val="0"/>
              </a:spcAft>
            </a:pPr>
            <a:r>
              <a:rPr lang="zh-CN" altLang="en-US" sz="2400" kern="100" dirty="0">
                <a:solidFill>
                  <a:srgbClr val="FFFF00"/>
                </a:solidFill>
                <a:effectLst/>
                <a:latin typeface="宋体" panose="02010600030101010101" pitchFamily="2" charset="-122"/>
                <a:ea typeface="宋体" panose="02010600030101010101" pitchFamily="2" charset="-122"/>
              </a:rPr>
              <a:t>从上面的表格和曲线图可知：</a:t>
            </a:r>
            <a:r>
              <a:rPr lang="zh-CN" altLang="en-US" sz="2400" kern="100" dirty="0">
                <a:solidFill>
                  <a:srgbClr val="FFFF00"/>
                </a:solidFill>
                <a:effectLst/>
                <a:latin typeface="宋体" panose="02010600030101010101" pitchFamily="2" charset="-122"/>
                <a:ea typeface="宋体" panose="02010600030101010101" pitchFamily="2" charset="-122"/>
                <a:sym typeface="+mn-ea"/>
              </a:rPr>
              <a:t>算法运行时间呈现“先下降后上升”的趋势。</a:t>
            </a:r>
            <a:endParaRPr lang="zh-CN" altLang="en-US" sz="2400" kern="100" dirty="0">
              <a:solidFill>
                <a:srgbClr val="FFFF00"/>
              </a:solidFill>
              <a:effectLst/>
              <a:latin typeface="宋体" panose="02010600030101010101" pitchFamily="2" charset="-122"/>
              <a:ea typeface="宋体" panose="02010600030101010101" pitchFamily="2" charset="-122"/>
            </a:endParaRPr>
          </a:p>
        </p:txBody>
      </p:sp>
      <p:sp>
        <p:nvSpPr>
          <p:cNvPr id="7" name="文本框 6"/>
          <p:cNvSpPr txBox="1"/>
          <p:nvPr/>
        </p:nvSpPr>
        <p:spPr>
          <a:xfrm>
            <a:off x="0" y="5056382"/>
            <a:ext cx="12060936" cy="1198880"/>
          </a:xfrm>
          <a:prstGeom prst="rect">
            <a:avLst/>
          </a:prstGeom>
          <a:noFill/>
        </p:spPr>
        <p:txBody>
          <a:bodyPr wrap="square">
            <a:spAutoFit/>
          </a:bodyPr>
          <a:lstStyle/>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分析原因：当边数较少时，图结构较为稀疏，约束较弱，搜索空间较大，导致运行时间较长。</a:t>
            </a:r>
            <a:endParaRPr lang="zh-CN" altLang="en-US" sz="1800" kern="100" dirty="0">
              <a:effectLst/>
              <a:latin typeface="宋体" panose="02010600030101010101" pitchFamily="2" charset="-122"/>
              <a:ea typeface="宋体" panose="02010600030101010101" pitchFamily="2" charset="-122"/>
            </a:endParaRPr>
          </a:p>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随着边数增加，顶点间约束增强，剪枝效果更明显，搜索空间缩小，因此运行时间下降。</a:t>
            </a:r>
            <a:endParaRPr lang="zh-CN" altLang="en-US" sz="1800" kern="100" dirty="0">
              <a:effectLst/>
              <a:latin typeface="宋体" panose="02010600030101010101" pitchFamily="2" charset="-122"/>
              <a:ea typeface="宋体" panose="02010600030101010101" pitchFamily="2" charset="-122"/>
            </a:endParaRPr>
          </a:p>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	但当边数进一步增加时，图变得过于稠密，可行解数量减少甚至无解，算法需要进行大量尝试以验证解的存在性，导致运行时间再次上升。</a:t>
            </a:r>
            <a:endParaRPr lang="zh-CN" altLang="en-US" sz="1800" kern="100" dirty="0">
              <a:effectLst/>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4259580" y="205740"/>
            <a:ext cx="7512685" cy="4697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4310" y="199156"/>
            <a:ext cx="8190738" cy="721995"/>
          </a:xfrm>
          <a:prstGeom prst="rect">
            <a:avLst/>
          </a:prstGeom>
          <a:noFill/>
        </p:spPr>
        <p:txBody>
          <a:bodyPr wrap="square">
            <a:spAutoFit/>
          </a:bodyPr>
          <a:lstStyle/>
          <a:p>
            <a:pPr marR="0" lvl="0" algn="l">
              <a:lnSpc>
                <a:spcPts val="1560"/>
              </a:lnSpc>
              <a:spcBef>
                <a:spcPts val="0"/>
              </a:spcBef>
              <a:spcAft>
                <a:spcPts val="960"/>
              </a:spcAft>
            </a:pPr>
            <a:r>
              <a:rPr lang="en-US" altLang="zh-CN" sz="2000" b="1" i="0" spc="0" dirty="0">
                <a:effectLst/>
                <a:latin typeface="宋体" panose="02010600030101010101" pitchFamily="2" charset="-122"/>
                <a:ea typeface="宋体" panose="02010600030101010101" pitchFamily="2" charset="-122"/>
              </a:rPr>
              <a:t>3</a:t>
            </a:r>
            <a:r>
              <a:rPr lang="zh-CN" altLang="en-US" sz="2000" b="1" i="0" spc="0" dirty="0">
                <a:effectLst/>
                <a:latin typeface="宋体" panose="02010600030101010101" pitchFamily="2" charset="-122"/>
                <a:ea typeface="宋体" panose="02010600030101010101" pitchFamily="2" charset="-122"/>
              </a:rPr>
              <a:t>）</a:t>
            </a:r>
            <a:r>
              <a:rPr lang="zh-CN" altLang="en-US" sz="2000" b="1" i="0" spc="0" dirty="0">
                <a:effectLst/>
                <a:latin typeface="宋体" panose="02010600030101010101" pitchFamily="2" charset="-122"/>
                <a:ea typeface="宋体" panose="02010600030101010101" pitchFamily="2" charset="-122"/>
              </a:rPr>
              <a:t>颜色数对运行时间的影响：</a:t>
            </a:r>
            <a:endParaRPr lang="zh-CN" altLang="en-US" sz="2000" dirty="0">
              <a:effectLst/>
              <a:latin typeface="Times New Roman" panose="02020603050405020304" pitchFamily="18" charset="0"/>
            </a:endParaRPr>
          </a:p>
          <a:p>
            <a:pPr marL="0" marR="0" algn="just">
              <a:spcBef>
                <a:spcPts val="0"/>
              </a:spcBef>
              <a:spcAft>
                <a:spcPts val="0"/>
              </a:spcAft>
            </a:pPr>
            <a:endParaRPr lang="zh-CN" altLang="en-US" sz="2000" kern="100" dirty="0">
              <a:effectLst/>
              <a:latin typeface="Times New Roman" panose="02020603050405020304" pitchFamily="18" charset="0"/>
            </a:endParaRPr>
          </a:p>
        </p:txBody>
      </p:sp>
      <p:sp>
        <p:nvSpPr>
          <p:cNvPr id="8" name="文本框 7"/>
          <p:cNvSpPr txBox="1"/>
          <p:nvPr/>
        </p:nvSpPr>
        <p:spPr>
          <a:xfrm>
            <a:off x="354965" y="1346835"/>
            <a:ext cx="3452495" cy="1568450"/>
          </a:xfrm>
          <a:prstGeom prst="rect">
            <a:avLst/>
          </a:prstGeom>
          <a:noFill/>
        </p:spPr>
        <p:txBody>
          <a:bodyPr wrap="square">
            <a:spAutoFit/>
          </a:bodyPr>
          <a:lstStyle/>
          <a:p>
            <a:pPr marL="0" marR="0" indent="266700" algn="just">
              <a:spcBef>
                <a:spcPts val="0"/>
              </a:spcBef>
              <a:spcAft>
                <a:spcPts val="0"/>
              </a:spcAft>
            </a:pPr>
            <a:r>
              <a:rPr lang="zh-CN" altLang="en-US" sz="2400" kern="100" dirty="0">
                <a:solidFill>
                  <a:srgbClr val="FFFF00"/>
                </a:solidFill>
                <a:effectLst/>
                <a:latin typeface="宋体" panose="02010600030101010101" pitchFamily="2" charset="-122"/>
                <a:ea typeface="宋体" panose="02010600030101010101" pitchFamily="2" charset="-122"/>
              </a:rPr>
              <a:t>从上面的表格和曲线图可知：算法运行时间呈现出先下降、后略微上升、再下降的趋势。</a:t>
            </a:r>
            <a:endParaRPr lang="zh-CN" altLang="en-US" sz="2400" kern="100" dirty="0">
              <a:solidFill>
                <a:srgbClr val="FFFF00"/>
              </a:solidFill>
              <a:effectLst/>
              <a:latin typeface="宋体" panose="02010600030101010101" pitchFamily="2" charset="-122"/>
              <a:ea typeface="宋体" panose="02010600030101010101" pitchFamily="2" charset="-122"/>
            </a:endParaRPr>
          </a:p>
        </p:txBody>
      </p:sp>
      <p:sp>
        <p:nvSpPr>
          <p:cNvPr id="7" name="文本框 6"/>
          <p:cNvSpPr txBox="1"/>
          <p:nvPr/>
        </p:nvSpPr>
        <p:spPr>
          <a:xfrm>
            <a:off x="0" y="5056382"/>
            <a:ext cx="12060936" cy="1753235"/>
          </a:xfrm>
          <a:prstGeom prst="rect">
            <a:avLst/>
          </a:prstGeom>
          <a:noFill/>
        </p:spPr>
        <p:txBody>
          <a:bodyPr wrap="square">
            <a:spAutoFit/>
          </a:bodyPr>
          <a:lstStyle/>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分析原因：当颜色数较少时（如</a:t>
            </a:r>
            <a:r>
              <a:rPr lang="en-US" altLang="zh-CN" sz="1800" kern="100" dirty="0">
                <a:effectLst/>
                <a:latin typeface="宋体" panose="02010600030101010101" pitchFamily="2" charset="-122"/>
                <a:ea typeface="宋体" panose="02010600030101010101" pitchFamily="2" charset="-122"/>
              </a:rPr>
              <a:t>3</a:t>
            </a:r>
            <a:r>
              <a:rPr lang="zh-CN" altLang="en-US" sz="1800" kern="100" dirty="0">
                <a:effectLst/>
                <a:latin typeface="宋体" panose="02010600030101010101" pitchFamily="2" charset="-122"/>
                <a:ea typeface="宋体" panose="02010600030101010101" pitchFamily="2" charset="-122"/>
              </a:rPr>
              <a:t>色），由于约束较强，图难以满足着色条件，算法需要进行大量尝试，运行时间较长。</a:t>
            </a:r>
            <a:endParaRPr lang="zh-CN" altLang="en-US" sz="1800" kern="100" dirty="0">
              <a:effectLst/>
              <a:latin typeface="宋体" panose="02010600030101010101" pitchFamily="2" charset="-122"/>
              <a:ea typeface="宋体" panose="02010600030101010101" pitchFamily="2" charset="-122"/>
            </a:endParaRPr>
          </a:p>
          <a:p>
            <a:pPr marL="0" marR="0" indent="266700" algn="just">
              <a:spcBef>
                <a:spcPts val="0"/>
              </a:spcBef>
              <a:spcAft>
                <a:spcPts val="0"/>
              </a:spcAft>
            </a:pPr>
            <a:r>
              <a:rPr lang="en-US" altLang="zh-CN" sz="1800" kern="100" dirty="0">
                <a:effectLst/>
                <a:latin typeface="宋体" panose="02010600030101010101" pitchFamily="2" charset="-122"/>
                <a:ea typeface="宋体" panose="02010600030101010101" pitchFamily="2" charset="-122"/>
              </a:rPr>
              <a:t>	</a:t>
            </a:r>
            <a:r>
              <a:rPr lang="zh-CN" altLang="en-US" sz="1800" kern="100" dirty="0">
                <a:effectLst/>
                <a:latin typeface="宋体" panose="02010600030101010101" pitchFamily="2" charset="-122"/>
                <a:ea typeface="宋体" panose="02010600030101010101" pitchFamily="2" charset="-122"/>
              </a:rPr>
              <a:t>当颜色数增加到</a:t>
            </a:r>
            <a:r>
              <a:rPr lang="en-US" altLang="zh-CN" sz="1800" kern="100" dirty="0">
                <a:effectLst/>
                <a:latin typeface="宋体" panose="02010600030101010101" pitchFamily="2" charset="-122"/>
                <a:ea typeface="宋体" panose="02010600030101010101" pitchFamily="2" charset="-122"/>
              </a:rPr>
              <a:t>4</a:t>
            </a:r>
            <a:r>
              <a:rPr lang="zh-CN" altLang="en-US" sz="1800" kern="100" dirty="0">
                <a:effectLst/>
                <a:latin typeface="宋体" panose="02010600030101010101" pitchFamily="2" charset="-122"/>
                <a:ea typeface="宋体" panose="02010600030101010101" pitchFamily="2" charset="-122"/>
              </a:rPr>
              <a:t>时，问题变得更容易满足，算法能够较快找到可行解，运行时间下降。</a:t>
            </a:r>
            <a:endParaRPr lang="zh-CN" altLang="en-US" sz="1800" kern="100" dirty="0">
              <a:effectLst/>
              <a:latin typeface="宋体" panose="02010600030101010101" pitchFamily="2" charset="-122"/>
              <a:ea typeface="宋体" panose="02010600030101010101" pitchFamily="2" charset="-122"/>
            </a:endParaRPr>
          </a:p>
          <a:p>
            <a:pPr marL="0" marR="0" indent="266700" algn="just">
              <a:spcBef>
                <a:spcPts val="0"/>
              </a:spcBef>
              <a:spcAft>
                <a:spcPts val="0"/>
              </a:spcAft>
            </a:pPr>
            <a:r>
              <a:rPr lang="en-US" altLang="zh-CN" sz="1800" kern="100" dirty="0">
                <a:effectLst/>
                <a:latin typeface="宋体" panose="02010600030101010101" pitchFamily="2" charset="-122"/>
                <a:ea typeface="宋体" panose="02010600030101010101" pitchFamily="2" charset="-122"/>
              </a:rPr>
              <a:t>	</a:t>
            </a:r>
            <a:r>
              <a:rPr lang="zh-CN" altLang="en-US" sz="1800" kern="100" dirty="0">
                <a:effectLst/>
                <a:latin typeface="宋体" panose="02010600030101010101" pitchFamily="2" charset="-122"/>
                <a:ea typeface="宋体" panose="02010600030101010101" pitchFamily="2" charset="-122"/>
              </a:rPr>
              <a:t>随着颜色数进一步增加（</a:t>
            </a:r>
            <a:r>
              <a:rPr lang="en-US" altLang="zh-CN" sz="1800" kern="100" dirty="0">
                <a:effectLst/>
                <a:latin typeface="宋体" panose="02010600030101010101" pitchFamily="2" charset="-122"/>
                <a:ea typeface="宋体" panose="02010600030101010101" pitchFamily="2" charset="-122"/>
              </a:rPr>
              <a:t>5~7</a:t>
            </a:r>
            <a:r>
              <a:rPr lang="zh-CN" altLang="en-US" sz="1800" kern="100" dirty="0">
                <a:effectLst/>
                <a:latin typeface="宋体" panose="02010600030101010101" pitchFamily="2" charset="-122"/>
                <a:ea typeface="宋体" panose="02010600030101010101" pitchFamily="2" charset="-122"/>
              </a:rPr>
              <a:t>），虽然问题更容易满足，但每个顶点的可选颜色数增加，搜索分支增多，导致运行时间略有上升。当颜色数较多时（如</a:t>
            </a:r>
            <a:r>
              <a:rPr lang="en-US" altLang="zh-CN" sz="1800" kern="100" dirty="0">
                <a:effectLst/>
                <a:latin typeface="宋体" panose="02010600030101010101" pitchFamily="2" charset="-122"/>
                <a:ea typeface="宋体" panose="02010600030101010101" pitchFamily="2" charset="-122"/>
              </a:rPr>
              <a:t>8</a:t>
            </a:r>
            <a:r>
              <a:rPr lang="zh-CN" altLang="en-US" sz="1800" kern="100" dirty="0">
                <a:effectLst/>
                <a:latin typeface="宋体" panose="02010600030101010101" pitchFamily="2" charset="-122"/>
                <a:ea typeface="宋体" panose="02010600030101010101" pitchFamily="2" charset="-122"/>
              </a:rPr>
              <a:t>色），约束显著减弱，冲突概率降低，算法几乎无需回溯即可完成着色，因此运行时间再次下降。</a:t>
            </a:r>
            <a:endParaRPr lang="zh-CN" altLang="en-US" sz="1800" kern="100" dirty="0">
              <a:effectLst/>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4552315" y="199390"/>
            <a:ext cx="6917055" cy="43249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光点"/>
          <p:cNvPicPr>
            <a:picLocks noChangeAspect="1"/>
          </p:cNvPicPr>
          <p:nvPr/>
        </p:nvPicPr>
        <p:blipFill rotWithShape="1">
          <a:blip r:embed="rId1">
            <a:alphaModFix amt="20000"/>
          </a:blip>
          <a:srcRect/>
          <a:stretch>
            <a:fillRect/>
          </a:stretch>
        </p:blipFill>
        <p:spPr>
          <a:xfrm>
            <a:off x="20" y="10"/>
            <a:ext cx="12191980" cy="6857990"/>
          </a:xfrm>
          <a:prstGeom prst="rect">
            <a:avLst/>
          </a:prstGeom>
        </p:spPr>
      </p:pic>
      <p:sp>
        <p:nvSpPr>
          <p:cNvPr id="2" name="标题 1"/>
          <p:cNvSpPr>
            <a:spLocks noGrp="1"/>
          </p:cNvSpPr>
          <p:nvPr>
            <p:ph type="ctrTitle"/>
          </p:nvPr>
        </p:nvSpPr>
        <p:spPr>
          <a:xfrm>
            <a:off x="3108958" y="1572446"/>
            <a:ext cx="4786685" cy="2099144"/>
          </a:xfrm>
        </p:spPr>
        <p:txBody>
          <a:bodyPr rtlCol="0">
            <a:normAutofit/>
          </a:bodyPr>
          <a:lstStyle/>
          <a:p>
            <a:pPr rtl="0"/>
            <a:r>
              <a:rPr lang="zh-CN" altLang="en-US" sz="9600" dirty="0">
                <a:latin typeface="Microsoft YaHei UI" panose="020B0503020204020204" pitchFamily="34" charset="-122"/>
                <a:ea typeface="Microsoft YaHei UI" panose="020B0503020204020204" pitchFamily="34" charset="-122"/>
              </a:rPr>
              <a:t>谢谢！</a:t>
            </a:r>
            <a:endParaRPr lang="zh-CN" altLang="en-US" sz="9600" dirty="0">
              <a:latin typeface="Microsoft YaHei UI" panose="020B0503020204020204" pitchFamily="34" charset="-122"/>
              <a:ea typeface="Microsoft YaHei UI" panose="020B0503020204020204" pitchFamily="34" charset="-122"/>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天体">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8D3305-1D9D-4BC8-A40F-6F8AE50BD76B}">
  <ds:schemaRefs/>
</ds:datastoreItem>
</file>

<file path=customXml/itemProps2.xml><?xml version="1.0" encoding="utf-8"?>
<ds:datastoreItem xmlns:ds="http://schemas.openxmlformats.org/officeDocument/2006/customXml" ds:itemID="{1F08B90B-70ED-4539-9C14-FB2728D9064F}">
  <ds:schemaRefs/>
</ds:datastoreItem>
</file>

<file path=customXml/itemProps3.xml><?xml version="1.0" encoding="utf-8"?>
<ds:datastoreItem xmlns:ds="http://schemas.openxmlformats.org/officeDocument/2006/customXml" ds:itemID="{A0D51BCB-0419-432E-B7F1-25548446A625}">
  <ds:schemaRefs/>
</ds:datastoreItem>
</file>

<file path=docProps/app.xml><?xml version="1.0" encoding="utf-8"?>
<Properties xmlns="http://schemas.openxmlformats.org/officeDocument/2006/extended-properties" xmlns:vt="http://schemas.openxmlformats.org/officeDocument/2006/docPropsVTypes">
  <Template>未来设计</Template>
  <TotalTime>0</TotalTime>
  <Words>1962</Words>
  <Application>WPS 演示</Application>
  <PresentationFormat>宽屏</PresentationFormat>
  <Paragraphs>83</Paragraphs>
  <Slides>13</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宋体</vt:lpstr>
      <vt:lpstr>Wingdings</vt:lpstr>
      <vt:lpstr>Microsoft YaHei UI</vt:lpstr>
      <vt:lpstr>Arial</vt:lpstr>
      <vt:lpstr>微软雅黑</vt:lpstr>
      <vt:lpstr>Times New Roman</vt:lpstr>
      <vt:lpstr>Consolas</vt:lpstr>
      <vt:lpstr>Arial Unicode MS</vt:lpstr>
      <vt:lpstr>Calibri</vt:lpstr>
      <vt:lpstr>天体</vt:lpstr>
      <vt:lpstr>算法设计与分析实验三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算法设计与分析实验一</dc:title>
  <dc:creator>欧阳 宇杰</dc:creator>
  <cp:lastModifiedBy>生活不易靠演技</cp:lastModifiedBy>
  <cp:revision>141</cp:revision>
  <dcterms:created xsi:type="dcterms:W3CDTF">2023-03-03T08:45:00Z</dcterms:created>
  <dcterms:modified xsi:type="dcterms:W3CDTF">2026-05-08T11:52:56Z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2052-12.1.0.25225</vt:lpwstr>
  </property>
  <property fmtid="{D5CDD505-2E9C-101B-9397-08002B2CF9AE}" pid="4" name="ICV">
    <vt:lpwstr>07EDF52FCACE4861B90B7923C7C07CB2_13</vt:lpwstr>
  </property>
</Properties>
</file>