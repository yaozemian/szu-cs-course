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8" r:id="rId13"/>
    <p:sldId id="269" r:id="rId14"/>
    <p:sldId id="270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2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1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8150" y="1606153"/>
            <a:ext cx="2952750" cy="959644"/>
          </a:xfrm>
          <a:prstGeom prst="rect">
            <a:avLst/>
          </a:prstGeom>
        </p:spPr>
      </p:pic>
      <p:sp>
        <p:nvSpPr>
          <p:cNvPr id="2" name="椭圆 1"/>
          <p:cNvSpPr>
            <a:spLocks noGrp="1"/>
          </p:cNvSpPr>
          <p:nvPr/>
        </p:nvSpPr>
        <p:spPr>
          <a:xfrm>
            <a:off x="7429500" y="2724150"/>
            <a:ext cx="3429000" cy="2286000"/>
          </a:xfrm>
          <a:prstGeom prst="ellipse">
            <a:avLst/>
          </a:prstGeom>
          <a:solidFill>
            <a:srgbClr val="1C6E48"/>
          </a:solidFill>
          <a:ln w="38100">
            <a:solidFill>
              <a:srgbClr val="C6D5C9"/>
            </a:solidFill>
            <a:prstDash val="solid"/>
          </a:ln>
        </p:spPr>
      </p:sp>
      <p:sp>
        <p:nvSpPr>
          <p:cNvPr id="3" name="菱形 2"/>
          <p:cNvSpPr>
            <a:spLocks noGrp="1"/>
          </p:cNvSpPr>
          <p:nvPr/>
        </p:nvSpPr>
        <p:spPr>
          <a:xfrm>
            <a:off x="8355330" y="3227070"/>
            <a:ext cx="1577340" cy="1280160"/>
          </a:xfrm>
          <a:prstGeom prst="diamond">
            <a:avLst/>
          </a:prstGeom>
          <a:solidFill>
            <a:srgbClr val="B66A3D"/>
          </a:solidFill>
          <a:ln w="28575">
            <a:solidFill>
              <a:srgbClr val="E9D6BA"/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9041130" y="3775710"/>
            <a:ext cx="209550" cy="209550"/>
          </a:xfrm>
          <a:prstGeom prst="ellipse">
            <a:avLst/>
          </a:prstGeom>
          <a:solidFill>
            <a:srgbClr val="F5F0DE"/>
          </a:solidFill>
          <a:ln w="0">
            <a:noFill/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628650" y="685800"/>
            <a:ext cx="2190750" cy="342900"/>
          </a:xfrm>
          <a:prstGeom prst="roundRect">
            <a:avLst>
              <a:gd name="adj" fmla="val 33333"/>
            </a:avLst>
          </a:prstGeom>
          <a:solidFill>
            <a:srgbClr val="2F8F63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762000" y="752475"/>
            <a:ext cx="1924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Baseball Elimination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466850"/>
            <a:ext cx="7239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最大流应用：棒球比赛淘汰问题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47700" y="2781300"/>
            <a:ext cx="685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0">
                <a:solidFill>
                  <a:srgbClr val="D8E7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D8E7E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把“还有没有夺冠可能”转化为一次可视化的流网络判定</a:t>
            </a:r>
            <a:endParaRPr sz="1800" b="0">
              <a:solidFill>
                <a:srgbClr val="D8E7E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47700" y="5562600"/>
            <a:ext cx="4191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B9C8C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B9C8C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2024150026  姚泽棉</a:t>
            </a:r>
            <a:endParaRPr sz="1500" b="1">
              <a:solidFill>
                <a:srgbClr val="B9C8C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76E3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C9D5DD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实验6 · 最大流应用</a:t>
            </a:r>
            <a:endParaRPr sz="975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5334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这道题到底在问什么？</a:t>
            </a:r>
            <a:endParaRPr sz="30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104900"/>
            <a:ext cx="742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不是预测谁会赢，而是判断是否还存在一种赛程结果。</a:t>
            </a:r>
            <a:endParaRPr sz="1425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179070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球队</a:t>
            </a:r>
            <a:endParaRPr sz="1275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171700" y="17907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胜场</a:t>
            </a:r>
            <a:endParaRPr sz="1275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876550" y="1790700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剩余</a:t>
            </a:r>
            <a:endParaRPr sz="1275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581400" y="17907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理论最高</a:t>
            </a:r>
            <a:endParaRPr sz="1275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09600" y="2152650"/>
            <a:ext cx="40386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42950" y="22288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Atlanta</a:t>
            </a:r>
            <a:endParaRPr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171700" y="22288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83</a:t>
            </a:r>
            <a:endParaRPr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876550" y="22288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581400" y="22288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91</a:t>
            </a:r>
            <a:endParaRPr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09600" y="2609850"/>
            <a:ext cx="4038600" cy="361950"/>
          </a:xfrm>
          <a:prstGeom prst="rect">
            <a:avLst/>
          </a:prstGeom>
          <a:solidFill>
            <a:srgbClr val="F1F6F2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742950" y="26860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Philadelphia</a:t>
            </a:r>
            <a:endParaRPr sz="127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171700" y="26860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</a:t>
            </a:r>
            <a:endParaRPr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876550" y="26860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3581400" y="26860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83</a:t>
            </a:r>
            <a:endParaRPr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3067050"/>
            <a:ext cx="4038600" cy="361950"/>
          </a:xfrm>
          <a:prstGeom prst="rect">
            <a:avLst/>
          </a:prstGeom>
          <a:solidFill>
            <a:srgbClr val="FFFFFF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742950" y="31432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New_York</a:t>
            </a:r>
            <a:endParaRPr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2171700" y="31432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78</a:t>
            </a:r>
            <a:endParaRPr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2876550" y="31432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3581400" y="31432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84</a:t>
            </a:r>
            <a:endParaRPr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3524250"/>
            <a:ext cx="4038600" cy="361950"/>
          </a:xfrm>
          <a:prstGeom prst="rect">
            <a:avLst/>
          </a:prstGeom>
          <a:solidFill>
            <a:srgbClr val="F1F6F2"/>
          </a:solidFill>
          <a:ln w="9525">
            <a:solidFill>
              <a:srgbClr val="DDE7E2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742950" y="3600450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Montreal</a:t>
            </a:r>
            <a:endParaRPr sz="127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2171700" y="36004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77</a:t>
            </a:r>
            <a:endParaRPr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876550" y="3600450"/>
            <a:ext cx="666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75" b="0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3581400" y="36004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D8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D8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</a:t>
            </a:r>
            <a:endParaRPr sz="1275" b="1">
              <a:solidFill>
                <a:srgbClr val="D84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5314950" y="1771650"/>
            <a:ext cx="76200" cy="914400"/>
          </a:xfrm>
          <a:prstGeom prst="rect">
            <a:avLst/>
          </a:prstGeom>
          <a:solidFill>
            <a:srgbClr val="2F8F63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5543550" y="1771650"/>
            <a:ext cx="4724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目标球队 x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5543550" y="2171700"/>
            <a:ext cx="4724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先假设它剩余比赛全胜，再看其他球队能否被安排得不超过它。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5314950" y="3105150"/>
            <a:ext cx="76200" cy="914400"/>
          </a:xfrm>
          <a:prstGeom prst="rect">
            <a:avLst/>
          </a:prstGeom>
          <a:solidFill>
            <a:srgbClr val="C76E3A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5543550" y="3105150"/>
            <a:ext cx="4724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淘汰的本质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5543550" y="3505200"/>
            <a:ext cx="4724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如果任何安排都会让某些球队胜场超过 x，那么 x 已经被数学上淘汰。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6172200" y="4743450"/>
            <a:ext cx="4095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55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Wmax = w[x] + r[x]</a:t>
            </a:r>
            <a:endParaRPr sz="2550" b="1">
              <a:solidFill>
                <a:srgbClr val="326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191250" y="5238750"/>
            <a:ext cx="4000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核心变量只有一个：目标队理论最高胜场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F8F63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C9D5DD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实验6 · 最大流应用</a:t>
            </a:r>
            <a:endParaRPr sz="975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5334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先排除最直观的淘汰</a:t>
            </a:r>
            <a:endParaRPr sz="30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104900"/>
            <a:ext cx="742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Montreal 即使全胜也只有 80 胜，而 Atlanta 已经 83 胜。</a:t>
            </a:r>
            <a:endParaRPr sz="1425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238250" y="2266950"/>
            <a:ext cx="1428750" cy="876300"/>
          </a:xfrm>
          <a:prstGeom prst="roundRect">
            <a:avLst>
              <a:gd name="adj" fmla="val 13043"/>
            </a:avLst>
          </a:prstGeom>
          <a:solidFill>
            <a:srgbClr val="E8F5EE"/>
          </a:solidFill>
          <a:ln w="19050">
            <a:solidFill>
              <a:srgbClr val="2F8F63"/>
            </a:solidFill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Atlanta</a:t>
            </a:r>
            <a:endParaRPr sz="16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83 胜</a:t>
            </a:r>
            <a:endParaRPr sz="16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4305300" y="2266950"/>
            <a:ext cx="1619250" cy="876300"/>
          </a:xfrm>
          <a:prstGeom prst="roundRect">
            <a:avLst>
              <a:gd name="adj" fmla="val 13043"/>
            </a:avLst>
          </a:prstGeom>
          <a:solidFill>
            <a:srgbClr val="FCEEEE"/>
          </a:solidFill>
          <a:ln w="19050">
            <a:solidFill>
              <a:srgbClr val="D84A4A"/>
            </a:solidFill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Montreal</a:t>
            </a:r>
            <a:endParaRPr sz="16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最高 80 胜</a:t>
            </a:r>
            <a:endParaRPr sz="16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右箭头 9"/>
          <p:cNvSpPr>
            <a:spLocks noGrp="1"/>
          </p:cNvSpPr>
          <p:nvPr/>
        </p:nvSpPr>
        <p:spPr>
          <a:xfrm>
            <a:off x="2895600" y="2505075"/>
            <a:ext cx="1104900" cy="400050"/>
          </a:xfrm>
          <a:prstGeom prst="rightArrow">
            <a:avLst/>
          </a:prstGeom>
          <a:solidFill>
            <a:srgbClr val="D84A4A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3019425" y="304800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D8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8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83 &gt; 80</a:t>
            </a:r>
            <a:endParaRPr sz="1800" b="1">
              <a:solidFill>
                <a:srgbClr val="D84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2133600" y="3790950"/>
            <a:ext cx="323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当前已超过目标队理论上限</a:t>
            </a:r>
            <a:endParaRPr sz="17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381250" y="4305300"/>
            <a:ext cx="2667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不需要最大流，直接淘汰</a:t>
            </a:r>
            <a:endParaRPr sz="150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858000" y="2133600"/>
            <a:ext cx="76200" cy="914400"/>
          </a:xfrm>
          <a:prstGeom prst="rect">
            <a:avLst/>
          </a:prstGeom>
          <a:solidFill>
            <a:srgbClr val="D84A4A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086600" y="2133600"/>
            <a:ext cx="3771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平凡淘汰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7086600" y="2533650"/>
            <a:ext cx="37719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存在某队当前胜场已经大于 Wmax，就不需要建最大流网络。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58000" y="352425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Montreal: 77 + 3 = 80</a:t>
            </a:r>
            <a:endParaRPr sz="21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858000" y="405765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D8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D8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Atlanta: 83 &gt; 80</a:t>
            </a:r>
            <a:endParaRPr sz="2100" b="1">
              <a:solidFill>
                <a:srgbClr val="D84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76E3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C9D5DD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实验6 · 最大流应用</a:t>
            </a:r>
            <a:endParaRPr sz="975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5334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非平凡情况：用流网络表达赛程</a:t>
            </a:r>
            <a:endParaRPr sz="30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104900"/>
            <a:ext cx="742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剩余比赛必须分配胜者，每支其他球队又不能超过目标队。</a:t>
            </a:r>
            <a:endParaRPr sz="1425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666750" y="2861310"/>
            <a:ext cx="521208" cy="521208"/>
          </a:xfrm>
          <a:prstGeom prst="ellipse">
            <a:avLst/>
          </a:prstGeom>
          <a:solidFill>
            <a:srgbClr val="FCEFE8"/>
          </a:solidFill>
          <a:ln w="19050">
            <a:solidFill>
              <a:srgbClr val="C76E3A"/>
            </a:solidFill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16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175510" y="1832610"/>
            <a:ext cx="768096" cy="480060"/>
          </a:xfrm>
          <a:prstGeom prst="roundRect">
            <a:avLst>
              <a:gd name="adj" fmla="val 23810"/>
            </a:avLst>
          </a:prstGeom>
          <a:solidFill>
            <a:srgbClr val="EDF7EE"/>
          </a:solidFill>
          <a:ln w="19050">
            <a:solidFill>
              <a:srgbClr val="2F8F63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比赛</a:t>
            </a:r>
            <a:endParaRPr sz="12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(i,j)</a:t>
            </a:r>
            <a:endParaRPr sz="12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175510" y="2861310"/>
            <a:ext cx="768096" cy="480060"/>
          </a:xfrm>
          <a:prstGeom prst="roundRect">
            <a:avLst>
              <a:gd name="adj" fmla="val 23810"/>
            </a:avLst>
          </a:prstGeom>
          <a:solidFill>
            <a:srgbClr val="EDF7EE"/>
          </a:solidFill>
          <a:ln w="19050">
            <a:solidFill>
              <a:srgbClr val="2F8F63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比赛</a:t>
            </a:r>
            <a:endParaRPr sz="12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(i,k)</a:t>
            </a:r>
            <a:endParaRPr sz="12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175510" y="3890010"/>
            <a:ext cx="768096" cy="480060"/>
          </a:xfrm>
          <a:prstGeom prst="roundRect">
            <a:avLst>
              <a:gd name="adj" fmla="val 23810"/>
            </a:avLst>
          </a:prstGeom>
          <a:solidFill>
            <a:srgbClr val="EDF7EE"/>
          </a:solidFill>
          <a:ln w="19050">
            <a:solidFill>
              <a:srgbClr val="2F8F63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比赛</a:t>
            </a:r>
            <a:endParaRPr sz="12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(j,k)</a:t>
            </a:r>
            <a:endParaRPr sz="12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4232910" y="1832610"/>
            <a:ext cx="768096" cy="480060"/>
          </a:xfrm>
          <a:prstGeom prst="roundRect">
            <a:avLst>
              <a:gd name="adj" fmla="val 23810"/>
            </a:avLst>
          </a:prstGeom>
          <a:solidFill>
            <a:srgbClr val="F0F5FF"/>
          </a:solidFill>
          <a:ln w="19050">
            <a:solidFill>
              <a:srgbClr val="3266C6"/>
            </a:solidFill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球队 i</a:t>
            </a:r>
            <a:endParaRPr sz="127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4232910" y="2861310"/>
            <a:ext cx="768096" cy="480060"/>
          </a:xfrm>
          <a:prstGeom prst="roundRect">
            <a:avLst>
              <a:gd name="adj" fmla="val 23810"/>
            </a:avLst>
          </a:prstGeom>
          <a:solidFill>
            <a:srgbClr val="F0F5FF"/>
          </a:solidFill>
          <a:ln w="19050">
            <a:solidFill>
              <a:srgbClr val="3266C6"/>
            </a:solidFill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球队 j</a:t>
            </a:r>
            <a:endParaRPr sz="127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4232910" y="3890010"/>
            <a:ext cx="768096" cy="480060"/>
          </a:xfrm>
          <a:prstGeom prst="roundRect">
            <a:avLst>
              <a:gd name="adj" fmla="val 23810"/>
            </a:avLst>
          </a:prstGeom>
          <a:solidFill>
            <a:srgbClr val="F0F5FF"/>
          </a:solidFill>
          <a:ln w="19050">
            <a:solidFill>
              <a:srgbClr val="3266C6"/>
            </a:solidFill>
            <a:prstDash val="solid"/>
          </a:ln>
        </p:spPr>
        <p:txBody>
          <a:bodyPr/>
          <a:lstStyle/>
          <a:p>
            <a:pPr algn="ctr">
              <a:buNone/>
              <a:defRPr sz="12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球队 k</a:t>
            </a:r>
            <a:endParaRPr sz="127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5947410" y="2861310"/>
            <a:ext cx="521208" cy="521208"/>
          </a:xfrm>
          <a:prstGeom prst="ellipse">
            <a:avLst/>
          </a:prstGeom>
          <a:solidFill>
            <a:srgbClr val="FCEFE8"/>
          </a:solidFill>
          <a:ln w="19050">
            <a:solidFill>
              <a:srgbClr val="C76E3A"/>
            </a:solidFill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endParaRPr sz="16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9" name="直接箭头连接符 57"/>
          <p:cNvCxnSpPr>
            <a:stCxn id="7" idx="6"/>
            <a:endCxn id="8" idx="1"/>
          </p:cNvCxnSpPr>
          <p:nvPr/>
        </p:nvCxnSpPr>
        <p:spPr>
          <a:xfrm flipV="1">
            <a:off x="1187958" y="2072640"/>
            <a:ext cx="987552" cy="1049274"/>
          </a:xfrm>
          <a:prstGeom prst="straightConnector1">
            <a:avLst/>
          </a:prstGeom>
          <a:ln w="19050">
            <a:solidFill>
              <a:srgbClr val="C76E3A"/>
            </a:solidFill>
            <a:prstDash val="solid"/>
            <a:tailEnd type="triangle" w="sm" len="sm"/>
          </a:ln>
        </p:spPr>
      </p:cxnSp>
      <p:sp>
        <p:nvSpPr>
          <p:cNvPr id="16" name="矩形 15"/>
          <p:cNvSpPr>
            <a:spLocks noGrp="1"/>
          </p:cNvSpPr>
          <p:nvPr/>
        </p:nvSpPr>
        <p:spPr>
          <a:xfrm>
            <a:off x="1352550" y="2148078"/>
            <a:ext cx="50749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g[i][j]</a:t>
            </a:r>
            <a:endParaRPr sz="1200" b="1">
              <a:solidFill>
                <a:srgbClr val="C76E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1" name="直接箭头连接符 59"/>
          <p:cNvCxnSpPr>
            <a:stCxn id="7" idx="6"/>
            <a:endCxn id="9" idx="1"/>
          </p:cNvCxnSpPr>
          <p:nvPr/>
        </p:nvCxnSpPr>
        <p:spPr>
          <a:xfrm flipV="1">
            <a:off x="1187958" y="3101340"/>
            <a:ext cx="987552" cy="20574"/>
          </a:xfrm>
          <a:prstGeom prst="straightConnector1">
            <a:avLst/>
          </a:prstGeom>
          <a:ln w="19050">
            <a:solidFill>
              <a:srgbClr val="C76E3A"/>
            </a:solidFill>
            <a:prstDash val="solid"/>
            <a:tailEnd type="triangle" w="sm" len="sm"/>
          </a:ln>
        </p:spPr>
      </p:cxnSp>
      <p:sp>
        <p:nvSpPr>
          <p:cNvPr id="18" name="矩形 17"/>
          <p:cNvSpPr>
            <a:spLocks noGrp="1"/>
          </p:cNvSpPr>
          <p:nvPr/>
        </p:nvSpPr>
        <p:spPr>
          <a:xfrm>
            <a:off x="1352550" y="3176778"/>
            <a:ext cx="50749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g[i][k]</a:t>
            </a:r>
            <a:endParaRPr sz="1200" b="1">
              <a:solidFill>
                <a:srgbClr val="C76E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3" name="直接箭头连接符 61"/>
          <p:cNvCxnSpPr>
            <a:stCxn id="7" idx="6"/>
            <a:endCxn id="10" idx="1"/>
          </p:cNvCxnSpPr>
          <p:nvPr/>
        </p:nvCxnSpPr>
        <p:spPr>
          <a:xfrm>
            <a:off x="1187958" y="3121914"/>
            <a:ext cx="987552" cy="1008126"/>
          </a:xfrm>
          <a:prstGeom prst="straightConnector1">
            <a:avLst/>
          </a:prstGeom>
          <a:ln w="19050">
            <a:solidFill>
              <a:srgbClr val="C76E3A"/>
            </a:solidFill>
            <a:prstDash val="solid"/>
            <a:tailEnd type="triangle" w="sm" len="sm"/>
          </a:ln>
        </p:spPr>
      </p:cxnSp>
      <p:sp>
        <p:nvSpPr>
          <p:cNvPr id="20" name="矩形 19"/>
          <p:cNvSpPr>
            <a:spLocks noGrp="1"/>
          </p:cNvSpPr>
          <p:nvPr/>
        </p:nvSpPr>
        <p:spPr>
          <a:xfrm>
            <a:off x="1352550" y="4205478"/>
            <a:ext cx="507492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g[j][k]</a:t>
            </a:r>
            <a:endParaRPr sz="1200" b="1">
              <a:solidFill>
                <a:srgbClr val="C76E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5" name="直接箭头连接符 63"/>
          <p:cNvCxnSpPr>
            <a:stCxn id="8" idx="3"/>
            <a:endCxn id="11" idx="1"/>
          </p:cNvCxnSpPr>
          <p:nvPr/>
        </p:nvCxnSpPr>
        <p:spPr>
          <a:xfrm>
            <a:off x="2943606" y="2072640"/>
            <a:ext cx="1289304" cy="0"/>
          </a:xfrm>
          <a:prstGeom prst="straightConnector1">
            <a:avLst/>
          </a:prstGeom>
          <a:ln w="19050">
            <a:solidFill>
              <a:srgbClr val="2F8F63"/>
            </a:solidFill>
            <a:prstDash val="solid"/>
            <a:tailEnd type="triangle" w="sm" len="sm"/>
          </a:ln>
        </p:spPr>
      </p:cxnSp>
      <p:cxnSp>
        <p:nvCxnSpPr>
          <p:cNvPr id="96" name="直接箭头连接符 64"/>
          <p:cNvCxnSpPr>
            <a:stCxn id="8" idx="3"/>
            <a:endCxn id="12" idx="1"/>
          </p:cNvCxnSpPr>
          <p:nvPr/>
        </p:nvCxnSpPr>
        <p:spPr>
          <a:xfrm>
            <a:off x="2943606" y="2072640"/>
            <a:ext cx="1289304" cy="1028700"/>
          </a:xfrm>
          <a:prstGeom prst="straightConnector1">
            <a:avLst/>
          </a:prstGeom>
          <a:ln w="19050">
            <a:solidFill>
              <a:srgbClr val="2F8F63"/>
            </a:solidFill>
            <a:prstDash val="dash"/>
            <a:tailEnd type="triangle" w="sm" len="sm"/>
          </a:ln>
        </p:spPr>
      </p:cxnSp>
      <p:cxnSp>
        <p:nvCxnSpPr>
          <p:cNvPr id="97" name="直接箭头连接符 65"/>
          <p:cNvCxnSpPr>
            <a:stCxn id="9" idx="3"/>
            <a:endCxn id="11" idx="1"/>
          </p:cNvCxnSpPr>
          <p:nvPr/>
        </p:nvCxnSpPr>
        <p:spPr>
          <a:xfrm flipV="1">
            <a:off x="2943606" y="2072640"/>
            <a:ext cx="1289304" cy="1028700"/>
          </a:xfrm>
          <a:prstGeom prst="straightConnector1">
            <a:avLst/>
          </a:prstGeom>
          <a:ln w="19050">
            <a:solidFill>
              <a:srgbClr val="2F8F63"/>
            </a:solidFill>
            <a:prstDash val="dash"/>
            <a:tailEnd type="triangle" w="sm" len="sm"/>
          </a:ln>
        </p:spPr>
      </p:cxnSp>
      <p:cxnSp>
        <p:nvCxnSpPr>
          <p:cNvPr id="98" name="直接箭头连接符 66"/>
          <p:cNvCxnSpPr>
            <a:stCxn id="9" idx="3"/>
            <a:endCxn id="12" idx="1"/>
          </p:cNvCxnSpPr>
          <p:nvPr/>
        </p:nvCxnSpPr>
        <p:spPr>
          <a:xfrm>
            <a:off x="2943606" y="3101340"/>
            <a:ext cx="1289304" cy="0"/>
          </a:xfrm>
          <a:prstGeom prst="straightConnector1">
            <a:avLst/>
          </a:prstGeom>
          <a:ln w="19050">
            <a:solidFill>
              <a:srgbClr val="2F8F63"/>
            </a:solidFill>
            <a:prstDash val="solid"/>
            <a:tailEnd type="triangle" w="sm" len="sm"/>
          </a:ln>
        </p:spPr>
      </p:cxnSp>
      <p:cxnSp>
        <p:nvCxnSpPr>
          <p:cNvPr id="99" name="直接箭头连接符 67"/>
          <p:cNvCxnSpPr>
            <a:stCxn id="10" idx="3"/>
            <a:endCxn id="12" idx="1"/>
          </p:cNvCxnSpPr>
          <p:nvPr/>
        </p:nvCxnSpPr>
        <p:spPr>
          <a:xfrm flipV="1">
            <a:off x="2943606" y="3101340"/>
            <a:ext cx="1289304" cy="1028700"/>
          </a:xfrm>
          <a:prstGeom prst="straightConnector1">
            <a:avLst/>
          </a:prstGeom>
          <a:ln w="19050">
            <a:solidFill>
              <a:srgbClr val="2F8F63"/>
            </a:solidFill>
            <a:prstDash val="dash"/>
            <a:tailEnd type="triangle" w="sm" len="sm"/>
          </a:ln>
        </p:spPr>
      </p:cxnSp>
      <p:cxnSp>
        <p:nvCxnSpPr>
          <p:cNvPr id="100" name="直接箭头连接符 68"/>
          <p:cNvCxnSpPr>
            <a:stCxn id="10" idx="3"/>
            <a:endCxn id="13" idx="1"/>
          </p:cNvCxnSpPr>
          <p:nvPr/>
        </p:nvCxnSpPr>
        <p:spPr>
          <a:xfrm>
            <a:off x="2943606" y="4130040"/>
            <a:ext cx="1289304" cy="0"/>
          </a:xfrm>
          <a:prstGeom prst="straightConnector1">
            <a:avLst/>
          </a:prstGeom>
          <a:ln w="19050">
            <a:solidFill>
              <a:srgbClr val="2F8F63"/>
            </a:solidFill>
            <a:prstDash val="solid"/>
            <a:tailEnd type="triangle" w="sm" len="sm"/>
          </a:ln>
        </p:spPr>
      </p:cxnSp>
      <p:cxnSp>
        <p:nvCxnSpPr>
          <p:cNvPr id="101" name="直接箭头连接符 69"/>
          <p:cNvCxnSpPr>
            <a:stCxn id="11" idx="3"/>
            <a:endCxn id="14" idx="2"/>
          </p:cNvCxnSpPr>
          <p:nvPr/>
        </p:nvCxnSpPr>
        <p:spPr>
          <a:xfrm>
            <a:off x="5001006" y="2072640"/>
            <a:ext cx="946404" cy="1049274"/>
          </a:xfrm>
          <a:prstGeom prst="straightConnector1">
            <a:avLst/>
          </a:prstGeom>
          <a:ln w="19050">
            <a:solidFill>
              <a:srgbClr val="3266C6"/>
            </a:solidFill>
            <a:prstDash val="solid"/>
            <a:tailEnd type="triangle" w="sm" len="sm"/>
          </a:ln>
        </p:spPr>
      </p:cxnSp>
      <p:sp>
        <p:nvSpPr>
          <p:cNvPr id="28" name="矩形 27"/>
          <p:cNvSpPr>
            <a:spLocks noGrp="1"/>
          </p:cNvSpPr>
          <p:nvPr/>
        </p:nvSpPr>
        <p:spPr>
          <a:xfrm>
            <a:off x="5055870" y="2148078"/>
            <a:ext cx="7543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Wmax-w1</a:t>
            </a:r>
            <a:endParaRPr sz="1200" b="1">
              <a:solidFill>
                <a:srgbClr val="326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3" name="直接箭头连接符 71"/>
          <p:cNvCxnSpPr>
            <a:stCxn id="12" idx="3"/>
            <a:endCxn id="14" idx="2"/>
          </p:cNvCxnSpPr>
          <p:nvPr/>
        </p:nvCxnSpPr>
        <p:spPr>
          <a:xfrm>
            <a:off x="5001006" y="3101340"/>
            <a:ext cx="946404" cy="20574"/>
          </a:xfrm>
          <a:prstGeom prst="straightConnector1">
            <a:avLst/>
          </a:prstGeom>
          <a:ln w="19050">
            <a:solidFill>
              <a:srgbClr val="3266C6"/>
            </a:solidFill>
            <a:prstDash val="solid"/>
            <a:tailEnd type="triangle" w="sm" len="sm"/>
          </a:ln>
        </p:spPr>
      </p:cxnSp>
      <p:sp>
        <p:nvSpPr>
          <p:cNvPr id="30" name="矩形 29"/>
          <p:cNvSpPr>
            <a:spLocks noGrp="1"/>
          </p:cNvSpPr>
          <p:nvPr/>
        </p:nvSpPr>
        <p:spPr>
          <a:xfrm>
            <a:off x="5055870" y="3176778"/>
            <a:ext cx="7543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Wmax-w2</a:t>
            </a:r>
            <a:endParaRPr sz="1200" b="1">
              <a:solidFill>
                <a:srgbClr val="326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5" name="直接箭头连接符 73"/>
          <p:cNvCxnSpPr>
            <a:stCxn id="13" idx="3"/>
            <a:endCxn id="14" idx="2"/>
          </p:cNvCxnSpPr>
          <p:nvPr/>
        </p:nvCxnSpPr>
        <p:spPr>
          <a:xfrm flipV="1">
            <a:off x="5001006" y="3121914"/>
            <a:ext cx="946404" cy="1008126"/>
          </a:xfrm>
          <a:prstGeom prst="straightConnector1">
            <a:avLst/>
          </a:prstGeom>
          <a:ln w="19050">
            <a:solidFill>
              <a:srgbClr val="3266C6"/>
            </a:solidFill>
            <a:prstDash val="solid"/>
            <a:tailEnd type="triangle" w="sm" len="sm"/>
          </a:ln>
        </p:spPr>
      </p:cxnSp>
      <p:sp>
        <p:nvSpPr>
          <p:cNvPr id="32" name="矩形 31"/>
          <p:cNvSpPr>
            <a:spLocks noGrp="1"/>
          </p:cNvSpPr>
          <p:nvPr/>
        </p:nvSpPr>
        <p:spPr>
          <a:xfrm>
            <a:off x="5055870" y="4205478"/>
            <a:ext cx="75438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Wmax-w3</a:t>
            </a:r>
            <a:endParaRPr sz="1200" b="1">
              <a:solidFill>
                <a:srgbClr val="326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2120646" y="1462278"/>
            <a:ext cx="891540" cy="1783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比赛节点</a:t>
            </a:r>
            <a:endParaRPr sz="1425" b="1">
              <a:solidFill>
                <a:srgbClr val="2F8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4164330" y="1462278"/>
            <a:ext cx="960120" cy="17830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球队节点</a:t>
            </a:r>
            <a:endParaRPr sz="1425" b="1">
              <a:solidFill>
                <a:srgbClr val="326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001000" y="1638300"/>
            <a:ext cx="76200" cy="914400"/>
          </a:xfrm>
          <a:prstGeom prst="rect">
            <a:avLst/>
          </a:prstGeom>
          <a:solidFill>
            <a:srgbClr val="3266C6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229600" y="1638300"/>
            <a:ext cx="2914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比赛节点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229600" y="2038350"/>
            <a:ext cx="2914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每一组还没打的比赛，都必须把胜场流向其中一支球队。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001000" y="3009900"/>
            <a:ext cx="76200" cy="914400"/>
          </a:xfrm>
          <a:prstGeom prst="rect">
            <a:avLst/>
          </a:prstGeom>
          <a:solidFill>
            <a:srgbClr val="2F8F63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8229600" y="3009900"/>
            <a:ext cx="2914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球队节点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8229600" y="3409950"/>
            <a:ext cx="2914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容量限制控制每支球队最多还能赢多少场。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8001000" y="4381500"/>
            <a:ext cx="76200" cy="914400"/>
          </a:xfrm>
          <a:prstGeom prst="rect">
            <a:avLst/>
          </a:prstGeom>
          <a:solidFill>
            <a:srgbClr val="C76E3A"/>
          </a:solidFill>
          <a:ln w="0">
            <a:noFill/>
            <a:prstDash val="solid"/>
          </a:ln>
        </p:spPr>
      </p:sp>
      <p:sp>
        <p:nvSpPr>
          <p:cNvPr id="42" name="矩形 41"/>
          <p:cNvSpPr>
            <a:spLocks noGrp="1"/>
          </p:cNvSpPr>
          <p:nvPr/>
        </p:nvSpPr>
        <p:spPr>
          <a:xfrm>
            <a:off x="8229600" y="4381500"/>
            <a:ext cx="2914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汇点 t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>
            <a:spLocks noGrp="1"/>
          </p:cNvSpPr>
          <p:nvPr/>
        </p:nvSpPr>
        <p:spPr>
          <a:xfrm>
            <a:off x="8229600" y="4781550"/>
            <a:ext cx="2914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如果所有源点边都满流，说明赛程安排可行。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F8F63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C9D5DD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实验6 · 最大流应用</a:t>
            </a:r>
            <a:endParaRPr sz="975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5334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三类边的容量含义</a:t>
            </a:r>
            <a:endParaRPr sz="30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104900"/>
            <a:ext cx="742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每条边都对应一个现实约束。</a:t>
            </a:r>
            <a:endParaRPr sz="1425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609600" y="3333750"/>
            <a:ext cx="685800" cy="685800"/>
          </a:xfrm>
          <a:prstGeom prst="ellipse">
            <a:avLst/>
          </a:prstGeom>
          <a:solidFill>
            <a:srgbClr val="FCEFE8"/>
          </a:solidFill>
          <a:ln w="19050">
            <a:solidFill>
              <a:srgbClr val="C76E3A"/>
            </a:solidFill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16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609850" y="3162300"/>
            <a:ext cx="1257300" cy="857250"/>
          </a:xfrm>
          <a:prstGeom prst="roundRect">
            <a:avLst>
              <a:gd name="adj" fmla="val 13333"/>
            </a:avLst>
          </a:prstGeom>
          <a:solidFill>
            <a:srgbClr val="EDF7EE"/>
          </a:solidFill>
          <a:ln w="19050">
            <a:solidFill>
              <a:srgbClr val="2F8F63"/>
            </a:solidFill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比赛</a:t>
            </a:r>
            <a:endParaRPr sz="14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4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(i,j)</a:t>
            </a:r>
            <a:endParaRPr sz="14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229225" y="2514600"/>
            <a:ext cx="1200150" cy="685800"/>
          </a:xfrm>
          <a:prstGeom prst="roundRect">
            <a:avLst>
              <a:gd name="adj" fmla="val 16667"/>
            </a:avLst>
          </a:prstGeom>
          <a:solidFill>
            <a:srgbClr val="F0F5FF"/>
          </a:solidFill>
          <a:ln w="19050">
            <a:solidFill>
              <a:srgbClr val="3266C6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球队 i</a:t>
            </a:r>
            <a:endParaRPr sz="13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5229225" y="4114800"/>
            <a:ext cx="1200150" cy="685800"/>
          </a:xfrm>
          <a:prstGeom prst="roundRect">
            <a:avLst>
              <a:gd name="adj" fmla="val 16667"/>
            </a:avLst>
          </a:prstGeom>
          <a:solidFill>
            <a:srgbClr val="F0F5FF"/>
          </a:solidFill>
          <a:ln w="19050">
            <a:solidFill>
              <a:srgbClr val="3266C6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球队 j</a:t>
            </a:r>
            <a:endParaRPr sz="13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7181850" y="3333750"/>
            <a:ext cx="685800" cy="685800"/>
          </a:xfrm>
          <a:prstGeom prst="ellipse">
            <a:avLst/>
          </a:prstGeom>
          <a:solidFill>
            <a:srgbClr val="FCEFE8"/>
          </a:solidFill>
          <a:ln w="19050">
            <a:solidFill>
              <a:srgbClr val="C76E3A"/>
            </a:solidFill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endParaRPr sz="16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5" name="直接箭头连接符 38"/>
          <p:cNvCxnSpPr>
            <a:stCxn id="7" idx="6"/>
            <a:endCxn id="8" idx="1"/>
          </p:cNvCxnSpPr>
          <p:nvPr/>
        </p:nvCxnSpPr>
        <p:spPr>
          <a:xfrm flipV="1">
            <a:off x="1295400" y="3590925"/>
            <a:ext cx="1314450" cy="85725"/>
          </a:xfrm>
          <a:prstGeom prst="straightConnector1">
            <a:avLst/>
          </a:prstGeom>
          <a:ln w="19050">
            <a:solidFill>
              <a:srgbClr val="C76E3A"/>
            </a:solidFill>
            <a:prstDash val="solid"/>
            <a:tailEnd type="triangle" w="sm" len="sm"/>
          </a:ln>
        </p:spPr>
      </p:cxnSp>
      <p:cxnSp>
        <p:nvCxnSpPr>
          <p:cNvPr id="56" name="直接箭头连接符 39"/>
          <p:cNvCxnSpPr>
            <a:stCxn id="8" idx="3"/>
            <a:endCxn id="9" idx="1"/>
          </p:cNvCxnSpPr>
          <p:nvPr/>
        </p:nvCxnSpPr>
        <p:spPr>
          <a:xfrm flipV="1">
            <a:off x="3867150" y="2857500"/>
            <a:ext cx="1362075" cy="733425"/>
          </a:xfrm>
          <a:prstGeom prst="straightConnector1">
            <a:avLst/>
          </a:prstGeom>
          <a:ln w="19050">
            <a:solidFill>
              <a:srgbClr val="2F8F63"/>
            </a:solidFill>
            <a:prstDash val="solid"/>
            <a:tailEnd type="triangle" w="sm" len="sm"/>
          </a:ln>
        </p:spPr>
      </p:cxnSp>
      <p:cxnSp>
        <p:nvCxnSpPr>
          <p:cNvPr id="57" name="直接箭头连接符 40"/>
          <p:cNvCxnSpPr>
            <a:stCxn id="8" idx="3"/>
            <a:endCxn id="10" idx="1"/>
          </p:cNvCxnSpPr>
          <p:nvPr/>
        </p:nvCxnSpPr>
        <p:spPr>
          <a:xfrm>
            <a:off x="3867150" y="3590925"/>
            <a:ext cx="1362075" cy="866775"/>
          </a:xfrm>
          <a:prstGeom prst="straightConnector1">
            <a:avLst/>
          </a:prstGeom>
          <a:ln w="19050">
            <a:solidFill>
              <a:srgbClr val="2F8F63"/>
            </a:solidFill>
            <a:prstDash val="solid"/>
            <a:tailEnd type="triangle" w="sm" len="sm"/>
          </a:ln>
        </p:spPr>
      </p:cxnSp>
      <p:cxnSp>
        <p:nvCxnSpPr>
          <p:cNvPr id="58" name="直接箭头连接符 41"/>
          <p:cNvCxnSpPr>
            <a:stCxn id="9" idx="3"/>
            <a:endCxn id="11" idx="2"/>
          </p:cNvCxnSpPr>
          <p:nvPr/>
        </p:nvCxnSpPr>
        <p:spPr>
          <a:xfrm>
            <a:off x="6429375" y="2857500"/>
            <a:ext cx="752475" cy="819150"/>
          </a:xfrm>
          <a:prstGeom prst="straightConnector1">
            <a:avLst/>
          </a:prstGeom>
          <a:ln w="19050">
            <a:solidFill>
              <a:srgbClr val="3266C6"/>
            </a:solidFill>
            <a:prstDash val="solid"/>
            <a:tailEnd type="triangle" w="sm" len="sm"/>
          </a:ln>
        </p:spPr>
      </p:cxnSp>
      <p:cxnSp>
        <p:nvCxnSpPr>
          <p:cNvPr id="59" name="直接箭头连接符 42"/>
          <p:cNvCxnSpPr>
            <a:stCxn id="10" idx="3"/>
            <a:endCxn id="11" idx="2"/>
          </p:cNvCxnSpPr>
          <p:nvPr/>
        </p:nvCxnSpPr>
        <p:spPr>
          <a:xfrm flipV="1">
            <a:off x="6429375" y="3676650"/>
            <a:ext cx="752475" cy="781050"/>
          </a:xfrm>
          <a:prstGeom prst="straightConnector1">
            <a:avLst/>
          </a:prstGeom>
          <a:ln w="19050">
            <a:solidFill>
              <a:srgbClr val="3266C6"/>
            </a:solidFill>
            <a:prstDash val="solid"/>
            <a:tailEnd type="triangle" w="sm" len="sm"/>
          </a:ln>
        </p:spPr>
      </p:cxnSp>
      <p:sp>
        <p:nvSpPr>
          <p:cNvPr id="17" name="矩形 16"/>
          <p:cNvSpPr>
            <a:spLocks noGrp="1"/>
          </p:cNvSpPr>
          <p:nvPr/>
        </p:nvSpPr>
        <p:spPr>
          <a:xfrm>
            <a:off x="1704975" y="32766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g[i][j]</a:t>
            </a:r>
            <a:endParaRPr sz="1200" b="1">
              <a:solidFill>
                <a:srgbClr val="C76E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4248150" y="28194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∞</a:t>
            </a:r>
            <a:endParaRPr sz="1200" b="1">
              <a:solidFill>
                <a:srgbClr val="2F8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4248150" y="4267200"/>
            <a:ext cx="476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∞</a:t>
            </a:r>
            <a:endParaRPr sz="1200" b="1">
              <a:solidFill>
                <a:srgbClr val="2F8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62700" y="2819400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Wmax-w[i]</a:t>
            </a:r>
            <a:endParaRPr sz="1200" b="1">
              <a:solidFill>
                <a:srgbClr val="326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362700" y="4267200"/>
            <a:ext cx="11049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Wmax-w[j]</a:t>
            </a:r>
            <a:endParaRPr sz="1200" b="1">
              <a:solidFill>
                <a:srgbClr val="326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477250" y="160020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→ 比赛节点</a:t>
            </a:r>
            <a:endParaRPr sz="1800" b="1">
              <a:solidFill>
                <a:srgbClr val="326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477250" y="196215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 = 两队剩余交手数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477250" y="278130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比赛节点 → 球队</a:t>
            </a:r>
            <a:endParaRPr sz="1800" b="1">
              <a:solidFill>
                <a:srgbClr val="2F8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8477250" y="3143250"/>
            <a:ext cx="2857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 = ∞，胜场可分配给任一方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477250" y="4095750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球队 → t</a:t>
            </a:r>
            <a:endParaRPr sz="1800" b="1">
              <a:solidFill>
                <a:srgbClr val="C76E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477250" y="4457700"/>
            <a:ext cx="285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容量 = Wmax - 当前胜场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76E3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C9D5DD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实验6 · 最大流应用</a:t>
            </a:r>
            <a:endParaRPr sz="975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50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5334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Philadelphia 的具体建图</a:t>
            </a:r>
            <a:endParaRPr sz="30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104900"/>
            <a:ext cx="742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它最高只能到 83 胜，关键约束来自 Atlanta 与 New_York。</a:t>
            </a:r>
            <a:endParaRPr sz="1425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552450" y="3505200"/>
            <a:ext cx="609600" cy="609600"/>
          </a:xfrm>
          <a:prstGeom prst="ellipse">
            <a:avLst/>
          </a:prstGeom>
          <a:solidFill>
            <a:srgbClr val="FCEFE8"/>
          </a:solidFill>
          <a:ln w="19050">
            <a:solidFill>
              <a:srgbClr val="C76E3A"/>
            </a:solidFill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16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571750" y="1905000"/>
            <a:ext cx="1066800" cy="704850"/>
          </a:xfrm>
          <a:prstGeom prst="roundRect">
            <a:avLst>
              <a:gd name="adj" fmla="val 16216"/>
            </a:avLst>
          </a:prstGeom>
          <a:solidFill>
            <a:srgbClr val="EDF7EE"/>
          </a:solidFill>
          <a:ln w="19050">
            <a:solidFill>
              <a:srgbClr val="2F8F63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A-N</a:t>
            </a:r>
            <a:endParaRPr sz="13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3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571750" y="3448050"/>
            <a:ext cx="1066800" cy="704850"/>
          </a:xfrm>
          <a:prstGeom prst="roundRect">
            <a:avLst>
              <a:gd name="adj" fmla="val 16216"/>
            </a:avLst>
          </a:prstGeom>
          <a:solidFill>
            <a:srgbClr val="EDF7EE"/>
          </a:solidFill>
          <a:ln w="19050">
            <a:solidFill>
              <a:srgbClr val="2F8F63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A-M</a:t>
            </a:r>
            <a:endParaRPr sz="13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3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571750" y="4991100"/>
            <a:ext cx="1066800" cy="704850"/>
          </a:xfrm>
          <a:prstGeom prst="roundRect">
            <a:avLst>
              <a:gd name="adj" fmla="val 16216"/>
            </a:avLst>
          </a:prstGeom>
          <a:solidFill>
            <a:srgbClr val="EDF7EE"/>
          </a:solidFill>
          <a:ln w="19050">
            <a:solidFill>
              <a:srgbClr val="2F8F63"/>
            </a:solidFill>
            <a:prstDash val="solid"/>
          </a:ln>
        </p:spPr>
        <p:txBody>
          <a:bodyPr/>
          <a:lstStyle/>
          <a:p>
            <a:pPr algn="ctr">
              <a:buNone/>
              <a:def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N-M</a:t>
            </a:r>
            <a:endParaRPr sz="13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3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5467350" y="1905000"/>
            <a:ext cx="1238250" cy="704850"/>
          </a:xfrm>
          <a:prstGeom prst="roundRect">
            <a:avLst>
              <a:gd name="adj" fmla="val 16216"/>
            </a:avLst>
          </a:prstGeom>
          <a:solidFill>
            <a:srgbClr val="F0F5FF"/>
          </a:solidFill>
          <a:ln w="19050">
            <a:solidFill>
              <a:srgbClr val="3266C6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Atlanta</a:t>
            </a:r>
            <a:endParaRPr sz="12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上限 0</a:t>
            </a:r>
            <a:endParaRPr sz="12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5467350" y="3448050"/>
            <a:ext cx="1238250" cy="704850"/>
          </a:xfrm>
          <a:prstGeom prst="roundRect">
            <a:avLst>
              <a:gd name="adj" fmla="val 16216"/>
            </a:avLst>
          </a:prstGeom>
          <a:solidFill>
            <a:srgbClr val="F0F5FF"/>
          </a:solidFill>
          <a:ln w="19050">
            <a:solidFill>
              <a:srgbClr val="3266C6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New_York</a:t>
            </a:r>
            <a:endParaRPr sz="12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上限 5</a:t>
            </a:r>
            <a:endParaRPr sz="12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圆角矩形 13"/>
          <p:cNvSpPr>
            <a:spLocks noGrp="1"/>
          </p:cNvSpPr>
          <p:nvPr/>
        </p:nvSpPr>
        <p:spPr>
          <a:xfrm>
            <a:off x="5467350" y="4991100"/>
            <a:ext cx="1238250" cy="704850"/>
          </a:xfrm>
          <a:prstGeom prst="roundRect">
            <a:avLst>
              <a:gd name="adj" fmla="val 16216"/>
            </a:avLst>
          </a:prstGeom>
          <a:solidFill>
            <a:srgbClr val="F0F5FF"/>
          </a:solidFill>
          <a:ln w="19050">
            <a:solidFill>
              <a:srgbClr val="3266C6"/>
            </a:solidFill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Montreal</a:t>
            </a:r>
            <a:endParaRPr sz="12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上限 3</a:t>
            </a:r>
            <a:endParaRPr sz="12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7620000" y="3505200"/>
            <a:ext cx="609600" cy="609600"/>
          </a:xfrm>
          <a:prstGeom prst="ellipse">
            <a:avLst/>
          </a:prstGeom>
          <a:solidFill>
            <a:srgbClr val="FCEFE8"/>
          </a:solidFill>
          <a:ln w="19050">
            <a:solidFill>
              <a:srgbClr val="C76E3A"/>
            </a:solidFill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endParaRPr sz="16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3" name="直接箭头连接符 46"/>
          <p:cNvCxnSpPr>
            <a:stCxn id="7" idx="6"/>
            <a:endCxn id="8" idx="1"/>
          </p:cNvCxnSpPr>
          <p:nvPr/>
        </p:nvCxnSpPr>
        <p:spPr>
          <a:xfrm flipV="1">
            <a:off x="1162050" y="2257425"/>
            <a:ext cx="1409700" cy="1552575"/>
          </a:xfrm>
          <a:prstGeom prst="straightConnector1">
            <a:avLst/>
          </a:prstGeom>
          <a:ln w="19050">
            <a:solidFill>
              <a:srgbClr val="C76E3A"/>
            </a:solidFill>
            <a:prstDash val="solid"/>
            <a:tailEnd type="triangle" w="sm" len="sm"/>
          </a:ln>
        </p:spPr>
      </p:cxnSp>
      <p:cxnSp>
        <p:nvCxnSpPr>
          <p:cNvPr id="74" name="直接箭头连接符 47"/>
          <p:cNvCxnSpPr>
            <a:stCxn id="7" idx="6"/>
            <a:endCxn id="9" idx="1"/>
          </p:cNvCxnSpPr>
          <p:nvPr/>
        </p:nvCxnSpPr>
        <p:spPr>
          <a:xfrm flipV="1">
            <a:off x="1162050" y="3800475"/>
            <a:ext cx="1409700" cy="9525"/>
          </a:xfrm>
          <a:prstGeom prst="straightConnector1">
            <a:avLst/>
          </a:prstGeom>
          <a:ln w="19050">
            <a:solidFill>
              <a:srgbClr val="C76E3A"/>
            </a:solidFill>
            <a:prstDash val="solid"/>
            <a:tailEnd type="triangle" w="sm" len="sm"/>
          </a:ln>
        </p:spPr>
      </p:cxnSp>
      <p:cxnSp>
        <p:nvCxnSpPr>
          <p:cNvPr id="75" name="直接箭头连接符 48"/>
          <p:cNvCxnSpPr>
            <a:stCxn id="7" idx="6"/>
            <a:endCxn id="10" idx="1"/>
          </p:cNvCxnSpPr>
          <p:nvPr/>
        </p:nvCxnSpPr>
        <p:spPr>
          <a:xfrm>
            <a:off x="1162050" y="3810000"/>
            <a:ext cx="1409700" cy="1533525"/>
          </a:xfrm>
          <a:prstGeom prst="straightConnector1">
            <a:avLst/>
          </a:prstGeom>
          <a:ln w="19050">
            <a:solidFill>
              <a:srgbClr val="C76E3A"/>
            </a:solidFill>
            <a:prstDash val="solid"/>
            <a:tailEnd type="triangle" w="sm" len="sm"/>
          </a:ln>
        </p:spPr>
      </p:cxnSp>
      <p:cxnSp>
        <p:nvCxnSpPr>
          <p:cNvPr id="76" name="直接箭头连接符 49"/>
          <p:cNvCxnSpPr>
            <a:stCxn id="8" idx="3"/>
            <a:endCxn id="11" idx="1"/>
          </p:cNvCxnSpPr>
          <p:nvPr/>
        </p:nvCxnSpPr>
        <p:spPr>
          <a:xfrm>
            <a:off x="3638550" y="2257425"/>
            <a:ext cx="1828800" cy="0"/>
          </a:xfrm>
          <a:prstGeom prst="straightConnector1">
            <a:avLst/>
          </a:prstGeom>
          <a:ln w="19050">
            <a:solidFill>
              <a:srgbClr val="2F8F63"/>
            </a:solidFill>
            <a:prstDash val="solid"/>
            <a:tailEnd type="triangle" w="sm" len="sm"/>
          </a:ln>
        </p:spPr>
      </p:cxnSp>
      <p:cxnSp>
        <p:nvCxnSpPr>
          <p:cNvPr id="77" name="直接箭头连接符 50"/>
          <p:cNvCxnSpPr>
            <a:stCxn id="8" idx="3"/>
            <a:endCxn id="12" idx="1"/>
          </p:cNvCxnSpPr>
          <p:nvPr/>
        </p:nvCxnSpPr>
        <p:spPr>
          <a:xfrm>
            <a:off x="3638550" y="2257425"/>
            <a:ext cx="1828800" cy="1543050"/>
          </a:xfrm>
          <a:prstGeom prst="straightConnector1">
            <a:avLst/>
          </a:prstGeom>
          <a:ln w="19050">
            <a:solidFill>
              <a:srgbClr val="2F8F63"/>
            </a:solidFill>
            <a:prstDash val="dash"/>
            <a:tailEnd type="triangle" w="sm" len="sm"/>
          </a:ln>
        </p:spPr>
      </p:cxnSp>
      <p:cxnSp>
        <p:nvCxnSpPr>
          <p:cNvPr id="78" name="直接箭头连接符 51"/>
          <p:cNvCxnSpPr>
            <a:stCxn id="9" idx="3"/>
            <a:endCxn id="11" idx="1"/>
          </p:cNvCxnSpPr>
          <p:nvPr/>
        </p:nvCxnSpPr>
        <p:spPr>
          <a:xfrm flipV="1">
            <a:off x="3638550" y="2257425"/>
            <a:ext cx="1828800" cy="1543050"/>
          </a:xfrm>
          <a:prstGeom prst="straightConnector1">
            <a:avLst/>
          </a:prstGeom>
          <a:ln w="19050">
            <a:solidFill>
              <a:srgbClr val="2F8F63"/>
            </a:solidFill>
            <a:prstDash val="dash"/>
            <a:tailEnd type="triangle" w="sm" len="sm"/>
          </a:ln>
        </p:spPr>
      </p:cxnSp>
      <p:cxnSp>
        <p:nvCxnSpPr>
          <p:cNvPr id="79" name="直接箭头连接符 52"/>
          <p:cNvCxnSpPr>
            <a:stCxn id="9" idx="3"/>
            <a:endCxn id="13" idx="1"/>
          </p:cNvCxnSpPr>
          <p:nvPr/>
        </p:nvCxnSpPr>
        <p:spPr>
          <a:xfrm>
            <a:off x="3638550" y="3800475"/>
            <a:ext cx="1828800" cy="1543050"/>
          </a:xfrm>
          <a:prstGeom prst="straightConnector1">
            <a:avLst/>
          </a:prstGeom>
          <a:ln w="19050">
            <a:solidFill>
              <a:srgbClr val="2F8F63"/>
            </a:solidFill>
            <a:prstDash val="solid"/>
            <a:tailEnd type="triangle" w="sm" len="sm"/>
          </a:ln>
        </p:spPr>
      </p:cxnSp>
      <p:cxnSp>
        <p:nvCxnSpPr>
          <p:cNvPr id="80" name="直接箭头连接符 53"/>
          <p:cNvCxnSpPr>
            <a:stCxn id="10" idx="3"/>
            <a:endCxn id="12" idx="1"/>
          </p:cNvCxnSpPr>
          <p:nvPr/>
        </p:nvCxnSpPr>
        <p:spPr>
          <a:xfrm flipV="1">
            <a:off x="3638550" y="3800475"/>
            <a:ext cx="1828800" cy="1543050"/>
          </a:xfrm>
          <a:prstGeom prst="straightConnector1">
            <a:avLst/>
          </a:prstGeom>
          <a:ln w="19050">
            <a:solidFill>
              <a:srgbClr val="2F8F63"/>
            </a:solidFill>
            <a:prstDash val="dash"/>
            <a:tailEnd type="triangle" w="sm" len="sm"/>
          </a:ln>
        </p:spPr>
      </p:cxnSp>
      <p:cxnSp>
        <p:nvCxnSpPr>
          <p:cNvPr id="81" name="直接箭头连接符 54"/>
          <p:cNvCxnSpPr>
            <a:stCxn id="10" idx="3"/>
            <a:endCxn id="13" idx="1"/>
          </p:cNvCxnSpPr>
          <p:nvPr/>
        </p:nvCxnSpPr>
        <p:spPr>
          <a:xfrm>
            <a:off x="3638550" y="5343525"/>
            <a:ext cx="1828800" cy="0"/>
          </a:xfrm>
          <a:prstGeom prst="straightConnector1">
            <a:avLst/>
          </a:prstGeom>
          <a:ln w="19050">
            <a:solidFill>
              <a:srgbClr val="2F8F63"/>
            </a:solidFill>
            <a:prstDash val="solid"/>
            <a:tailEnd type="triangle" w="sm" len="sm"/>
          </a:ln>
        </p:spPr>
      </p:cxnSp>
      <p:cxnSp>
        <p:nvCxnSpPr>
          <p:cNvPr id="82" name="直接箭头连接符 55"/>
          <p:cNvCxnSpPr>
            <a:stCxn id="11" idx="3"/>
            <a:endCxn id="14" idx="2"/>
          </p:cNvCxnSpPr>
          <p:nvPr/>
        </p:nvCxnSpPr>
        <p:spPr>
          <a:xfrm>
            <a:off x="6705600" y="2257425"/>
            <a:ext cx="914400" cy="1552575"/>
          </a:xfrm>
          <a:prstGeom prst="straightConnector1">
            <a:avLst/>
          </a:prstGeom>
          <a:ln w="19050">
            <a:solidFill>
              <a:srgbClr val="3266C6"/>
            </a:solidFill>
            <a:prstDash val="solid"/>
            <a:tailEnd type="triangle" w="sm" len="sm"/>
          </a:ln>
        </p:spPr>
      </p:cxnSp>
      <p:cxnSp>
        <p:nvCxnSpPr>
          <p:cNvPr id="83" name="直接箭头连接符 56"/>
          <p:cNvCxnSpPr>
            <a:stCxn id="12" idx="3"/>
            <a:endCxn id="14" idx="2"/>
          </p:cNvCxnSpPr>
          <p:nvPr/>
        </p:nvCxnSpPr>
        <p:spPr>
          <a:xfrm>
            <a:off x="6705600" y="3800475"/>
            <a:ext cx="914400" cy="9525"/>
          </a:xfrm>
          <a:prstGeom prst="straightConnector1">
            <a:avLst/>
          </a:prstGeom>
          <a:ln w="19050">
            <a:solidFill>
              <a:srgbClr val="3266C6"/>
            </a:solidFill>
            <a:prstDash val="solid"/>
            <a:tailEnd type="triangle" w="sm" len="sm"/>
          </a:ln>
        </p:spPr>
      </p:cxnSp>
      <p:cxnSp>
        <p:nvCxnSpPr>
          <p:cNvPr id="84" name="直接箭头连接符 57"/>
          <p:cNvCxnSpPr>
            <a:stCxn id="13" idx="3"/>
            <a:endCxn id="14" idx="2"/>
          </p:cNvCxnSpPr>
          <p:nvPr/>
        </p:nvCxnSpPr>
        <p:spPr>
          <a:xfrm flipV="1">
            <a:off x="6705600" y="3810000"/>
            <a:ext cx="914400" cy="1533525"/>
          </a:xfrm>
          <a:prstGeom prst="straightConnector1">
            <a:avLst/>
          </a:prstGeom>
          <a:ln w="19050">
            <a:solidFill>
              <a:srgbClr val="3266C6"/>
            </a:solidFill>
            <a:prstDash val="solid"/>
            <a:tailEnd type="triangle" w="sm" len="sm"/>
          </a:ln>
        </p:spPr>
      </p:cxnSp>
      <p:sp>
        <p:nvSpPr>
          <p:cNvPr id="27" name="矩形 26"/>
          <p:cNvSpPr>
            <a:spLocks noGrp="1"/>
          </p:cNvSpPr>
          <p:nvPr/>
        </p:nvSpPr>
        <p:spPr>
          <a:xfrm>
            <a:off x="1695450" y="1314450"/>
            <a:ext cx="5143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Philadelphia: Wmax = 80 + 3 = 83</a:t>
            </a:r>
            <a:endParaRPr sz="16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8305800" y="1524000"/>
            <a:ext cx="2324100" cy="342900"/>
          </a:xfrm>
          <a:prstGeom prst="roundRect">
            <a:avLst>
              <a:gd name="adj" fmla="val 33333"/>
            </a:avLst>
          </a:prstGeom>
          <a:solidFill>
            <a:srgbClr val="C76E3A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439150" y="1590675"/>
            <a:ext cx="20574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目标队：Philadelphia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343900" y="23431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9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343900" y="2781300"/>
            <a:ext cx="2857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无法把所有剩余比赛的胜场，都安排到不超过 83 胜的范围内。</a:t>
            </a:r>
            <a:endParaRPr sz="16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343900" y="4095750"/>
            <a:ext cx="3028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D8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D8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证书 R = { Atlanta, New_York }</a:t>
            </a:r>
            <a:endParaRPr sz="1875" b="1">
              <a:solidFill>
                <a:srgbClr val="D84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F8F63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C9D5DD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实验6 · 最大流应用</a:t>
            </a:r>
            <a:endParaRPr sz="975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50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5334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满流与未满流的判定</a:t>
            </a:r>
            <a:endParaRPr sz="30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104900"/>
            <a:ext cx="742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最大流值是否等于所有源点边容量之和，是判断的分界线。</a:t>
            </a:r>
            <a:endParaRPr sz="1425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1104900" y="2228850"/>
            <a:ext cx="1809750" cy="1047750"/>
          </a:xfrm>
          <a:prstGeom prst="roundRect">
            <a:avLst>
              <a:gd name="adj" fmla="val 10909"/>
            </a:avLst>
          </a:prstGeom>
          <a:solidFill>
            <a:srgbClr val="E8F5EE"/>
          </a:solidFill>
          <a:ln w="19050">
            <a:solidFill>
              <a:srgbClr val="2F8F63"/>
            </a:solidFill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满流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可安排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1104900" y="4114800"/>
            <a:ext cx="1809750" cy="1047750"/>
          </a:xfrm>
          <a:prstGeom prst="roundRect">
            <a:avLst>
              <a:gd name="adj" fmla="val 10909"/>
            </a:avLst>
          </a:prstGeom>
          <a:solidFill>
            <a:srgbClr val="FCEEEE"/>
          </a:solidFill>
          <a:ln w="19050">
            <a:solidFill>
              <a:srgbClr val="D84A4A"/>
            </a:solidFill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未满流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被淘汰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5867400" y="2438400"/>
            <a:ext cx="666750" cy="666750"/>
          </a:xfrm>
          <a:prstGeom prst="ellipse">
            <a:avLst/>
          </a:prstGeom>
          <a:solidFill>
            <a:srgbClr val="FCEFE8"/>
          </a:solidFill>
          <a:ln w="19050">
            <a:solidFill>
              <a:srgbClr val="C76E3A"/>
            </a:solidFill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endParaRPr sz="16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5867400" y="4324350"/>
            <a:ext cx="666750" cy="666750"/>
          </a:xfrm>
          <a:prstGeom prst="ellipse">
            <a:avLst/>
          </a:prstGeom>
          <a:solidFill>
            <a:srgbClr val="FCEFE8"/>
          </a:solidFill>
          <a:ln w="19050">
            <a:solidFill>
              <a:srgbClr val="C76E3A"/>
            </a:solidFill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endParaRPr sz="16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5" name="直接箭头连接符 32"/>
          <p:cNvCxnSpPr>
            <a:stCxn id="7" idx="3"/>
            <a:endCxn id="9" idx="2"/>
          </p:cNvCxnSpPr>
          <p:nvPr/>
        </p:nvCxnSpPr>
        <p:spPr>
          <a:xfrm>
            <a:off x="2914650" y="2752725"/>
            <a:ext cx="2952750" cy="19050"/>
          </a:xfrm>
          <a:prstGeom prst="straightConnector1">
            <a:avLst/>
          </a:prstGeom>
          <a:ln w="19050">
            <a:solidFill>
              <a:srgbClr val="2F8F63"/>
            </a:solidFill>
            <a:prstDash val="solid"/>
            <a:tailEnd type="triangle" w="sm" len="sm"/>
          </a:ln>
        </p:spPr>
      </p:cxnSp>
      <p:cxnSp>
        <p:nvCxnSpPr>
          <p:cNvPr id="46" name="直接箭头连接符 33"/>
          <p:cNvCxnSpPr>
            <a:stCxn id="8" idx="3"/>
            <a:endCxn id="10" idx="2"/>
          </p:cNvCxnSpPr>
          <p:nvPr/>
        </p:nvCxnSpPr>
        <p:spPr>
          <a:xfrm>
            <a:off x="2914650" y="4638675"/>
            <a:ext cx="2952750" cy="19050"/>
          </a:xfrm>
          <a:prstGeom prst="straightConnector1">
            <a:avLst/>
          </a:prstGeom>
          <a:ln w="19050">
            <a:solidFill>
              <a:srgbClr val="D84A4A"/>
            </a:solidFill>
            <a:prstDash val="dash"/>
            <a:tailEnd type="triangle" w="sm" len="sm"/>
          </a:ln>
        </p:spPr>
      </p:cxnSp>
      <p:sp>
        <p:nvSpPr>
          <p:cNvPr id="13" name="矩形 12"/>
          <p:cNvSpPr>
            <a:spLocks noGrp="1"/>
          </p:cNvSpPr>
          <p:nvPr/>
        </p:nvSpPr>
        <p:spPr>
          <a:xfrm>
            <a:off x="3295650" y="247650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maxflow = total games</a:t>
            </a:r>
            <a:endParaRPr sz="1650" b="1">
              <a:solidFill>
                <a:srgbClr val="2F8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3295650" y="43624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D8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D8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maxflow &lt; total games</a:t>
            </a:r>
            <a:endParaRPr sz="1650" b="1">
              <a:solidFill>
                <a:srgbClr val="D84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3257550" y="29146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所有剩余比赛都被“分配完”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3257550" y="48006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存在不可绕过的容量瓶颈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8210550" y="1962150"/>
            <a:ext cx="76200" cy="914400"/>
          </a:xfrm>
          <a:prstGeom prst="rect">
            <a:avLst/>
          </a:prstGeom>
          <a:solidFill>
            <a:srgbClr val="2F8F63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439150" y="1962150"/>
            <a:ext cx="281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满流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439150" y="2362200"/>
            <a:ext cx="2819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所有比赛都能安排胜者，且没有球队超过 Wmax：未淘汰。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210550" y="3638550"/>
            <a:ext cx="76200" cy="914400"/>
          </a:xfrm>
          <a:prstGeom prst="rect">
            <a:avLst/>
          </a:prstGeom>
          <a:solidFill>
            <a:srgbClr val="D84A4A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439150" y="3638550"/>
            <a:ext cx="2819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未满流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439150" y="4038600"/>
            <a:ext cx="2819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存在无法满足的容量瓶颈：已淘汰。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76E3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C9D5DD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实验6 · 最大流应用</a:t>
            </a:r>
            <a:endParaRPr sz="975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50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5334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淘汰证书从最小割来</a:t>
            </a:r>
            <a:endParaRPr sz="30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104900"/>
            <a:ext cx="742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最大流不只给结论，还能解释是谁共同造成淘汰。</a:t>
            </a:r>
            <a:endParaRPr sz="1425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609600" y="3238500"/>
            <a:ext cx="666750" cy="666750"/>
          </a:xfrm>
          <a:prstGeom prst="ellipse">
            <a:avLst/>
          </a:prstGeom>
          <a:solidFill>
            <a:srgbClr val="FCEFE8"/>
          </a:solidFill>
          <a:ln w="19050">
            <a:solidFill>
              <a:srgbClr val="C76E3A"/>
            </a:solidFill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16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2800350" y="240030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FCEEEE"/>
          </a:solidFill>
          <a:ln w="19050">
            <a:solidFill>
              <a:srgbClr val="D84A4A"/>
            </a:solidFill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Atlanta</a:t>
            </a:r>
            <a:endParaRPr sz="14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2800350" y="407670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FCEEEE"/>
          </a:solidFill>
          <a:ln w="19050">
            <a:solidFill>
              <a:srgbClr val="D84A4A"/>
            </a:solidFill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New_York</a:t>
            </a:r>
            <a:endParaRPr sz="14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5562600" y="3238500"/>
            <a:ext cx="1428750" cy="666750"/>
          </a:xfrm>
          <a:prstGeom prst="roundRect">
            <a:avLst>
              <a:gd name="adj" fmla="val 17143"/>
            </a:avLst>
          </a:prstGeom>
          <a:solidFill>
            <a:srgbClr val="F0F5FF"/>
          </a:solidFill>
          <a:ln w="19050">
            <a:solidFill>
              <a:srgbClr val="3266C6"/>
            </a:solidFill>
            <a:prstDash val="solid"/>
          </a:ln>
        </p:spPr>
        <p:txBody>
          <a:bodyPr/>
          <a:lstStyle/>
          <a:p>
            <a:pPr algn="ctr">
              <a:buNone/>
              <a:defRPr sz="14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其他球队</a:t>
            </a:r>
            <a:endParaRPr sz="14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8039100" y="3238500"/>
            <a:ext cx="666750" cy="666750"/>
          </a:xfrm>
          <a:prstGeom prst="ellipse">
            <a:avLst/>
          </a:prstGeom>
          <a:solidFill>
            <a:srgbClr val="FCEFE8"/>
          </a:solidFill>
          <a:ln w="19050">
            <a:solidFill>
              <a:srgbClr val="C76E3A"/>
            </a:solidFill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endParaRPr sz="16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直接箭头连接符 32"/>
          <p:cNvCxnSpPr>
            <a:stCxn id="7" idx="6"/>
            <a:endCxn id="8" idx="1"/>
          </p:cNvCxnSpPr>
          <p:nvPr/>
        </p:nvCxnSpPr>
        <p:spPr>
          <a:xfrm flipV="1">
            <a:off x="1276350" y="2733675"/>
            <a:ext cx="1524000" cy="838200"/>
          </a:xfrm>
          <a:prstGeom prst="straightConnector1">
            <a:avLst/>
          </a:prstGeom>
          <a:ln w="19050">
            <a:solidFill>
              <a:srgbClr val="D84A4A"/>
            </a:solidFill>
            <a:prstDash val="solid"/>
            <a:tailEnd type="triangle" w="sm" len="sm"/>
          </a:ln>
        </p:spPr>
      </p:cxnSp>
      <p:cxnSp>
        <p:nvCxnSpPr>
          <p:cNvPr id="50" name="直接箭头连接符 33"/>
          <p:cNvCxnSpPr>
            <a:stCxn id="7" idx="6"/>
            <a:endCxn id="9" idx="1"/>
          </p:cNvCxnSpPr>
          <p:nvPr/>
        </p:nvCxnSpPr>
        <p:spPr>
          <a:xfrm>
            <a:off x="1276350" y="3571875"/>
            <a:ext cx="1524000" cy="838200"/>
          </a:xfrm>
          <a:prstGeom prst="straightConnector1">
            <a:avLst/>
          </a:prstGeom>
          <a:ln w="19050">
            <a:solidFill>
              <a:srgbClr val="D84A4A"/>
            </a:solidFill>
            <a:prstDash val="solid"/>
            <a:tailEnd type="triangle" w="sm" len="sm"/>
          </a:ln>
        </p:spPr>
      </p:cxnSp>
      <p:cxnSp>
        <p:nvCxnSpPr>
          <p:cNvPr id="51" name="直接箭头连接符 34"/>
          <p:cNvCxnSpPr>
            <a:stCxn id="8" idx="3"/>
            <a:endCxn id="10" idx="1"/>
          </p:cNvCxnSpPr>
          <p:nvPr/>
        </p:nvCxnSpPr>
        <p:spPr>
          <a:xfrm>
            <a:off x="4229100" y="2733675"/>
            <a:ext cx="1333500" cy="838200"/>
          </a:xfrm>
          <a:prstGeom prst="straightConnector1">
            <a:avLst/>
          </a:prstGeom>
          <a:ln w="19050">
            <a:solidFill>
              <a:srgbClr val="D84A4A"/>
            </a:solidFill>
            <a:prstDash val="dash"/>
            <a:tailEnd type="triangle" w="sm" len="sm"/>
          </a:ln>
        </p:spPr>
      </p:cxnSp>
      <p:cxnSp>
        <p:nvCxnSpPr>
          <p:cNvPr id="52" name="直接箭头连接符 35"/>
          <p:cNvCxnSpPr>
            <a:stCxn id="9" idx="3"/>
            <a:endCxn id="10" idx="1"/>
          </p:cNvCxnSpPr>
          <p:nvPr/>
        </p:nvCxnSpPr>
        <p:spPr>
          <a:xfrm flipV="1">
            <a:off x="4229100" y="3571875"/>
            <a:ext cx="1333500" cy="838200"/>
          </a:xfrm>
          <a:prstGeom prst="straightConnector1">
            <a:avLst/>
          </a:prstGeom>
          <a:ln w="19050">
            <a:solidFill>
              <a:srgbClr val="D84A4A"/>
            </a:solidFill>
            <a:prstDash val="dash"/>
            <a:tailEnd type="triangle" w="sm" len="sm"/>
          </a:ln>
        </p:spPr>
      </p:cxnSp>
      <p:cxnSp>
        <p:nvCxnSpPr>
          <p:cNvPr id="53" name="直接箭头连接符 36"/>
          <p:cNvCxnSpPr>
            <a:stCxn id="10" idx="3"/>
            <a:endCxn id="11" idx="2"/>
          </p:cNvCxnSpPr>
          <p:nvPr/>
        </p:nvCxnSpPr>
        <p:spPr>
          <a:xfrm>
            <a:off x="6991350" y="3571875"/>
            <a:ext cx="1047750" cy="0"/>
          </a:xfrm>
          <a:prstGeom prst="straightConnector1">
            <a:avLst/>
          </a:prstGeom>
          <a:ln w="19050">
            <a:solidFill>
              <a:srgbClr val="3266C6"/>
            </a:solidFill>
            <a:prstDash val="solid"/>
            <a:tailEnd type="triangle" w="sm" len="sm"/>
          </a:ln>
        </p:spPr>
      </p:cxnSp>
      <p:sp>
        <p:nvSpPr>
          <p:cNvPr id="17" name="直接连接符 16"/>
          <p:cNvSpPr>
            <a:spLocks noGrp="1"/>
          </p:cNvSpPr>
          <p:nvPr/>
        </p:nvSpPr>
        <p:spPr>
          <a:xfrm>
            <a:off x="4819650" y="1981200"/>
            <a:ext cx="0" cy="3238500"/>
          </a:xfrm>
          <a:prstGeom prst="line">
            <a:avLst/>
          </a:prstGeom>
          <a:noFill/>
          <a:ln w="38100">
            <a:solidFill>
              <a:srgbClr val="D84A4A"/>
            </a:solidFill>
            <a:prstDash val="dash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1657350" y="179070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D8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8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源点侧可达集合</a:t>
            </a:r>
            <a:endParaRPr sz="1800" b="1">
              <a:solidFill>
                <a:srgbClr val="D84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1657350" y="5181600"/>
            <a:ext cx="3524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00" b="1">
                <a:solidFill>
                  <a:srgbClr val="D8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8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 = { Atlanta, New_York }</a:t>
            </a:r>
            <a:endParaRPr sz="1800" b="1">
              <a:solidFill>
                <a:srgbClr val="D84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324850" y="2000250"/>
            <a:ext cx="2952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残量网络中，从源点还能到达的球队节点组成 R。</a:t>
            </a:r>
            <a:endParaRPr sz="17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858250" y="3257550"/>
            <a:ext cx="22669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这个集合就是“如果这些球队内部比赛继续产生胜场，就一定会挤掉目标队”的证据。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F8F63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C9D5DD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实验6 · 最大流应用</a:t>
            </a:r>
            <a:endParaRPr sz="975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050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5334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程序整体流程</a:t>
            </a:r>
            <a:endParaRPr sz="30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104900"/>
            <a:ext cx="742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输入赛区数据，先做平凡判断，再构图求最大流。</a:t>
            </a:r>
            <a:endParaRPr sz="1425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76300" y="1695450"/>
            <a:ext cx="16383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3266C6"/>
            </a:solidFill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读取数据</a:t>
            </a:r>
            <a:endParaRPr sz="157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067050" y="1695450"/>
            <a:ext cx="16383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F8F63"/>
            </a:solidFill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 Wmax</a:t>
            </a:r>
            <a:endParaRPr sz="157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直接箭头连接符 35"/>
          <p:cNvCxnSpPr>
            <a:stCxn id="7" idx="3"/>
            <a:endCxn id="8" idx="1"/>
          </p:cNvCxnSpPr>
          <p:nvPr/>
        </p:nvCxnSpPr>
        <p:spPr>
          <a:xfrm>
            <a:off x="2514600" y="2066925"/>
            <a:ext cx="552450" cy="0"/>
          </a:xfrm>
          <a:prstGeom prst="straightConnector1">
            <a:avLst/>
          </a:prstGeom>
          <a:ln w="19050">
            <a:solidFill>
              <a:srgbClr val="2F8F63"/>
            </a:solidFill>
            <a:prstDash val="solid"/>
            <a:tailEnd type="triangle" w="sm" len="sm"/>
          </a:ln>
        </p:spPr>
      </p:cxnSp>
      <p:sp>
        <p:nvSpPr>
          <p:cNvPr id="10" name="圆角矩形 9"/>
          <p:cNvSpPr>
            <a:spLocks noGrp="1"/>
          </p:cNvSpPr>
          <p:nvPr/>
        </p:nvSpPr>
        <p:spPr>
          <a:xfrm>
            <a:off x="5257800" y="1695450"/>
            <a:ext cx="16383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C76E3A"/>
            </a:solidFill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平凡淘汰？</a:t>
            </a:r>
            <a:endParaRPr sz="157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5" name="直接箭头连接符 37"/>
          <p:cNvCxnSpPr>
            <a:stCxn id="8" idx="3"/>
            <a:endCxn id="10" idx="1"/>
          </p:cNvCxnSpPr>
          <p:nvPr/>
        </p:nvCxnSpPr>
        <p:spPr>
          <a:xfrm>
            <a:off x="4705350" y="2066925"/>
            <a:ext cx="552450" cy="0"/>
          </a:xfrm>
          <a:prstGeom prst="straightConnector1">
            <a:avLst/>
          </a:prstGeom>
          <a:ln w="19050">
            <a:solidFill>
              <a:srgbClr val="C76E3A"/>
            </a:solidFill>
            <a:prstDash val="solid"/>
            <a:tailEnd type="triangle" w="sm" len="sm"/>
          </a:ln>
        </p:spPr>
      </p:cxnSp>
      <p:sp>
        <p:nvSpPr>
          <p:cNvPr id="12" name="圆角矩形 11"/>
          <p:cNvSpPr>
            <a:spLocks noGrp="1"/>
          </p:cNvSpPr>
          <p:nvPr/>
        </p:nvSpPr>
        <p:spPr>
          <a:xfrm>
            <a:off x="876300" y="3409950"/>
            <a:ext cx="16383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3266C6"/>
            </a:solidFill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构造流网络</a:t>
            </a:r>
            <a:endParaRPr sz="157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7" name="直接箭头连接符 39"/>
          <p:cNvCxnSpPr>
            <a:stCxn id="10" idx="3"/>
            <a:endCxn id="12" idx="1"/>
          </p:cNvCxnSpPr>
          <p:nvPr/>
        </p:nvCxnSpPr>
        <p:spPr>
          <a:xfrm flipH="1">
            <a:off x="876300" y="2066925"/>
            <a:ext cx="6019800" cy="1714500"/>
          </a:xfrm>
          <a:prstGeom prst="straightConnector1">
            <a:avLst/>
          </a:prstGeom>
          <a:ln w="19050">
            <a:solidFill>
              <a:srgbClr val="3266C6"/>
            </a:solidFill>
            <a:prstDash val="solid"/>
            <a:tailEnd type="triangle" w="sm" len="sm"/>
          </a:ln>
        </p:spPr>
      </p:cxnSp>
      <p:sp>
        <p:nvSpPr>
          <p:cNvPr id="14" name="圆角矩形 13"/>
          <p:cNvSpPr>
            <a:spLocks noGrp="1"/>
          </p:cNvSpPr>
          <p:nvPr/>
        </p:nvSpPr>
        <p:spPr>
          <a:xfrm>
            <a:off x="3067050" y="3409950"/>
            <a:ext cx="16383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2F8F63"/>
            </a:solidFill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求最大流</a:t>
            </a:r>
            <a:endParaRPr sz="157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9" name="直接箭头连接符 41"/>
          <p:cNvCxnSpPr>
            <a:stCxn id="12" idx="3"/>
            <a:endCxn id="14" idx="1"/>
          </p:cNvCxnSpPr>
          <p:nvPr/>
        </p:nvCxnSpPr>
        <p:spPr>
          <a:xfrm>
            <a:off x="2514600" y="3781425"/>
            <a:ext cx="552450" cy="0"/>
          </a:xfrm>
          <a:prstGeom prst="straightConnector1">
            <a:avLst/>
          </a:prstGeom>
          <a:ln w="19050">
            <a:solidFill>
              <a:srgbClr val="2F8F63"/>
            </a:solidFill>
            <a:prstDash val="solid"/>
            <a:tailEnd type="triangle" w="sm" len="sm"/>
          </a:ln>
        </p:spPr>
      </p:cxnSp>
      <p:sp>
        <p:nvSpPr>
          <p:cNvPr id="16" name="圆角矩形 15"/>
          <p:cNvSpPr>
            <a:spLocks noGrp="1"/>
          </p:cNvSpPr>
          <p:nvPr/>
        </p:nvSpPr>
        <p:spPr>
          <a:xfrm>
            <a:off x="5257800" y="3409950"/>
            <a:ext cx="1638300" cy="74295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9050">
            <a:solidFill>
              <a:srgbClr val="D84A4A"/>
            </a:solidFill>
            <a:prstDash val="solid"/>
          </a:ln>
        </p:spPr>
        <p:txBody>
          <a:bodyPr/>
          <a:lstStyle/>
          <a:p>
            <a:pPr algn="ctr">
              <a:buNone/>
              <a:defRPr sz="15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输出证书 R</a:t>
            </a:r>
            <a:endParaRPr sz="157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1" name="直接箭头连接符 43"/>
          <p:cNvCxnSpPr>
            <a:stCxn id="14" idx="3"/>
            <a:endCxn id="16" idx="1"/>
          </p:cNvCxnSpPr>
          <p:nvPr/>
        </p:nvCxnSpPr>
        <p:spPr>
          <a:xfrm>
            <a:off x="4705350" y="3781425"/>
            <a:ext cx="552450" cy="0"/>
          </a:xfrm>
          <a:prstGeom prst="straightConnector1">
            <a:avLst/>
          </a:prstGeom>
          <a:ln w="19050">
            <a:solidFill>
              <a:srgbClr val="D84A4A"/>
            </a:solidFill>
            <a:prstDash val="solid"/>
            <a:tailEnd type="triangle" w="sm" len="sm"/>
          </a:ln>
        </p:spPr>
      </p:cxnSp>
      <p:sp>
        <p:nvSpPr>
          <p:cNvPr id="18" name="矩形 17"/>
          <p:cNvSpPr>
            <a:spLocks noGrp="1"/>
          </p:cNvSpPr>
          <p:nvPr/>
        </p:nvSpPr>
        <p:spPr>
          <a:xfrm>
            <a:off x="1314450" y="5334000"/>
            <a:ext cx="5334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6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先筛掉显然不可能，再把组合安排交给最大流。</a:t>
            </a:r>
            <a:endParaRPr sz="16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172450" y="167640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实现文件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172450" y="2095500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BaseballElimination.java</a:t>
            </a:r>
            <a:endParaRPr sz="1650" b="1">
              <a:solidFill>
                <a:srgbClr val="326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172450" y="2781300"/>
            <a:ext cx="3143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三种最大流算法共用同一套建图逻辑，只替换“怎么求最大流”。</a:t>
            </a:r>
            <a:endParaRPr sz="150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圆角矩形 21"/>
          <p:cNvSpPr>
            <a:spLocks noGrp="1"/>
          </p:cNvSpPr>
          <p:nvPr/>
        </p:nvSpPr>
        <p:spPr>
          <a:xfrm>
            <a:off x="8172450" y="4171950"/>
            <a:ext cx="1809750" cy="342900"/>
          </a:xfrm>
          <a:prstGeom prst="roundRect">
            <a:avLst>
              <a:gd name="adj" fmla="val 33333"/>
            </a:avLst>
          </a:prstGeom>
          <a:solidFill>
            <a:srgbClr val="C76E3A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305800" y="4238625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Ford-Fulkerson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8172450" y="4648200"/>
            <a:ext cx="1809750" cy="342900"/>
          </a:xfrm>
          <a:prstGeom prst="roundRect">
            <a:avLst>
              <a:gd name="adj" fmla="val 33333"/>
            </a:avLst>
          </a:prstGeom>
          <a:solidFill>
            <a:srgbClr val="3266C6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305800" y="4714875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Edmonds-Karp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8172450" y="5124450"/>
            <a:ext cx="1809750" cy="342900"/>
          </a:xfrm>
          <a:prstGeom prst="roundRect">
            <a:avLst>
              <a:gd name="adj" fmla="val 33333"/>
            </a:avLst>
          </a:prstGeom>
          <a:solidFill>
            <a:srgbClr val="2F8F63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305800" y="5191125"/>
            <a:ext cx="1543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Dinic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76E3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C9D5DD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实验6 · 最大流应用</a:t>
            </a:r>
            <a:endParaRPr sz="975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050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5334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Ford-Fulkerson：DFS 找任意增广路</a:t>
            </a:r>
            <a:endParaRPr sz="30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104900"/>
            <a:ext cx="781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最基础的增广路算法：只要残量网络里还有路，就沿路增加流量。</a:t>
            </a:r>
            <a:endParaRPr sz="1425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819150" y="3143250"/>
            <a:ext cx="647700" cy="647700"/>
          </a:xfrm>
          <a:prstGeom prst="ellipse">
            <a:avLst/>
          </a:prstGeom>
          <a:solidFill>
            <a:srgbClr val="FCEFE8"/>
          </a:solidFill>
          <a:ln w="19050">
            <a:solidFill>
              <a:srgbClr val="C76E3A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2724150" y="2000250"/>
            <a:ext cx="647700" cy="647700"/>
          </a:xfrm>
          <a:prstGeom prst="ellipse">
            <a:avLst/>
          </a:prstGeom>
          <a:solidFill>
            <a:srgbClr val="FFF4DE"/>
          </a:solidFill>
          <a:ln w="19050">
            <a:solidFill>
              <a:srgbClr val="C76E3A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sz="15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2724150" y="4286250"/>
            <a:ext cx="647700" cy="647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5DD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15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4819650" y="2000250"/>
            <a:ext cx="647700" cy="647700"/>
          </a:xfrm>
          <a:prstGeom prst="ellipse">
            <a:avLst/>
          </a:prstGeom>
          <a:solidFill>
            <a:srgbClr val="FFF4DE"/>
          </a:solidFill>
          <a:ln w="19050">
            <a:solidFill>
              <a:srgbClr val="C76E3A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15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4819650" y="4286250"/>
            <a:ext cx="647700" cy="647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5DD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sz="15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6838950" y="3143250"/>
            <a:ext cx="647700" cy="647700"/>
          </a:xfrm>
          <a:prstGeom prst="ellipse">
            <a:avLst/>
          </a:prstGeom>
          <a:solidFill>
            <a:srgbClr val="FCEFE8"/>
          </a:solidFill>
          <a:ln w="19050">
            <a:solidFill>
              <a:srgbClr val="C76E3A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直接箭头连接符 48"/>
          <p:cNvCxnSpPr>
            <a:stCxn id="7" idx="7"/>
            <a:endCxn id="8" idx="3"/>
          </p:cNvCxnSpPr>
          <p:nvPr/>
        </p:nvCxnSpPr>
        <p:spPr>
          <a:xfrm flipV="1">
            <a:off x="1371997" y="2553097"/>
            <a:ext cx="1447007" cy="685007"/>
          </a:xfrm>
          <a:prstGeom prst="straightConnector1">
            <a:avLst/>
          </a:prstGeom>
          <a:ln w="47625">
            <a:solidFill>
              <a:srgbClr val="C76E3A"/>
            </a:solidFill>
            <a:prstDash val="solid"/>
            <a:tailEnd type="triangle" w="sm" len="sm"/>
          </a:ln>
        </p:spPr>
      </p:cxnSp>
      <p:cxnSp>
        <p:nvCxnSpPr>
          <p:cNvPr id="50" name="直接箭头连接符 49"/>
          <p:cNvCxnSpPr>
            <a:stCxn id="8" idx="6"/>
            <a:endCxn id="10" idx="2"/>
          </p:cNvCxnSpPr>
          <p:nvPr/>
        </p:nvCxnSpPr>
        <p:spPr>
          <a:xfrm>
            <a:off x="3371850" y="2324100"/>
            <a:ext cx="1447800" cy="0"/>
          </a:xfrm>
          <a:prstGeom prst="straightConnector1">
            <a:avLst/>
          </a:prstGeom>
          <a:ln w="47625">
            <a:solidFill>
              <a:srgbClr val="C76E3A"/>
            </a:solidFill>
            <a:prstDash val="solid"/>
            <a:tailEnd type="triangle" w="sm" len="sm"/>
          </a:ln>
        </p:spPr>
      </p:cxnSp>
      <p:cxnSp>
        <p:nvCxnSpPr>
          <p:cNvPr id="51" name="直接箭头连接符 50"/>
          <p:cNvCxnSpPr>
            <a:stCxn id="10" idx="5"/>
            <a:endCxn id="12" idx="1"/>
          </p:cNvCxnSpPr>
          <p:nvPr/>
        </p:nvCxnSpPr>
        <p:spPr>
          <a:xfrm>
            <a:off x="5372497" y="2553097"/>
            <a:ext cx="1561307" cy="685007"/>
          </a:xfrm>
          <a:prstGeom prst="straightConnector1">
            <a:avLst/>
          </a:prstGeom>
          <a:ln w="47625">
            <a:solidFill>
              <a:srgbClr val="C76E3A"/>
            </a:solidFill>
            <a:prstDash val="solid"/>
            <a:tailEnd type="triangle" w="sm" len="sm"/>
          </a:ln>
        </p:spPr>
      </p:cxnSp>
      <p:cxnSp>
        <p:nvCxnSpPr>
          <p:cNvPr id="52" name="直接箭头连接符 51"/>
          <p:cNvCxnSpPr>
            <a:stCxn id="7" idx="5"/>
            <a:endCxn id="9" idx="1"/>
          </p:cNvCxnSpPr>
          <p:nvPr/>
        </p:nvCxnSpPr>
        <p:spPr>
          <a:xfrm>
            <a:off x="1371997" y="3696097"/>
            <a:ext cx="1447007" cy="685007"/>
          </a:xfrm>
          <a:prstGeom prst="straightConnector1">
            <a:avLst/>
          </a:prstGeom>
          <a:ln w="19050">
            <a:solidFill>
              <a:srgbClr val="9AA8B5"/>
            </a:solidFill>
            <a:prstDash val="dash"/>
            <a:tailEnd type="triangle" w="sm" len="sm"/>
          </a:ln>
        </p:spPr>
      </p:cxnSp>
      <p:cxnSp>
        <p:nvCxnSpPr>
          <p:cNvPr id="53" name="直接箭头连接符 52"/>
          <p:cNvCxnSpPr>
            <a:stCxn id="9" idx="6"/>
            <a:endCxn id="11" idx="2"/>
          </p:cNvCxnSpPr>
          <p:nvPr/>
        </p:nvCxnSpPr>
        <p:spPr>
          <a:xfrm>
            <a:off x="3371850" y="4610100"/>
            <a:ext cx="1447800" cy="0"/>
          </a:xfrm>
          <a:prstGeom prst="straightConnector1">
            <a:avLst/>
          </a:prstGeom>
          <a:ln w="19050">
            <a:solidFill>
              <a:srgbClr val="9AA8B5"/>
            </a:solidFill>
            <a:prstDash val="dash"/>
            <a:tailEnd type="triangle" w="sm" len="sm"/>
          </a:ln>
        </p:spPr>
      </p:cxnSp>
      <p:cxnSp>
        <p:nvCxnSpPr>
          <p:cNvPr id="54" name="直接箭头连接符 53"/>
          <p:cNvCxnSpPr>
            <a:stCxn id="11" idx="7"/>
            <a:endCxn id="12" idx="3"/>
          </p:cNvCxnSpPr>
          <p:nvPr/>
        </p:nvCxnSpPr>
        <p:spPr>
          <a:xfrm flipV="1">
            <a:off x="5372497" y="3696097"/>
            <a:ext cx="1561307" cy="685007"/>
          </a:xfrm>
          <a:prstGeom prst="straightConnector1">
            <a:avLst/>
          </a:prstGeom>
          <a:ln w="19050">
            <a:solidFill>
              <a:srgbClr val="9AA8B5"/>
            </a:solidFill>
            <a:prstDash val="dash"/>
            <a:tailEnd type="triangle" w="sm" len="sm"/>
          </a:ln>
        </p:spPr>
      </p:cxnSp>
      <p:cxnSp>
        <p:nvCxnSpPr>
          <p:cNvPr id="55" name="直接箭头连接符 54"/>
          <p:cNvCxnSpPr>
            <a:stCxn id="8" idx="5"/>
            <a:endCxn id="11" idx="1"/>
          </p:cNvCxnSpPr>
          <p:nvPr/>
        </p:nvCxnSpPr>
        <p:spPr>
          <a:xfrm>
            <a:off x="3276997" y="2553097"/>
            <a:ext cx="1637507" cy="1828007"/>
          </a:xfrm>
          <a:prstGeom prst="straightConnector1">
            <a:avLst/>
          </a:prstGeom>
          <a:ln w="19050">
            <a:solidFill>
              <a:srgbClr val="9AA8B5"/>
            </a:solidFill>
            <a:prstDash val="dash"/>
            <a:tailEnd type="triangle" w="sm" len="sm"/>
          </a:ln>
        </p:spPr>
      </p:cxnSp>
      <p:cxnSp>
        <p:nvCxnSpPr>
          <p:cNvPr id="56" name="直接箭头连接符 55"/>
          <p:cNvCxnSpPr>
            <a:stCxn id="9" idx="7"/>
            <a:endCxn id="10" idx="3"/>
          </p:cNvCxnSpPr>
          <p:nvPr/>
        </p:nvCxnSpPr>
        <p:spPr>
          <a:xfrm flipV="1">
            <a:off x="3276997" y="2553097"/>
            <a:ext cx="1637507" cy="1828007"/>
          </a:xfrm>
          <a:prstGeom prst="straightConnector1">
            <a:avLst/>
          </a:prstGeom>
          <a:ln w="19050">
            <a:solidFill>
              <a:srgbClr val="9AA8B5"/>
            </a:solidFill>
            <a:prstDash val="dash"/>
            <a:tailEnd type="triangle" w="sm" len="sm"/>
          </a:ln>
        </p:spPr>
      </p:cxnSp>
      <p:sp>
        <p:nvSpPr>
          <p:cNvPr id="21" name="矩形 20"/>
          <p:cNvSpPr>
            <a:spLocks noGrp="1"/>
          </p:cNvSpPr>
          <p:nvPr/>
        </p:nvSpPr>
        <p:spPr>
          <a:xfrm>
            <a:off x="2495550" y="1562100"/>
            <a:ext cx="3619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 可能先走这条路径</a:t>
            </a:r>
            <a:endParaRPr sz="1800" b="1">
              <a:solidFill>
                <a:srgbClr val="C76E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2952750" y="5048250"/>
            <a:ext cx="304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 → A → C → t</a:t>
            </a:r>
            <a:endParaRPr sz="2100" b="1">
              <a:solidFill>
                <a:srgbClr val="C76E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2914650" y="5524500"/>
            <a:ext cx="3238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瓶颈容量 = 路径上最小残量</a:t>
            </a:r>
            <a:endParaRPr sz="150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1809750" y="24003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75" b="1">
              <a:solidFill>
                <a:srgbClr val="C76E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3848100" y="20383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75" b="1">
              <a:solidFill>
                <a:srgbClr val="C76E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5943600" y="24003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75" b="1">
              <a:solidFill>
                <a:srgbClr val="C76E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7810500" y="1676400"/>
            <a:ext cx="3429000" cy="1619250"/>
          </a:xfrm>
          <a:prstGeom prst="roundRect">
            <a:avLst>
              <a:gd name="adj" fmla="val 7059"/>
            </a:avLst>
          </a:prstGeom>
          <a:solidFill>
            <a:srgbClr val="0F1F2D"/>
          </a:solidFill>
          <a:ln w="19050">
            <a:solidFill>
              <a:srgbClr val="C76E3A"/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020050" y="1847850"/>
            <a:ext cx="3009900" cy="1276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AF3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EAF3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 ((pushed = dfs(s, t, INF, visited)) &gt; 0) {</a:t>
            </a:r>
            <a:endParaRPr sz="1275" b="0">
              <a:solidFill>
                <a:srgbClr val="EAF3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EAF3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EAF3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flow += pushed;</a:t>
            </a:r>
            <a:endParaRPr sz="1275" b="0">
              <a:solidFill>
                <a:srgbClr val="EAF3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EAF3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EAF3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sz="1275" b="0">
              <a:solidFill>
                <a:srgbClr val="EAF3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275"/>
          </a:p>
          <a:p>
            <a:pPr algn="l">
              <a:defRPr sz="1275" b="0">
                <a:solidFill>
                  <a:srgbClr val="EAF3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EAF3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edge.capacity -= pushed;</a:t>
            </a:r>
            <a:endParaRPr sz="1275" b="0">
              <a:solidFill>
                <a:srgbClr val="EAF3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EAF3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EAF3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reverse.capacity += pushed;</a:t>
            </a:r>
            <a:endParaRPr sz="1275" b="0">
              <a:solidFill>
                <a:srgbClr val="EAF3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8020050" y="3676650"/>
            <a:ext cx="76200" cy="800100"/>
          </a:xfrm>
          <a:prstGeom prst="rect">
            <a:avLst/>
          </a:prstGeom>
          <a:solidFill>
            <a:srgbClr val="C76E3A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8248650" y="3676650"/>
            <a:ext cx="3009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实现特点</a:t>
            </a:r>
            <a:endParaRPr sz="17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248650" y="4038600"/>
            <a:ext cx="3009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 找到哪条可行路就先用哪条，路径选择比较随意。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020050" y="4762500"/>
            <a:ext cx="76200" cy="800100"/>
          </a:xfrm>
          <a:prstGeom prst="rect">
            <a:avLst/>
          </a:prstGeom>
          <a:solidFill>
            <a:srgbClr val="D84A4A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248650" y="4762500"/>
            <a:ext cx="3009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主要问题</a:t>
            </a:r>
            <a:endParaRPr sz="17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248650" y="5124450"/>
            <a:ext cx="30099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如果每次选到的路径不好，可能只增加很少流量。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8896350" y="5753100"/>
            <a:ext cx="1809750" cy="342900"/>
          </a:xfrm>
          <a:prstGeom prst="roundRect">
            <a:avLst>
              <a:gd name="adj" fmla="val 33333"/>
            </a:avLst>
          </a:prstGeom>
          <a:solidFill>
            <a:srgbClr val="C76E3A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010650" y="5819775"/>
            <a:ext cx="1581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复杂度：O(EF)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3266C6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C9D5DD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实验6 · 最大流应用</a:t>
            </a:r>
            <a:endParaRPr sz="975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050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5334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Edmonds-Karp：BFS 找最短增广路</a:t>
            </a:r>
            <a:endParaRPr sz="30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104900"/>
            <a:ext cx="781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它是 Ford-Fulkerson 的稳定版本：每次都选择边数最少的路径。</a:t>
            </a:r>
            <a:endParaRPr sz="1425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781050" y="3181350"/>
            <a:ext cx="647700" cy="647700"/>
          </a:xfrm>
          <a:prstGeom prst="ellipse">
            <a:avLst/>
          </a:prstGeom>
          <a:solidFill>
            <a:srgbClr val="F0F5FF"/>
          </a:solidFill>
          <a:ln w="19050">
            <a:solidFill>
              <a:srgbClr val="3266C6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2647950" y="2000250"/>
            <a:ext cx="647700" cy="647700"/>
          </a:xfrm>
          <a:prstGeom prst="ellipse">
            <a:avLst/>
          </a:prstGeom>
          <a:solidFill>
            <a:srgbClr val="F0F5FF"/>
          </a:solidFill>
          <a:ln w="19050">
            <a:solidFill>
              <a:srgbClr val="3266C6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sz="15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2647950" y="4362450"/>
            <a:ext cx="647700" cy="647700"/>
          </a:xfrm>
          <a:prstGeom prst="ellipse">
            <a:avLst/>
          </a:prstGeom>
          <a:solidFill>
            <a:srgbClr val="F0F5FF"/>
          </a:solidFill>
          <a:ln w="19050">
            <a:solidFill>
              <a:srgbClr val="3266C6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15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4800600" y="2000250"/>
            <a:ext cx="647700" cy="6477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9D5DD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15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4800600" y="4362450"/>
            <a:ext cx="647700" cy="647700"/>
          </a:xfrm>
          <a:prstGeom prst="ellipse">
            <a:avLst/>
          </a:prstGeom>
          <a:solidFill>
            <a:srgbClr val="F0F5FF"/>
          </a:solidFill>
          <a:ln w="19050">
            <a:solidFill>
              <a:srgbClr val="3266C6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sz="15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6896100" y="3181350"/>
            <a:ext cx="647700" cy="647700"/>
          </a:xfrm>
          <a:prstGeom prst="ellipse">
            <a:avLst/>
          </a:prstGeom>
          <a:solidFill>
            <a:srgbClr val="F0F5FF"/>
          </a:solidFill>
          <a:ln w="19050">
            <a:solidFill>
              <a:srgbClr val="3266C6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28650" y="1676400"/>
            <a:ext cx="876300" cy="4000500"/>
          </a:xfrm>
          <a:prstGeom prst="rect">
            <a:avLst/>
          </a:prstGeom>
          <a:solidFill>
            <a:srgbClr val="EAF0FF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419350" y="1676400"/>
            <a:ext cx="1104900" cy="4000500"/>
          </a:xfrm>
          <a:prstGeom prst="rect">
            <a:avLst/>
          </a:prstGeom>
          <a:solidFill>
            <a:srgbClr val="F4F7FF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4591050" y="1676400"/>
            <a:ext cx="1104900" cy="4000500"/>
          </a:xfrm>
          <a:prstGeom prst="rect">
            <a:avLst/>
          </a:prstGeom>
          <a:solidFill>
            <a:srgbClr val="F4F7FF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6743700" y="1676400"/>
            <a:ext cx="952500" cy="4000500"/>
          </a:xfrm>
          <a:prstGeom prst="rect">
            <a:avLst/>
          </a:prstGeom>
          <a:solidFill>
            <a:srgbClr val="EAF0FF"/>
          </a:solidFill>
          <a:ln w="0">
            <a:noFill/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857250" y="17145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L0</a:t>
            </a:r>
            <a:endParaRPr sz="1200" b="1">
              <a:solidFill>
                <a:srgbClr val="326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2781300" y="17145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L1</a:t>
            </a:r>
            <a:endParaRPr sz="1200" b="1">
              <a:solidFill>
                <a:srgbClr val="326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4933950" y="17145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</a:t>
            </a:r>
            <a:endParaRPr sz="1200" b="1">
              <a:solidFill>
                <a:srgbClr val="326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029450" y="17145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L3</a:t>
            </a:r>
            <a:endParaRPr sz="1200" b="1">
              <a:solidFill>
                <a:srgbClr val="326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0" name="直接箭头连接符 59"/>
          <p:cNvCxnSpPr>
            <a:stCxn id="7" idx="5"/>
            <a:endCxn id="9" idx="1"/>
          </p:cNvCxnSpPr>
          <p:nvPr/>
        </p:nvCxnSpPr>
        <p:spPr>
          <a:xfrm>
            <a:off x="1333897" y="3734197"/>
            <a:ext cx="1408907" cy="723107"/>
          </a:xfrm>
          <a:prstGeom prst="straightConnector1">
            <a:avLst/>
          </a:prstGeom>
          <a:ln w="47625">
            <a:solidFill>
              <a:srgbClr val="3266C6"/>
            </a:solidFill>
            <a:prstDash val="solid"/>
            <a:tailEnd type="triangle" w="sm" len="sm"/>
          </a:ln>
        </p:spPr>
      </p:cxnSp>
      <p:cxnSp>
        <p:nvCxnSpPr>
          <p:cNvPr id="61" name="直接箭头连接符 60"/>
          <p:cNvCxnSpPr>
            <a:stCxn id="9" idx="6"/>
            <a:endCxn id="11" idx="2"/>
          </p:cNvCxnSpPr>
          <p:nvPr/>
        </p:nvCxnSpPr>
        <p:spPr>
          <a:xfrm>
            <a:off x="3295650" y="4686300"/>
            <a:ext cx="1504950" cy="0"/>
          </a:xfrm>
          <a:prstGeom prst="straightConnector1">
            <a:avLst/>
          </a:prstGeom>
          <a:ln w="47625">
            <a:solidFill>
              <a:srgbClr val="3266C6"/>
            </a:solidFill>
            <a:prstDash val="solid"/>
            <a:tailEnd type="triangle" w="sm" len="sm"/>
          </a:ln>
        </p:spPr>
      </p:cxnSp>
      <p:cxnSp>
        <p:nvCxnSpPr>
          <p:cNvPr id="62" name="直接箭头连接符 61"/>
          <p:cNvCxnSpPr>
            <a:stCxn id="11" idx="7"/>
            <a:endCxn id="12" idx="3"/>
          </p:cNvCxnSpPr>
          <p:nvPr/>
        </p:nvCxnSpPr>
        <p:spPr>
          <a:xfrm flipV="1">
            <a:off x="5353447" y="3734197"/>
            <a:ext cx="1637507" cy="723107"/>
          </a:xfrm>
          <a:prstGeom prst="straightConnector1">
            <a:avLst/>
          </a:prstGeom>
          <a:ln w="47625">
            <a:solidFill>
              <a:srgbClr val="3266C6"/>
            </a:solidFill>
            <a:prstDash val="solid"/>
            <a:tailEnd type="triangle" w="sm" len="sm"/>
          </a:ln>
        </p:spPr>
      </p:cxnSp>
      <p:cxnSp>
        <p:nvCxnSpPr>
          <p:cNvPr id="63" name="直接箭头连接符 62"/>
          <p:cNvCxnSpPr>
            <a:stCxn id="7" idx="7"/>
            <a:endCxn id="8" idx="3"/>
          </p:cNvCxnSpPr>
          <p:nvPr/>
        </p:nvCxnSpPr>
        <p:spPr>
          <a:xfrm flipV="1">
            <a:off x="1333897" y="2553097"/>
            <a:ext cx="1408907" cy="723107"/>
          </a:xfrm>
          <a:prstGeom prst="straightConnector1">
            <a:avLst/>
          </a:prstGeom>
          <a:ln w="19050">
            <a:solidFill>
              <a:srgbClr val="9AA8B5"/>
            </a:solidFill>
            <a:prstDash val="dash"/>
            <a:tailEnd type="triangle" w="sm" len="sm"/>
          </a:ln>
        </p:spPr>
      </p:cxnSp>
      <p:cxnSp>
        <p:nvCxnSpPr>
          <p:cNvPr id="64" name="直接箭头连接符 63"/>
          <p:cNvCxnSpPr>
            <a:stCxn id="8" idx="6"/>
            <a:endCxn id="10" idx="2"/>
          </p:cNvCxnSpPr>
          <p:nvPr/>
        </p:nvCxnSpPr>
        <p:spPr>
          <a:xfrm>
            <a:off x="3295650" y="2324100"/>
            <a:ext cx="1504950" cy="0"/>
          </a:xfrm>
          <a:prstGeom prst="straightConnector1">
            <a:avLst/>
          </a:prstGeom>
          <a:ln w="19050">
            <a:solidFill>
              <a:srgbClr val="9AA8B5"/>
            </a:solidFill>
            <a:prstDash val="dash"/>
            <a:tailEnd type="triangle" w="sm" len="sm"/>
          </a:ln>
        </p:spPr>
      </p:cxnSp>
      <p:cxnSp>
        <p:nvCxnSpPr>
          <p:cNvPr id="65" name="直接箭头连接符 64"/>
          <p:cNvCxnSpPr>
            <a:stCxn id="10" idx="5"/>
            <a:endCxn id="12" idx="1"/>
          </p:cNvCxnSpPr>
          <p:nvPr/>
        </p:nvCxnSpPr>
        <p:spPr>
          <a:xfrm>
            <a:off x="5353447" y="2553097"/>
            <a:ext cx="1637507" cy="723107"/>
          </a:xfrm>
          <a:prstGeom prst="straightConnector1">
            <a:avLst/>
          </a:prstGeom>
          <a:ln w="19050">
            <a:solidFill>
              <a:srgbClr val="9AA8B5"/>
            </a:solidFill>
            <a:prstDash val="dash"/>
            <a:tailEnd type="triangle" w="sm" len="sm"/>
          </a:ln>
        </p:spPr>
      </p:cxnSp>
      <p:cxnSp>
        <p:nvCxnSpPr>
          <p:cNvPr id="66" name="直接箭头连接符 65"/>
          <p:cNvCxnSpPr>
            <a:stCxn id="8" idx="5"/>
            <a:endCxn id="11" idx="1"/>
          </p:cNvCxnSpPr>
          <p:nvPr/>
        </p:nvCxnSpPr>
        <p:spPr>
          <a:xfrm>
            <a:off x="3200797" y="2553097"/>
            <a:ext cx="1694657" cy="1904207"/>
          </a:xfrm>
          <a:prstGeom prst="straightConnector1">
            <a:avLst/>
          </a:prstGeom>
          <a:ln w="19050">
            <a:solidFill>
              <a:srgbClr val="9AA8B5"/>
            </a:solidFill>
            <a:prstDash val="dash"/>
            <a:tailEnd type="triangle" w="sm" len="sm"/>
          </a:ln>
        </p:spPr>
      </p:cxnSp>
      <p:cxnSp>
        <p:nvCxnSpPr>
          <p:cNvPr id="67" name="直接箭头连接符 66"/>
          <p:cNvCxnSpPr>
            <a:stCxn id="9" idx="7"/>
            <a:endCxn id="10" idx="3"/>
          </p:cNvCxnSpPr>
          <p:nvPr/>
        </p:nvCxnSpPr>
        <p:spPr>
          <a:xfrm flipV="1">
            <a:off x="3200797" y="2553097"/>
            <a:ext cx="1694657" cy="1904207"/>
          </a:xfrm>
          <a:prstGeom prst="straightConnector1">
            <a:avLst/>
          </a:prstGeom>
          <a:ln w="19050">
            <a:solidFill>
              <a:srgbClr val="9AA8B5"/>
            </a:solidFill>
            <a:prstDash val="dash"/>
            <a:tailEnd type="triangle" w="sm" len="sm"/>
          </a:ln>
        </p:spPr>
      </p:cxnSp>
      <p:sp>
        <p:nvSpPr>
          <p:cNvPr id="29" name="矩形 28"/>
          <p:cNvSpPr>
            <a:spLocks noGrp="1"/>
          </p:cNvSpPr>
          <p:nvPr/>
        </p:nvSpPr>
        <p:spPr>
          <a:xfrm>
            <a:off x="1885950" y="59055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BFS 按层扩展，选边数最少的增广路</a:t>
            </a:r>
            <a:endParaRPr sz="1725" b="1">
              <a:solidFill>
                <a:srgbClr val="326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7962900" y="1676400"/>
            <a:ext cx="3143250" cy="1409700"/>
          </a:xfrm>
          <a:prstGeom prst="roundRect">
            <a:avLst>
              <a:gd name="adj" fmla="val 8108"/>
            </a:avLst>
          </a:prstGeom>
          <a:solidFill>
            <a:srgbClr val="0F1F2D"/>
          </a:solidFill>
          <a:ln w="19050">
            <a:solidFill>
              <a:srgbClr val="3266C6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8172450" y="1847850"/>
            <a:ext cx="27241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EAF3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EAF3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 (bfsFindPath(s, t, parent)) {</a:t>
            </a:r>
            <a:endParaRPr sz="1275" b="0">
              <a:solidFill>
                <a:srgbClr val="EAF3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EAF3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EAF3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bottleNeck = min(edge.capacity on path);</a:t>
            </a:r>
            <a:endParaRPr sz="1275" b="0">
              <a:solidFill>
                <a:srgbClr val="EAF3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EAF3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EAF3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update residual network;</a:t>
            </a:r>
            <a:endParaRPr sz="1275" b="0">
              <a:solidFill>
                <a:srgbClr val="EAF3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EAF3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EAF3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flow += bottleNeck;</a:t>
            </a:r>
            <a:endParaRPr sz="1275" b="0">
              <a:solidFill>
                <a:srgbClr val="EAF3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275" b="0">
                <a:solidFill>
                  <a:srgbClr val="EAF3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EAF3F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}</a:t>
            </a:r>
            <a:endParaRPr sz="1275" b="0">
              <a:solidFill>
                <a:srgbClr val="EAF3F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8096250" y="3505200"/>
            <a:ext cx="76200" cy="800100"/>
          </a:xfrm>
          <a:prstGeom prst="rect">
            <a:avLst/>
          </a:prstGeom>
          <a:solidFill>
            <a:srgbClr val="3266C6"/>
          </a:solidFill>
          <a:ln w="0">
            <a:noFill/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8324850" y="3505200"/>
            <a:ext cx="2914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 FF</a:t>
            </a:r>
            <a:endParaRPr sz="17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324850" y="3867150"/>
            <a:ext cx="2914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把“任意 DFS 路径”改成“BFS 最短增广路”。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8096250" y="4686300"/>
            <a:ext cx="76200" cy="800100"/>
          </a:xfrm>
          <a:prstGeom prst="rect">
            <a:avLst/>
          </a:prstGeom>
          <a:solidFill>
            <a:srgbClr val="C76E3A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324850" y="4686300"/>
            <a:ext cx="2914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限制</a:t>
            </a:r>
            <a:endParaRPr sz="17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8324850" y="5048250"/>
            <a:ext cx="2914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 BFS 仍主要增广一条路径，规模大时重复搜索多。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圆角矩形 37"/>
          <p:cNvSpPr>
            <a:spLocks noGrp="1"/>
          </p:cNvSpPr>
          <p:nvPr/>
        </p:nvSpPr>
        <p:spPr>
          <a:xfrm>
            <a:off x="8896350" y="5753100"/>
            <a:ext cx="1962150" cy="342900"/>
          </a:xfrm>
          <a:prstGeom prst="roundRect">
            <a:avLst>
              <a:gd name="adj" fmla="val 33333"/>
            </a:avLst>
          </a:prstGeom>
          <a:solidFill>
            <a:srgbClr val="3266C6"/>
          </a:solidFill>
          <a:ln w="0">
            <a:noFill/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9010650" y="5819775"/>
            <a:ext cx="17335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复杂度：O(VE²)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F8F63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C9D5DD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实验6 · 最大流应用</a:t>
            </a:r>
            <a:endParaRPr sz="975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050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533400"/>
            <a:ext cx="8572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Dinic：分层图 + 阻塞流</a:t>
            </a:r>
            <a:endParaRPr sz="30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104900"/>
            <a:ext cx="781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不是一条一条地慢慢找，而是在一张分层图里尽量一次推多条流。</a:t>
            </a:r>
            <a:endParaRPr sz="1425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椭圆 7"/>
          <p:cNvSpPr>
            <a:spLocks noGrp="1"/>
          </p:cNvSpPr>
          <p:nvPr/>
        </p:nvSpPr>
        <p:spPr>
          <a:xfrm>
            <a:off x="800100" y="3181350"/>
            <a:ext cx="647700" cy="647700"/>
          </a:xfrm>
          <a:prstGeom prst="ellipse">
            <a:avLst/>
          </a:prstGeom>
          <a:solidFill>
            <a:srgbClr val="E8F5EE"/>
          </a:solidFill>
          <a:ln w="19050">
            <a:solidFill>
              <a:srgbClr val="2F8F6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椭圆 8"/>
          <p:cNvSpPr>
            <a:spLocks noGrp="1"/>
          </p:cNvSpPr>
          <p:nvPr/>
        </p:nvSpPr>
        <p:spPr>
          <a:xfrm>
            <a:off x="2686050" y="2000250"/>
            <a:ext cx="647700" cy="647700"/>
          </a:xfrm>
          <a:prstGeom prst="ellipse">
            <a:avLst/>
          </a:prstGeom>
          <a:solidFill>
            <a:srgbClr val="E8F5EE"/>
          </a:solidFill>
          <a:ln w="19050">
            <a:solidFill>
              <a:srgbClr val="2F8F63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sz="15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椭圆 9"/>
          <p:cNvSpPr>
            <a:spLocks noGrp="1"/>
          </p:cNvSpPr>
          <p:nvPr/>
        </p:nvSpPr>
        <p:spPr>
          <a:xfrm>
            <a:off x="2686050" y="4362450"/>
            <a:ext cx="647700" cy="647700"/>
          </a:xfrm>
          <a:prstGeom prst="ellipse">
            <a:avLst/>
          </a:prstGeom>
          <a:solidFill>
            <a:srgbClr val="E8F5EE"/>
          </a:solidFill>
          <a:ln w="19050">
            <a:solidFill>
              <a:srgbClr val="2F8F63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15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椭圆 10"/>
          <p:cNvSpPr>
            <a:spLocks noGrp="1"/>
          </p:cNvSpPr>
          <p:nvPr/>
        </p:nvSpPr>
        <p:spPr>
          <a:xfrm>
            <a:off x="4914900" y="2000250"/>
            <a:ext cx="647700" cy="647700"/>
          </a:xfrm>
          <a:prstGeom prst="ellipse">
            <a:avLst/>
          </a:prstGeom>
          <a:solidFill>
            <a:srgbClr val="E8F5EE"/>
          </a:solidFill>
          <a:ln w="19050">
            <a:solidFill>
              <a:srgbClr val="2F8F63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15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椭圆 11"/>
          <p:cNvSpPr>
            <a:spLocks noGrp="1"/>
          </p:cNvSpPr>
          <p:nvPr/>
        </p:nvSpPr>
        <p:spPr>
          <a:xfrm>
            <a:off x="4914900" y="4362450"/>
            <a:ext cx="647700" cy="647700"/>
          </a:xfrm>
          <a:prstGeom prst="ellipse">
            <a:avLst/>
          </a:prstGeom>
          <a:solidFill>
            <a:srgbClr val="E8F5EE"/>
          </a:solidFill>
          <a:ln w="19050">
            <a:solidFill>
              <a:srgbClr val="2F8F63"/>
            </a:solidFill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sz="15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椭圆 12"/>
          <p:cNvSpPr>
            <a:spLocks noGrp="1"/>
          </p:cNvSpPr>
          <p:nvPr/>
        </p:nvSpPr>
        <p:spPr>
          <a:xfrm>
            <a:off x="6991350" y="3181350"/>
            <a:ext cx="647700" cy="647700"/>
          </a:xfrm>
          <a:prstGeom prst="ellipse">
            <a:avLst/>
          </a:prstGeom>
          <a:solidFill>
            <a:srgbClr val="E8F5EE"/>
          </a:solidFill>
          <a:ln w="19050">
            <a:solidFill>
              <a:srgbClr val="2F8F63"/>
            </a:solidFill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04850" y="17907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level 0</a:t>
            </a:r>
            <a:endParaRPr sz="1200" b="1">
              <a:solidFill>
                <a:srgbClr val="2F8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2571750" y="17907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level 1</a:t>
            </a:r>
            <a:endParaRPr sz="1200" b="1">
              <a:solidFill>
                <a:srgbClr val="2F8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800600" y="17907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level 2</a:t>
            </a:r>
            <a:endParaRPr sz="1200" b="1">
              <a:solidFill>
                <a:srgbClr val="2F8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896100" y="179070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level 3</a:t>
            </a:r>
            <a:endParaRPr sz="1200" b="1">
              <a:solidFill>
                <a:srgbClr val="2F8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5" name="直接箭头连接符 54"/>
          <p:cNvCxnSpPr>
            <a:stCxn id="7" idx="7"/>
            <a:endCxn id="8" idx="3"/>
          </p:cNvCxnSpPr>
          <p:nvPr/>
        </p:nvCxnSpPr>
        <p:spPr>
          <a:xfrm flipV="1">
            <a:off x="1352947" y="2553097"/>
            <a:ext cx="1427957" cy="723107"/>
          </a:xfrm>
          <a:prstGeom prst="straightConnector1">
            <a:avLst/>
          </a:prstGeom>
          <a:ln w="47625">
            <a:solidFill>
              <a:srgbClr val="2F8F63"/>
            </a:solidFill>
            <a:prstDash val="solid"/>
            <a:tailEnd type="triangle" w="sm" len="sm"/>
          </a:ln>
        </p:spPr>
      </p:cxnSp>
      <p:cxnSp>
        <p:nvCxnSpPr>
          <p:cNvPr id="56" name="直接箭头连接符 55"/>
          <p:cNvCxnSpPr>
            <a:stCxn id="8" idx="6"/>
            <a:endCxn id="10" idx="2"/>
          </p:cNvCxnSpPr>
          <p:nvPr/>
        </p:nvCxnSpPr>
        <p:spPr>
          <a:xfrm>
            <a:off x="3333750" y="2324100"/>
            <a:ext cx="1581150" cy="0"/>
          </a:xfrm>
          <a:prstGeom prst="straightConnector1">
            <a:avLst/>
          </a:prstGeom>
          <a:ln w="47625">
            <a:solidFill>
              <a:srgbClr val="2F8F63"/>
            </a:solidFill>
            <a:prstDash val="solid"/>
            <a:tailEnd type="triangle" w="sm" len="sm"/>
          </a:ln>
        </p:spPr>
      </p:cxnSp>
      <p:cxnSp>
        <p:nvCxnSpPr>
          <p:cNvPr id="57" name="直接箭头连接符 56"/>
          <p:cNvCxnSpPr>
            <a:stCxn id="10" idx="5"/>
            <a:endCxn id="12" idx="1"/>
          </p:cNvCxnSpPr>
          <p:nvPr/>
        </p:nvCxnSpPr>
        <p:spPr>
          <a:xfrm>
            <a:off x="5467747" y="2553097"/>
            <a:ext cx="1618457" cy="723107"/>
          </a:xfrm>
          <a:prstGeom prst="straightConnector1">
            <a:avLst/>
          </a:prstGeom>
          <a:ln w="47625">
            <a:solidFill>
              <a:srgbClr val="2F8F63"/>
            </a:solidFill>
            <a:prstDash val="solid"/>
            <a:tailEnd type="triangle" w="sm" len="sm"/>
          </a:ln>
        </p:spPr>
      </p:cxnSp>
      <p:cxnSp>
        <p:nvCxnSpPr>
          <p:cNvPr id="58" name="直接箭头连接符 57"/>
          <p:cNvCxnSpPr>
            <a:stCxn id="7" idx="5"/>
            <a:endCxn id="9" idx="1"/>
          </p:cNvCxnSpPr>
          <p:nvPr/>
        </p:nvCxnSpPr>
        <p:spPr>
          <a:xfrm>
            <a:off x="1352947" y="3734197"/>
            <a:ext cx="1427957" cy="723107"/>
          </a:xfrm>
          <a:prstGeom prst="straightConnector1">
            <a:avLst/>
          </a:prstGeom>
          <a:ln w="47625">
            <a:solidFill>
              <a:srgbClr val="2F8F63"/>
            </a:solidFill>
            <a:prstDash val="solid"/>
            <a:tailEnd type="triangle" w="sm" len="sm"/>
          </a:ln>
        </p:spPr>
      </p:cxnSp>
      <p:cxnSp>
        <p:nvCxnSpPr>
          <p:cNvPr id="59" name="直接箭头连接符 58"/>
          <p:cNvCxnSpPr>
            <a:stCxn id="9" idx="6"/>
            <a:endCxn id="11" idx="2"/>
          </p:cNvCxnSpPr>
          <p:nvPr/>
        </p:nvCxnSpPr>
        <p:spPr>
          <a:xfrm>
            <a:off x="3333750" y="4686300"/>
            <a:ext cx="1581150" cy="0"/>
          </a:xfrm>
          <a:prstGeom prst="straightConnector1">
            <a:avLst/>
          </a:prstGeom>
          <a:ln w="47625">
            <a:solidFill>
              <a:srgbClr val="2F8F63"/>
            </a:solidFill>
            <a:prstDash val="solid"/>
            <a:tailEnd type="triangle" w="sm" len="sm"/>
          </a:ln>
        </p:spPr>
      </p:cxnSp>
      <p:cxnSp>
        <p:nvCxnSpPr>
          <p:cNvPr id="60" name="直接箭头连接符 59"/>
          <p:cNvCxnSpPr>
            <a:stCxn id="11" idx="7"/>
            <a:endCxn id="12" idx="3"/>
          </p:cNvCxnSpPr>
          <p:nvPr/>
        </p:nvCxnSpPr>
        <p:spPr>
          <a:xfrm flipV="1">
            <a:off x="5467747" y="3734197"/>
            <a:ext cx="1618457" cy="723107"/>
          </a:xfrm>
          <a:prstGeom prst="straightConnector1">
            <a:avLst/>
          </a:prstGeom>
          <a:ln w="47625">
            <a:solidFill>
              <a:srgbClr val="2F8F63"/>
            </a:solidFill>
            <a:prstDash val="solid"/>
            <a:tailEnd type="triangle" w="sm" len="sm"/>
          </a:ln>
        </p:spPr>
      </p:cxnSp>
      <p:cxnSp>
        <p:nvCxnSpPr>
          <p:cNvPr id="61" name="直接箭头连接符 60"/>
          <p:cNvCxnSpPr>
            <a:stCxn id="8" idx="5"/>
            <a:endCxn id="11" idx="1"/>
          </p:cNvCxnSpPr>
          <p:nvPr/>
        </p:nvCxnSpPr>
        <p:spPr>
          <a:xfrm>
            <a:off x="3238897" y="2553097"/>
            <a:ext cx="1770857" cy="1904207"/>
          </a:xfrm>
          <a:prstGeom prst="straightConnector1">
            <a:avLst/>
          </a:prstGeom>
          <a:ln w="19050">
            <a:solidFill>
              <a:srgbClr val="9AA8B5"/>
            </a:solidFill>
            <a:prstDash val="dash"/>
            <a:tailEnd type="triangle" w="sm" len="sm"/>
          </a:ln>
        </p:spPr>
      </p:cxnSp>
      <p:cxnSp>
        <p:nvCxnSpPr>
          <p:cNvPr id="62" name="直接箭头连接符 61"/>
          <p:cNvCxnSpPr>
            <a:stCxn id="9" idx="7"/>
            <a:endCxn id="10" idx="3"/>
          </p:cNvCxnSpPr>
          <p:nvPr/>
        </p:nvCxnSpPr>
        <p:spPr>
          <a:xfrm flipV="1">
            <a:off x="3238897" y="2553097"/>
            <a:ext cx="1770857" cy="1904207"/>
          </a:xfrm>
          <a:prstGeom prst="straightConnector1">
            <a:avLst/>
          </a:prstGeom>
          <a:ln w="19050">
            <a:solidFill>
              <a:srgbClr val="9AA8B5"/>
            </a:solidFill>
            <a:prstDash val="dash"/>
            <a:tailEnd type="triangle" w="sm" len="sm"/>
          </a:ln>
        </p:spPr>
      </p:cxnSp>
      <p:sp>
        <p:nvSpPr>
          <p:cNvPr id="25" name="矩形 24"/>
          <p:cNvSpPr>
            <a:spLocks noGrp="1"/>
          </p:cNvSpPr>
          <p:nvPr/>
        </p:nvSpPr>
        <p:spPr>
          <a:xfrm>
            <a:off x="1447800" y="5905500"/>
            <a:ext cx="542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725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一轮 BFS 建好分层图后，DFS 在图中连续推多条流</a:t>
            </a:r>
            <a:endParaRPr sz="1725" b="1">
              <a:solidFill>
                <a:srgbClr val="2F8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圆角矩形 25"/>
          <p:cNvSpPr>
            <a:spLocks noGrp="1"/>
          </p:cNvSpPr>
          <p:nvPr/>
        </p:nvSpPr>
        <p:spPr>
          <a:xfrm>
            <a:off x="2724150" y="5219700"/>
            <a:ext cx="2952750" cy="342900"/>
          </a:xfrm>
          <a:prstGeom prst="roundRect">
            <a:avLst>
              <a:gd name="adj" fmla="val 33333"/>
            </a:avLst>
          </a:prstGeom>
          <a:solidFill>
            <a:srgbClr val="2F8F63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2838450" y="5286375"/>
            <a:ext cx="2724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阻塞流：当前分层图再也推不动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8134350" y="1657350"/>
            <a:ext cx="76200" cy="800100"/>
          </a:xfrm>
          <a:prstGeom prst="rect">
            <a:avLst/>
          </a:prstGeom>
          <a:solidFill>
            <a:srgbClr val="3266C6"/>
          </a:solidFill>
          <a:ln w="0">
            <a:noFill/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8362950" y="1657350"/>
            <a:ext cx="2914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level[]</a:t>
            </a:r>
            <a:endParaRPr sz="17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362950" y="2019300"/>
            <a:ext cx="2914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记录 BFS 层数，DFS 只能从第 k 层走到第 k+1 层。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8134350" y="2895600"/>
            <a:ext cx="76200" cy="800100"/>
          </a:xfrm>
          <a:prstGeom prst="rect">
            <a:avLst/>
          </a:prstGeom>
          <a:solidFill>
            <a:srgbClr val="2F8F63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362950" y="2895600"/>
            <a:ext cx="2914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next[]</a:t>
            </a:r>
            <a:endParaRPr sz="17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8362950" y="3257550"/>
            <a:ext cx="2914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当前弧优化，已经扫过且无效的边不再重复扫描。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134350" y="4133850"/>
            <a:ext cx="76200" cy="800100"/>
          </a:xfrm>
          <a:prstGeom prst="rect">
            <a:avLst/>
          </a:prstGeom>
          <a:solidFill>
            <a:srgbClr val="C76E3A"/>
          </a:solidFill>
          <a:ln w="0">
            <a:noFill/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8362950" y="4133850"/>
            <a:ext cx="2914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为什么快</a:t>
            </a:r>
            <a:endParaRPr sz="17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8362950" y="4495800"/>
            <a:ext cx="2914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Edmonds-Karp 一轮一条路；Dinic 一轮分层图可推多条路。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8858250" y="5581650"/>
            <a:ext cx="2057400" cy="342900"/>
          </a:xfrm>
          <a:prstGeom prst="roundRect">
            <a:avLst>
              <a:gd name="adj" fmla="val 33333"/>
            </a:avLst>
          </a:prstGeom>
          <a:solidFill>
            <a:srgbClr val="2F8F63"/>
          </a:solidFill>
          <a:ln w="0">
            <a:noFill/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8972550" y="5648325"/>
            <a:ext cx="18288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一般复杂度：O(V²E)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76E3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C9D5DD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实验6 · 最大流应用</a:t>
            </a:r>
            <a:endParaRPr sz="975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50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5334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Dinic：分层图 + 阻塞流</a:t>
            </a:r>
            <a:endParaRPr sz="30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104900"/>
            <a:ext cx="742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 BFS 后尽量推送多条增广流，减少重复搜索。</a:t>
            </a:r>
            <a:endParaRPr sz="1425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838200" y="2724150"/>
            <a:ext cx="1619250" cy="952500"/>
          </a:xfrm>
          <a:prstGeom prst="roundRect">
            <a:avLst>
              <a:gd name="adj" fmla="val 12000"/>
            </a:avLst>
          </a:prstGeom>
          <a:solidFill>
            <a:srgbClr val="F0F5FF"/>
          </a:solidFill>
          <a:ln w="19050">
            <a:solidFill>
              <a:srgbClr val="3266C6"/>
            </a:solidFill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BFS</a:t>
            </a:r>
            <a:endParaRPr sz="17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建分层图</a:t>
            </a:r>
            <a:endParaRPr sz="17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3314700" y="2724150"/>
            <a:ext cx="1619250" cy="952500"/>
          </a:xfrm>
          <a:prstGeom prst="roundRect">
            <a:avLst>
              <a:gd name="adj" fmla="val 12000"/>
            </a:avLst>
          </a:prstGeom>
          <a:solidFill>
            <a:srgbClr val="E8F5EE"/>
          </a:solidFill>
          <a:ln w="19050">
            <a:solidFill>
              <a:srgbClr val="2F8F63"/>
            </a:solidFill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endParaRPr sz="17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找阻塞流</a:t>
            </a:r>
            <a:endParaRPr sz="17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5791200" y="2724150"/>
            <a:ext cx="1714500" cy="952500"/>
          </a:xfrm>
          <a:prstGeom prst="roundRect">
            <a:avLst>
              <a:gd name="adj" fmla="val 12000"/>
            </a:avLst>
          </a:prstGeom>
          <a:solidFill>
            <a:srgbClr val="FFF4DE"/>
          </a:solidFill>
          <a:ln w="19050">
            <a:solidFill>
              <a:srgbClr val="E2A93B"/>
            </a:solidFill>
            <a:prstDash val="solid"/>
          </a:ln>
        </p:spPr>
        <p:txBody>
          <a:bodyPr/>
          <a:lstStyle/>
          <a:p>
            <a:pPr algn="ctr">
              <a:buNone/>
              <a:def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更新残量网络</a:t>
            </a:r>
            <a:endParaRPr sz="17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3314700" y="4533900"/>
            <a:ext cx="1714500" cy="952500"/>
          </a:xfrm>
          <a:prstGeom prst="roundRect">
            <a:avLst>
              <a:gd name="adj" fmla="val 12000"/>
            </a:avLst>
          </a:prstGeom>
          <a:solidFill>
            <a:srgbClr val="FCEEEE"/>
          </a:solidFill>
          <a:ln w="19050">
            <a:solidFill>
              <a:srgbClr val="D84A4A"/>
            </a:solidFill>
            <a:prstDash val="solid"/>
          </a:ln>
        </p:spPr>
        <p:txBody>
          <a:bodyPr/>
          <a:lstStyle/>
          <a:p>
            <a:pPr algn="ctr">
              <a:buNone/>
              <a:def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汇点不可达</a:t>
            </a:r>
            <a:endParaRPr sz="16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buNone/>
              <a:def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结束</a:t>
            </a:r>
            <a:endParaRPr sz="16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直接箭头连接符 34"/>
          <p:cNvCxnSpPr>
            <a:stCxn id="7" idx="3"/>
            <a:endCxn id="8" idx="1"/>
          </p:cNvCxnSpPr>
          <p:nvPr/>
        </p:nvCxnSpPr>
        <p:spPr>
          <a:xfrm>
            <a:off x="2457450" y="3200400"/>
            <a:ext cx="857250" cy="0"/>
          </a:xfrm>
          <a:prstGeom prst="straightConnector1">
            <a:avLst/>
          </a:prstGeom>
          <a:ln w="19050">
            <a:solidFill>
              <a:srgbClr val="3266C6"/>
            </a:solidFill>
            <a:prstDash val="solid"/>
            <a:tailEnd type="triangle" w="sm" len="sm"/>
          </a:ln>
        </p:spPr>
      </p:cxnSp>
      <p:cxnSp>
        <p:nvCxnSpPr>
          <p:cNvPr id="50" name="直接箭头连接符 35"/>
          <p:cNvCxnSpPr>
            <a:stCxn id="8" idx="3"/>
            <a:endCxn id="9" idx="1"/>
          </p:cNvCxnSpPr>
          <p:nvPr/>
        </p:nvCxnSpPr>
        <p:spPr>
          <a:xfrm>
            <a:off x="4933950" y="3200400"/>
            <a:ext cx="857250" cy="0"/>
          </a:xfrm>
          <a:prstGeom prst="straightConnector1">
            <a:avLst/>
          </a:prstGeom>
          <a:ln w="19050">
            <a:solidFill>
              <a:srgbClr val="2F8F63"/>
            </a:solidFill>
            <a:prstDash val="solid"/>
            <a:tailEnd type="triangle" w="sm" len="sm"/>
          </a:ln>
        </p:spPr>
      </p:cxnSp>
      <p:cxnSp>
        <p:nvCxnSpPr>
          <p:cNvPr id="51" name="直接箭头连接符 36"/>
          <p:cNvCxnSpPr>
            <a:stCxn id="9" idx="3"/>
            <a:endCxn id="7" idx="1"/>
          </p:cNvCxnSpPr>
          <p:nvPr/>
        </p:nvCxnSpPr>
        <p:spPr>
          <a:xfrm flipH="1">
            <a:off x="838200" y="3200400"/>
            <a:ext cx="6667500" cy="0"/>
          </a:xfrm>
          <a:prstGeom prst="straightConnector1">
            <a:avLst/>
          </a:prstGeom>
          <a:ln w="19050">
            <a:solidFill>
              <a:srgbClr val="E2A93B"/>
            </a:solidFill>
            <a:prstDash val="dash"/>
            <a:tailEnd type="triangle" w="sm" len="sm"/>
          </a:ln>
        </p:spPr>
      </p:cxnSp>
      <p:cxnSp>
        <p:nvCxnSpPr>
          <p:cNvPr id="52" name="直接箭头连接符 37"/>
          <p:cNvCxnSpPr/>
          <p:nvPr/>
        </p:nvCxnSpPr>
        <p:spPr>
          <a:xfrm flipH="1">
            <a:off x="3314700" y="3200400"/>
            <a:ext cx="1619250" cy="1809750"/>
          </a:xfrm>
          <a:prstGeom prst="straightConnector1">
            <a:avLst/>
          </a:prstGeom>
          <a:ln w="19050">
            <a:solidFill>
              <a:srgbClr val="D84A4A"/>
            </a:solidFill>
            <a:prstDash val="dash"/>
            <a:tailEnd type="triangle" w="sm" len="sm"/>
          </a:ln>
        </p:spPr>
      </p:cxnSp>
      <p:sp>
        <p:nvSpPr>
          <p:cNvPr id="15" name="矩形 14"/>
          <p:cNvSpPr>
            <a:spLocks noGrp="1"/>
          </p:cNvSpPr>
          <p:nvPr/>
        </p:nvSpPr>
        <p:spPr>
          <a:xfrm>
            <a:off x="1924050" y="1924050"/>
            <a:ext cx="447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8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每一轮尽量推满当前层级结构</a:t>
            </a:r>
            <a:endParaRPr sz="187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8153400" y="1847850"/>
            <a:ext cx="76200" cy="914400"/>
          </a:xfrm>
          <a:prstGeom prst="rect">
            <a:avLst/>
          </a:prstGeom>
          <a:solidFill>
            <a:srgbClr val="3266C6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382000" y="1847850"/>
            <a:ext cx="2914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BFS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8382000" y="2247900"/>
            <a:ext cx="2914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构造分层图，只保留向下一层推进的有效边。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153400" y="3181350"/>
            <a:ext cx="76200" cy="914400"/>
          </a:xfrm>
          <a:prstGeom prst="rect">
            <a:avLst/>
          </a:prstGeom>
          <a:solidFill>
            <a:srgbClr val="2F8F63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8382000" y="3181350"/>
            <a:ext cx="2914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DFS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382000" y="3581400"/>
            <a:ext cx="2914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在分层图里不断推送，直到形成阻塞流。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153400" y="4514850"/>
            <a:ext cx="76200" cy="914400"/>
          </a:xfrm>
          <a:prstGeom prst="rect">
            <a:avLst/>
          </a:prstGeom>
          <a:solidFill>
            <a:srgbClr val="C76E3A"/>
          </a:solidFill>
          <a:ln w="0">
            <a:noFill/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8382000" y="4514850"/>
            <a:ext cx="2914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382000" y="4914900"/>
            <a:ext cx="29146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当汇点不可达时，最大流计算结束。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2F8F63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C9D5DD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实验6 · 最大流应用</a:t>
            </a:r>
            <a:endParaRPr sz="975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50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5334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样例结果：四支球队</a:t>
            </a:r>
            <a:endParaRPr sz="30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104900"/>
            <a:ext cx="742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三种算法的淘汰判断完全一致。</a:t>
            </a:r>
            <a:endParaRPr sz="1425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16573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Atlanta</a:t>
            </a:r>
            <a:endParaRPr sz="1950" b="1">
              <a:solidFill>
                <a:srgbClr val="2F8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914400" y="213360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未淘汰</a:t>
            </a:r>
            <a:endParaRPr sz="22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3390900" y="1657350"/>
            <a:ext cx="2190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D8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D8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Philadelphia</a:t>
            </a:r>
            <a:endParaRPr sz="1950" b="1">
              <a:solidFill>
                <a:srgbClr val="D84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390900" y="2133600"/>
            <a:ext cx="2762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 = { Atlanta, New_York }</a:t>
            </a:r>
            <a:endParaRPr sz="187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705600" y="16573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New_York</a:t>
            </a:r>
            <a:endParaRPr sz="1950" b="1">
              <a:solidFill>
                <a:srgbClr val="2F8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705600" y="213360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2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未淘汰</a:t>
            </a:r>
            <a:endParaRPr sz="225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9067800" y="1657350"/>
            <a:ext cx="1809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D8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D8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Montreal</a:t>
            </a:r>
            <a:endParaRPr sz="1950" b="1">
              <a:solidFill>
                <a:srgbClr val="D84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9067800" y="2133600"/>
            <a:ext cx="2190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 = { Atlanta }</a:t>
            </a:r>
            <a:endParaRPr sz="187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70" y="2971800"/>
            <a:ext cx="9266555" cy="34461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C76E3A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19850"/>
            <a:ext cx="10972800" cy="9525"/>
          </a:xfrm>
          <a:prstGeom prst="rect">
            <a:avLst/>
          </a:prstGeom>
          <a:solidFill>
            <a:srgbClr val="C9D5DD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6515100"/>
            <a:ext cx="3143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实验6 · 最大流应用</a:t>
            </a:r>
            <a:endParaRPr sz="975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1049000" y="6477000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050" b="1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533400"/>
            <a:ext cx="838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运行时间对比：Dinic 更适合大规模样例</a:t>
            </a:r>
            <a:endParaRPr sz="30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8650" y="1104900"/>
            <a:ext cx="7429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小数据差距不明显，球队数增加后分层图优势更稳定。</a:t>
            </a:r>
            <a:endParaRPr sz="1425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图片 2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1500" y="1543050"/>
            <a:ext cx="7239000" cy="4095750"/>
          </a:xfrm>
          <a:prstGeom prst="rect">
            <a:avLst/>
          </a:prstGeom>
        </p:spPr>
      </p:pic>
      <p:sp>
        <p:nvSpPr>
          <p:cNvPr id="8" name="矩形 7"/>
          <p:cNvSpPr>
            <a:spLocks noGrp="1"/>
          </p:cNvSpPr>
          <p:nvPr/>
        </p:nvSpPr>
        <p:spPr>
          <a:xfrm>
            <a:off x="8477250" y="16192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0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teams48.txt</a:t>
            </a:r>
            <a:endParaRPr sz="2025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477250" y="21717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C76E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Ford-Fulkerson 93.533 ms</a:t>
            </a:r>
            <a:endParaRPr sz="1500" b="1">
              <a:solidFill>
                <a:srgbClr val="C76E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8477250" y="257175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3266C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Edmonds-Karp 126.324 ms</a:t>
            </a:r>
            <a:endParaRPr sz="1500" b="1">
              <a:solidFill>
                <a:srgbClr val="3266C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477250" y="297180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2F8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Dinic 29.517 ms</a:t>
            </a:r>
            <a:endParaRPr sz="1875" b="1">
              <a:solidFill>
                <a:srgbClr val="2F8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8477250" y="4114800"/>
            <a:ext cx="76200" cy="914400"/>
          </a:xfrm>
          <a:prstGeom prst="rect">
            <a:avLst/>
          </a:prstGeom>
          <a:solidFill>
            <a:srgbClr val="2F8F63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8705850" y="4114800"/>
            <a:ext cx="27241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23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汇报收束</a:t>
            </a:r>
            <a:endParaRPr sz="1800" b="1">
              <a:solidFill>
                <a:srgbClr val="13223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705850" y="4514850"/>
            <a:ext cx="2724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6270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建模正确性由三种算法结果一致支撑；效率上 Dinic 是更合适的主算法。</a:t>
            </a:r>
            <a:endParaRPr sz="1350" b="0">
              <a:solidFill>
                <a:srgbClr val="6270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2882</Words>
  <Application>WPS 演示</Application>
  <PresentationFormat>Converted Presentation</PresentationFormat>
  <Paragraphs>544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生活不易靠演技</cp:lastModifiedBy>
  <cp:revision>1</cp:revision>
  <dcterms:created xsi:type="dcterms:W3CDTF">2026-06-28T12:08:50Z</dcterms:created>
  <dcterms:modified xsi:type="dcterms:W3CDTF">2026-06-28T12:08:50Z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148967626B6A46C6AD9874139AFA605C_12</vt:lpwstr>
  </property>
  <property fmtid="{D5CDD505-2E9C-101B-9397-08002B2CF9AE}" pid="3" name="KSOProductBuildVer">
    <vt:lpwstr>2052-12.1.0.26375</vt:lpwstr>
  </property>
</Properties>
</file>