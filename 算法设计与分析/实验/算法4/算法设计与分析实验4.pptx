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emf" ContentType="image/x-emf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media/image10.svg" ContentType="image/svg+xml"/>
  <Override PartName="/ppt/media/image12.svg" ContentType="image/svg+xml"/>
  <Override PartName="/ppt/media/image14.svg" ContentType="image/svg+xml"/>
  <Override PartName="/ppt/media/image16.svg" ContentType="image/svg+xml"/>
  <Override PartName="/ppt/media/image19.svg" ContentType="image/svg+xml"/>
  <Override PartName="/ppt/media/image21.svg" ContentType="image/svg+xml"/>
  <Override PartName="/ppt/media/image23.svg" ContentType="image/svg+xml"/>
  <Override PartName="/ppt/media/image25.svg" ContentType="image/svg+xml"/>
  <Override PartName="/ppt/media/image27.svg" ContentType="image/svg+xml"/>
  <Override PartName="/ppt/media/image30.svg" ContentType="image/svg+xml"/>
  <Override PartName="/ppt/media/image32.svg" ContentType="image/svg+xml"/>
  <Override PartName="/ppt/media/image36.svg" ContentType="image/svg+xml"/>
  <Override PartName="/ppt/media/image4.svg" ContentType="image/svg+xml"/>
  <Override PartName="/ppt/media/image6.svg" ContentType="image/svg+xml"/>
  <Override PartName="/ppt/media/image8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autoCompressPictures="0">
  <p:sldMasterIdLst>
    <p:sldMasterId id="2147483648" r:id="rId1"/>
    <p:sldMasterId id="2147483660" r:id="rId3"/>
  </p:sldMasterIdLst>
  <p:notesMasterIdLst>
    <p:notesMasterId r:id="rId5"/>
  </p:notesMasterIdLst>
  <p:sldIdLst>
    <p:sldId id="256" r:id="rId4"/>
    <p:sldId id="258" r:id="rId6"/>
    <p:sldId id="259" r:id="rId7"/>
    <p:sldId id="266" r:id="rId8"/>
    <p:sldId id="267" r:id="rId9"/>
    <p:sldId id="268" r:id="rId10"/>
    <p:sldId id="262" r:id="rId11"/>
    <p:sldId id="269" r:id="rId12"/>
    <p:sldId id="270" r:id="rId13"/>
    <p:sldId id="271" r:id="rId14"/>
    <p:sldId id="263" r:id="rId15"/>
    <p:sldId id="265" r:id="rId16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L="0"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1pPr>
    <a:lvl2pPr marL="457200"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2pPr>
    <a:lvl3pPr marL="914400"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3pPr>
    <a:lvl4pPr marL="1371600"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4pPr>
    <a:lvl5pPr marL="1828800"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5pPr>
    <a:lvl6pPr marL="2286000"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6pPr>
    <a:lvl7pPr marL="2743200"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7pPr>
    <a:lvl8pPr marL="3200400"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8pPr>
    <a:lvl9pPr marL="3657600"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9pPr>
  </p:defaultTextStyle>
  <p:extLst>
    <p:ext uri="{EFAFB233-063F-42B5-8137-9DF3F51BA10A}">
      <p15:sldGuideLst xmlns:p15="http://schemas.microsoft.com/office/powerpoint/2012/main">
        <p15:guide id="1" orient="horz" pos="1680" userDrawn="1">
          <p15:clr>
            <a:srgbClr val="747775"/>
          </p15:clr>
        </p15:guide>
        <p15:guide id="2" pos="2960" userDrawn="1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showComments="0">
  <p:normalViewPr>
    <p:restoredLeft sz="15620"/>
    <p:restoredTop sz="94660"/>
  </p:normalViewPr>
  <p:slideViewPr>
    <p:cSldViewPr snapToGrid="0" showGuides="1">
      <p:cViewPr varScale="1">
        <p:scale>
          <a:sx n="100" d="100"/>
          <a:sy n="100" d="100"/>
        </p:scale>
        <p:origin x="0" y="0"/>
      </p:cViewPr>
      <p:guideLst>
        <p:guide orient="horz" pos="1680"/>
        <p:guide pos="2960"/>
      </p:guideLst>
    </p:cSldViewPr>
  </p:slide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5.xml"/><Relationship Id="rId8" Type="http://schemas.openxmlformats.org/officeDocument/2006/relationships/slide" Target="slides/slide4.xml"/><Relationship Id="rId7" Type="http://schemas.openxmlformats.org/officeDocument/2006/relationships/slide" Target="slides/slide3.xml"/><Relationship Id="rId6" Type="http://schemas.openxmlformats.org/officeDocument/2006/relationships/slide" Target="slides/slide2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3" Type="http://schemas.openxmlformats.org/officeDocument/2006/relationships/slideMaster" Target="slideMasters/slideMaster2.xml"/><Relationship Id="rId2" Type="http://schemas.openxmlformats.org/officeDocument/2006/relationships/theme" Target="theme/theme1.xml"/><Relationship Id="rId19" Type="http://schemas.openxmlformats.org/officeDocument/2006/relationships/tableStyles" Target="tableStyles.xml"/><Relationship Id="rId18" Type="http://schemas.openxmlformats.org/officeDocument/2006/relationships/viewProps" Target="viewProps.xml"/><Relationship Id="rId17" Type="http://schemas.openxmlformats.org/officeDocument/2006/relationships/presProps" Target="presProps.xml"/><Relationship Id="rId16" Type="http://schemas.openxmlformats.org/officeDocument/2006/relationships/slide" Target="slides/slide12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</a:fld>
            <a:endParaRPr lang="cs-CZ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尊敬的老师、同学们，大家好。我是姚泽棉，今天我将为大家汇报《算法设计与分析》课程的第四个实验——动态规划的经典应用：鸡蛋掉落问题。本次报告将详细介绍问题的定义、多种动态规划解法及其效率对比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我们要解决的问题是：给定e个鸡蛋和f层楼，找到确定临界楼层k所需的最少实验次数。这里的关键是“最坏情况”下的“最少次数”。规则很简单：鸡蛋没碎可以继续用，碎了就没了。我们的目标不是找到k本身，而是找到那个能保证成功的最小实验次数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解决这个问题的核心是动态规划。我们定义dp(e, f)为状态，表示e个鸡蛋、f层楼时的最小实验次数。状态转移的关键在于，当我们在第x层扔下鸡蛋，无论碎与不碎，问题都会变成一个更小的子问题。我们取两种情况中的最坏情况，然后在所有可能的x中选择最优解。同时，我们设定了清晰的边界条件来初始化我们的解空间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我们的第一个优化是从蛮力递归到记忆化搜索。蛮力递归的问题在于大量重复计算。记忆化搜索通过引入一个缓存，记录下每个子问题的解。这样，当相同的子问题再次出现时，我们就可以直接读取答案，从而避免了大量的重复计算，大大提高了效率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第二个优化是从记忆化搜索到二分优化。记忆化搜索虽然避免了重复计算，但在寻找最优测试楼层时仍需逐层尝试。二分优化利用了问题的数学特性，通过二分查找快速定位最优楼层，将这一步的复杂度从线性级别降低到对数级别，进一步提升了效率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第三个，也是最关键的优化，是从二分优化到优化状态法。这次我们彻底改变了问题的问法。我们不再计算需要多少次，而是反过来，计算在给定次数下能搞定多少层楼。通过不断增加实验次数，直到我们能覆盖目标楼层，此时的次数就是答案。这种思路的转变带来了效率的巨大飞跃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为了验证算法的正确性，我们使用了20组小规模的随机数据进行测试。如图所示，四种算法的输出结果完全一致，通过率达到100%。这证明了我们所有算法的实现都是正确的，为后续的效率分析奠定了基础。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现在我们来看具体的效率分析。首先是记忆化搜索的性能图。可以看到，随着楼层数的增加，运行时间呈二次方增长。虽然比蛮力递归好很多，但当楼层数非常大时，这种增长模式会导致运行时间急剧增加，效率瓶颈明显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接下来是二分优化的性能图。通过对比可以发现，引入二分查找后，算法的运行时间显著降低。特别是在楼层数较大时，其增长速度明显慢于记忆化搜索，这证明了二分优化在减少单次计算量上的有效性。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最后是优化状态法的性能图。这张图非常直观地展示了它的巨大优势。无论楼层数如何增加，它的运行时间始终保持在极低的水平，增长趋势极其平缓。这充分证明了优化状态法是解决大规模鸡蛋掉落问题的最优选择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接下来是效率分析。从理论复杂度看，优化状态法的O(em)远优于其他方法。右侧的图表直观地展示了这一点：随着楼层数增加，记忆化搜索的时间急剧上升，二分优化有所改善，但优化状态法的运行时间始终保持在极低水平。这充分证明了优化状态法在处理大规模问题时的绝对优势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我的汇报到此结束。再次感谢杨烜老师的悉心指导，也感谢各位同学的聆听！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matchingName="标题幻灯片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Shape 30"/>
          <p:cNvSpPr txBox="1"/>
          <p:nvPr>
            <p:ph type="ctrTitle"/>
          </p:nvPr>
        </p:nvSpPr>
        <p:spPr>
          <a:xfrm>
            <a:off x="1143000" y="841772"/>
            <a:ext cx="6858000" cy="179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 panose="020B0604020202020204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3" name="Shape 31"/>
          <p:cNvSpPr txBox="1"/>
          <p:nvPr>
            <p:ph type="subTitle" idx="1"/>
          </p:nvPr>
        </p:nvSpPr>
        <p:spPr>
          <a:xfrm>
            <a:off x="1143000" y="2701528"/>
            <a:ext cx="6858000" cy="12418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lvl="3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/>
        </p:txBody>
      </p:sp>
      <p:sp>
        <p:nvSpPr>
          <p:cNvPr id="14" name="Shape 32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5" name="Shape 33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6" name="Shape 34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matchingName="标题和内容">
  <p:cSld name="OBJECT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Shape 54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9" name="Shape 55"/>
          <p:cNvSpPr txBox="1"/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20" name="Shape 56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1" name="Shape 57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2" name="Shape 58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matchingName="节标题">
  <p:cSld name="SECTION_HEADER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Shape 59"/>
          <p:cNvSpPr txBox="1"/>
          <p:nvPr>
            <p:ph type="title"/>
          </p:nvPr>
        </p:nvSpPr>
        <p:spPr>
          <a:xfrm>
            <a:off x="623888" y="1282304"/>
            <a:ext cx="7886700" cy="21395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 panose="020B0604020202020204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5" name="Shape 60"/>
          <p:cNvSpPr txBox="1"/>
          <p:nvPr>
            <p:ph type="body" idx="1"/>
          </p:nvPr>
        </p:nvSpPr>
        <p:spPr>
          <a:xfrm>
            <a:off x="623888" y="3442097"/>
            <a:ext cx="7886700" cy="11251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6" name="Shape 61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7" name="Shape 62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8" name="Shape 63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matchingName="两栏内容">
  <p:cSld name="TWO_OBJECTS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Shape 9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1" name="Shape 10"/>
          <p:cNvSpPr txBox="1"/>
          <p:nvPr>
            <p:ph type="body" idx="1"/>
          </p:nvPr>
        </p:nvSpPr>
        <p:spPr>
          <a:xfrm>
            <a:off x="6286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32" name="Shape 11"/>
          <p:cNvSpPr txBox="1"/>
          <p:nvPr>
            <p:ph type="body" idx="2"/>
          </p:nvPr>
        </p:nvSpPr>
        <p:spPr>
          <a:xfrm>
            <a:off x="46291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33" name="Shape 12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4" name="Shape 13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5" name="Shape 14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matchingName="比较">
  <p:cSld name="TWO_OBJECTS_WITH_TEX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Shape 35"/>
          <p:cNvSpPr txBox="1"/>
          <p:nvPr>
            <p:ph type="title"/>
          </p:nvPr>
        </p:nvSpPr>
        <p:spPr>
          <a:xfrm>
            <a:off x="629841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8" name="Shape 36"/>
          <p:cNvSpPr txBox="1"/>
          <p:nvPr>
            <p:ph type="body" idx="1"/>
          </p:nvPr>
        </p:nvSpPr>
        <p:spPr>
          <a:xfrm>
            <a:off x="629841" y="1260872"/>
            <a:ext cx="3868340" cy="617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/>
        </p:txBody>
      </p:sp>
      <p:sp>
        <p:nvSpPr>
          <p:cNvPr id="39" name="Shape 37"/>
          <p:cNvSpPr txBox="1"/>
          <p:nvPr>
            <p:ph type="body" idx="2"/>
          </p:nvPr>
        </p:nvSpPr>
        <p:spPr>
          <a:xfrm>
            <a:off x="629841" y="1878806"/>
            <a:ext cx="3868340" cy="2763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40" name="Shape 38"/>
          <p:cNvSpPr txBox="1"/>
          <p:nvPr>
            <p:ph type="body" idx="3"/>
          </p:nvPr>
        </p:nvSpPr>
        <p:spPr>
          <a:xfrm>
            <a:off x="4629150" y="1260872"/>
            <a:ext cx="3887391" cy="617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/>
        </p:txBody>
      </p:sp>
      <p:sp>
        <p:nvSpPr>
          <p:cNvPr id="41" name="Shape 39"/>
          <p:cNvSpPr txBox="1"/>
          <p:nvPr>
            <p:ph type="body" idx="4"/>
          </p:nvPr>
        </p:nvSpPr>
        <p:spPr>
          <a:xfrm>
            <a:off x="4629150" y="1878806"/>
            <a:ext cx="3887391" cy="2763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42" name="Shape 40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3" name="Shape 41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4" name="Shape 42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matchingName="仅标题">
  <p:cSld name="TITLE_ONLY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Shape 20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7" name="Shape 21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8" name="Shape 22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9" name="Shape 23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matchingName="空白">
  <p:cSld name="BLANK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Shape 6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2" name="Shape 7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3" name="Shape 8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matchingName="内容与标题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Shape 43"/>
          <p:cNvSpPr txBox="1"/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6" name="Shape 44"/>
          <p:cNvSpPr txBox="1"/>
          <p:nvPr>
            <p:ph type="body" idx="1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810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619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marL="1371600" lvl="2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marL="2286000" lvl="4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marL="2743200" lvl="5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marL="3200400" lvl="6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marL="3657600" lvl="7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marL="4114800" lvl="8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/>
        </p:txBody>
      </p:sp>
      <p:sp>
        <p:nvSpPr>
          <p:cNvPr id="57" name="Shape 45"/>
          <p:cNvSpPr txBox="1"/>
          <p:nvPr>
            <p:ph type="body" idx="2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58" name="Shape 46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9" name="Shape 47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0" name="Shape 48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matchingName="图片与标题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Shape 24"/>
          <p:cNvSpPr txBox="1"/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3" name="Shape 25"/>
          <p:cNvSpPr/>
          <p:nvPr>
            <p:ph type="pic" idx="2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Shape 26"/>
          <p:cNvSpPr txBox="1"/>
          <p:nvPr>
            <p:ph type="body" idx="1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65" name="Shape 27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6" name="Shape 28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7" name="Shape 29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matchingName="标题和竖排文字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Shape 49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0" name="Shape 50"/>
          <p:cNvSpPr txBox="1"/>
          <p:nvPr>
            <p:ph type="body" idx="1"/>
          </p:nvPr>
        </p:nvSpPr>
        <p:spPr>
          <a:xfrm rot="5400000">
            <a:off x="2940248" y="-942379"/>
            <a:ext cx="3263504" cy="788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71" name="Shape 51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2" name="Shape 52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3" name="Shape 53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matchingName="竖排标题与文本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Shape 15"/>
          <p:cNvSpPr txBox="1"/>
          <p:nvPr>
            <p:ph type="title"/>
          </p:nvPr>
        </p:nvSpPr>
        <p:spPr>
          <a:xfrm rot="5400000">
            <a:off x="5350073" y="1467445"/>
            <a:ext cx="4358879" cy="1971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6" name="Shape 16"/>
          <p:cNvSpPr txBox="1"/>
          <p:nvPr>
            <p:ph type="body" idx="1"/>
          </p:nvPr>
        </p:nvSpPr>
        <p:spPr>
          <a:xfrm rot="5400000">
            <a:off x="1349573" y="-447080"/>
            <a:ext cx="4358879" cy="5800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77" name="Shape 17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8" name="Shape 18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9" name="Shape 19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1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hape 1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Arial" panose="020B0604020202020204"/>
              <a:buNone/>
              <a:defRPr sz="33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/>
        </p:txBody>
      </p:sp>
      <p:sp>
        <p:nvSpPr>
          <p:cNvPr id="7" name="Shape 2"/>
          <p:cNvSpPr txBox="1"/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marR="0" lvl="0" indent="-36195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 panose="020B0604020202020204"/>
              <a:buChar char="•"/>
              <a:defRPr sz="21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 panose="020B0604020202020204"/>
              <a:buChar char="•"/>
              <a:defRPr sz="15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L="1828800" marR="0" lvl="3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L="2286000" marR="0" lvl="4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/>
        </p:txBody>
      </p:sp>
      <p:sp>
        <p:nvSpPr>
          <p:cNvPr id="8" name="Shape 3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/>
        </p:txBody>
      </p:sp>
      <p:sp>
        <p:nvSpPr>
          <p:cNvPr id="9" name="Shape 4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100"/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/>
        </p:txBody>
      </p:sp>
      <p:sp>
        <p:nvSpPr>
          <p:cNvPr id="10" name="Shape 5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L="0" marR="0" lvl="1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L="0" marR="0" lvl="2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L="0" marR="0" lvl="3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L="0" marR="0" lvl="4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L="0" marR="0" lvl="5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L="0" marR="0" lvl="6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L="0" marR="0" lvl="7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L="0" marR="0" lvl="8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61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1.jpeg"/></Relationships>
</file>

<file path=ppt/slides/_rels/slide2.xml.rels><?xml version="1.0" encoding="UTF-8" standalone="yes"?>
<Relationships xmlns="http://schemas.openxmlformats.org/package/2006/relationships"><Relationship Id="rId9" Type="http://schemas.openxmlformats.org/officeDocument/2006/relationships/image" Target="../media/image10.svg"/><Relationship Id="rId8" Type="http://schemas.openxmlformats.org/officeDocument/2006/relationships/image" Target="../media/image9.png"/><Relationship Id="rId7" Type="http://schemas.openxmlformats.org/officeDocument/2006/relationships/image" Target="../media/image8.svg"/><Relationship Id="rId6" Type="http://schemas.openxmlformats.org/officeDocument/2006/relationships/image" Target="../media/image7.png"/><Relationship Id="rId5" Type="http://schemas.openxmlformats.org/officeDocument/2006/relationships/image" Target="../media/image6.svg"/><Relationship Id="rId4" Type="http://schemas.openxmlformats.org/officeDocument/2006/relationships/image" Target="../media/image5.png"/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1" Type="http://schemas.openxmlformats.org/officeDocument/2006/relationships/notesSlide" Target="../notesSlides/notesSlide2.xml"/><Relationship Id="rId10" Type="http://schemas.openxmlformats.org/officeDocument/2006/relationships/slideLayout" Target="../slideLayouts/slideLayout12.xml"/><Relationship Id="rId1" Type="http://schemas.openxmlformats.org/officeDocument/2006/relationships/image" Target="../media/image2.jpeg"/></Relationships>
</file>

<file path=ppt/slides/_rels/slide3.xml.rels><?xml version="1.0" encoding="UTF-8" standalone="yes"?>
<Relationships xmlns="http://schemas.openxmlformats.org/package/2006/relationships"><Relationship Id="rId9" Type="http://schemas.openxmlformats.org/officeDocument/2006/relationships/tags" Target="../tags/tag4.xml"/><Relationship Id="rId8" Type="http://schemas.openxmlformats.org/officeDocument/2006/relationships/tags" Target="../tags/tag3.xml"/><Relationship Id="rId7" Type="http://schemas.openxmlformats.org/officeDocument/2006/relationships/image" Target="../media/image14.svg"/><Relationship Id="rId6" Type="http://schemas.openxmlformats.org/officeDocument/2006/relationships/image" Target="../media/image13.png"/><Relationship Id="rId5" Type="http://schemas.openxmlformats.org/officeDocument/2006/relationships/tags" Target="../tags/tag2.xml"/><Relationship Id="rId4" Type="http://schemas.openxmlformats.org/officeDocument/2006/relationships/tags" Target="../tags/tag1.xml"/><Relationship Id="rId3" Type="http://schemas.openxmlformats.org/officeDocument/2006/relationships/image" Target="../media/image12.svg"/><Relationship Id="rId2" Type="http://schemas.openxmlformats.org/officeDocument/2006/relationships/image" Target="../media/image11.png"/><Relationship Id="rId17" Type="http://schemas.openxmlformats.org/officeDocument/2006/relationships/notesSlide" Target="../notesSlides/notesSlide3.xml"/><Relationship Id="rId16" Type="http://schemas.openxmlformats.org/officeDocument/2006/relationships/slideLayout" Target="../slideLayouts/slideLayout12.xml"/><Relationship Id="rId15" Type="http://schemas.openxmlformats.org/officeDocument/2006/relationships/image" Target="../media/image17.png"/><Relationship Id="rId14" Type="http://schemas.openxmlformats.org/officeDocument/2006/relationships/tags" Target="../tags/tag7.xml"/><Relationship Id="rId13" Type="http://schemas.openxmlformats.org/officeDocument/2006/relationships/image" Target="../media/image16.svg"/><Relationship Id="rId12" Type="http://schemas.openxmlformats.org/officeDocument/2006/relationships/image" Target="../media/image15.png"/><Relationship Id="rId11" Type="http://schemas.openxmlformats.org/officeDocument/2006/relationships/tags" Target="../tags/tag6.xml"/><Relationship Id="rId10" Type="http://schemas.openxmlformats.org/officeDocument/2006/relationships/tags" Target="../tags/tag5.xml"/><Relationship Id="rId1" Type="http://schemas.openxmlformats.org/officeDocument/2006/relationships/image" Target="../media/image2.jpeg"/></Relationships>
</file>

<file path=ppt/slides/_rels/slide4.xml.rels><?xml version="1.0" encoding="UTF-8" standalone="yes"?>
<Relationships xmlns="http://schemas.openxmlformats.org/package/2006/relationships"><Relationship Id="rId9" Type="http://schemas.openxmlformats.org/officeDocument/2006/relationships/tags" Target="../tags/tag11.xml"/><Relationship Id="rId8" Type="http://schemas.openxmlformats.org/officeDocument/2006/relationships/tags" Target="../tags/tag10.xml"/><Relationship Id="rId7" Type="http://schemas.openxmlformats.org/officeDocument/2006/relationships/image" Target="../media/image19.svg"/><Relationship Id="rId6" Type="http://schemas.openxmlformats.org/officeDocument/2006/relationships/image" Target="../media/image18.png"/><Relationship Id="rId5" Type="http://schemas.openxmlformats.org/officeDocument/2006/relationships/tags" Target="../tags/tag9.xml"/><Relationship Id="rId4" Type="http://schemas.openxmlformats.org/officeDocument/2006/relationships/tags" Target="../tags/tag8.xml"/><Relationship Id="rId3" Type="http://schemas.openxmlformats.org/officeDocument/2006/relationships/image" Target="../media/image12.svg"/><Relationship Id="rId20" Type="http://schemas.openxmlformats.org/officeDocument/2006/relationships/notesSlide" Target="../notesSlides/notesSlide4.xml"/><Relationship Id="rId2" Type="http://schemas.openxmlformats.org/officeDocument/2006/relationships/image" Target="../media/image11.png"/><Relationship Id="rId19" Type="http://schemas.openxmlformats.org/officeDocument/2006/relationships/slideLayout" Target="../slideLayouts/slideLayout12.xml"/><Relationship Id="rId18" Type="http://schemas.openxmlformats.org/officeDocument/2006/relationships/tags" Target="../tags/tag16.xml"/><Relationship Id="rId17" Type="http://schemas.openxmlformats.org/officeDocument/2006/relationships/image" Target="../media/image23.svg"/><Relationship Id="rId16" Type="http://schemas.openxmlformats.org/officeDocument/2006/relationships/image" Target="../media/image22.png"/><Relationship Id="rId15" Type="http://schemas.openxmlformats.org/officeDocument/2006/relationships/tags" Target="../tags/tag15.xml"/><Relationship Id="rId14" Type="http://schemas.openxmlformats.org/officeDocument/2006/relationships/tags" Target="../tags/tag14.xml"/><Relationship Id="rId13" Type="http://schemas.openxmlformats.org/officeDocument/2006/relationships/tags" Target="../tags/tag13.xml"/><Relationship Id="rId12" Type="http://schemas.openxmlformats.org/officeDocument/2006/relationships/image" Target="../media/image21.svg"/><Relationship Id="rId11" Type="http://schemas.openxmlformats.org/officeDocument/2006/relationships/image" Target="../media/image20.png"/><Relationship Id="rId10" Type="http://schemas.openxmlformats.org/officeDocument/2006/relationships/tags" Target="../tags/tag12.xml"/><Relationship Id="rId1" Type="http://schemas.openxmlformats.org/officeDocument/2006/relationships/image" Target="../media/image2.jpeg"/></Relationships>
</file>

<file path=ppt/slides/_rels/slide5.xml.rels><?xml version="1.0" encoding="UTF-8" standalone="yes"?>
<Relationships xmlns="http://schemas.openxmlformats.org/package/2006/relationships"><Relationship Id="rId9" Type="http://schemas.openxmlformats.org/officeDocument/2006/relationships/image" Target="../media/image26.png"/><Relationship Id="rId8" Type="http://schemas.openxmlformats.org/officeDocument/2006/relationships/tags" Target="../tags/tag21.xml"/><Relationship Id="rId7" Type="http://schemas.openxmlformats.org/officeDocument/2006/relationships/tags" Target="../tags/tag20.xml"/><Relationship Id="rId6" Type="http://schemas.openxmlformats.org/officeDocument/2006/relationships/tags" Target="../tags/tag19.xml"/><Relationship Id="rId5" Type="http://schemas.openxmlformats.org/officeDocument/2006/relationships/image" Target="../media/image25.svg"/><Relationship Id="rId4" Type="http://schemas.openxmlformats.org/officeDocument/2006/relationships/image" Target="../media/image24.png"/><Relationship Id="rId3" Type="http://schemas.openxmlformats.org/officeDocument/2006/relationships/tags" Target="../tags/tag18.xml"/><Relationship Id="rId2" Type="http://schemas.openxmlformats.org/officeDocument/2006/relationships/tags" Target="../tags/tag17.xml"/><Relationship Id="rId15" Type="http://schemas.openxmlformats.org/officeDocument/2006/relationships/notesSlide" Target="../notesSlides/notesSlide5.xml"/><Relationship Id="rId14" Type="http://schemas.openxmlformats.org/officeDocument/2006/relationships/slideLayout" Target="../slideLayouts/slideLayout12.xml"/><Relationship Id="rId13" Type="http://schemas.openxmlformats.org/officeDocument/2006/relationships/image" Target="../media/image17.png"/><Relationship Id="rId12" Type="http://schemas.openxmlformats.org/officeDocument/2006/relationships/image" Target="../media/image28.png"/><Relationship Id="rId11" Type="http://schemas.openxmlformats.org/officeDocument/2006/relationships/tags" Target="../tags/tag22.xml"/><Relationship Id="rId10" Type="http://schemas.openxmlformats.org/officeDocument/2006/relationships/image" Target="../media/image27.svg"/><Relationship Id="rId1" Type="http://schemas.openxmlformats.org/officeDocument/2006/relationships/image" Target="../media/image2.jpeg"/></Relationships>
</file>

<file path=ppt/slides/_rels/slide6.xml.rels><?xml version="1.0" encoding="UTF-8" standalone="yes"?>
<Relationships xmlns="http://schemas.openxmlformats.org/package/2006/relationships"><Relationship Id="rId9" Type="http://schemas.openxmlformats.org/officeDocument/2006/relationships/tags" Target="../tags/tag28.xml"/><Relationship Id="rId8" Type="http://schemas.openxmlformats.org/officeDocument/2006/relationships/tags" Target="../tags/tag27.xml"/><Relationship Id="rId7" Type="http://schemas.openxmlformats.org/officeDocument/2006/relationships/tags" Target="../tags/tag26.xml"/><Relationship Id="rId6" Type="http://schemas.openxmlformats.org/officeDocument/2006/relationships/image" Target="../media/image30.svg"/><Relationship Id="rId5" Type="http://schemas.openxmlformats.org/officeDocument/2006/relationships/image" Target="../media/image29.png"/><Relationship Id="rId4" Type="http://schemas.openxmlformats.org/officeDocument/2006/relationships/tags" Target="../tags/tag25.xml"/><Relationship Id="rId3" Type="http://schemas.openxmlformats.org/officeDocument/2006/relationships/tags" Target="../tags/tag24.xml"/><Relationship Id="rId2" Type="http://schemas.openxmlformats.org/officeDocument/2006/relationships/tags" Target="../tags/tag23.xml"/><Relationship Id="rId17" Type="http://schemas.openxmlformats.org/officeDocument/2006/relationships/notesSlide" Target="../notesSlides/notesSlide6.xml"/><Relationship Id="rId16" Type="http://schemas.openxmlformats.org/officeDocument/2006/relationships/slideLayout" Target="../slideLayouts/slideLayout12.xml"/><Relationship Id="rId15" Type="http://schemas.openxmlformats.org/officeDocument/2006/relationships/image" Target="../media/image33.png"/><Relationship Id="rId14" Type="http://schemas.openxmlformats.org/officeDocument/2006/relationships/tags" Target="../tags/tag31.xml"/><Relationship Id="rId13" Type="http://schemas.openxmlformats.org/officeDocument/2006/relationships/tags" Target="../tags/tag30.xml"/><Relationship Id="rId12" Type="http://schemas.openxmlformats.org/officeDocument/2006/relationships/image" Target="../media/image32.svg"/><Relationship Id="rId11" Type="http://schemas.openxmlformats.org/officeDocument/2006/relationships/image" Target="../media/image31.png"/><Relationship Id="rId10" Type="http://schemas.openxmlformats.org/officeDocument/2006/relationships/tags" Target="../tags/tag29.xml"/><Relationship Id="rId1" Type="http://schemas.openxmlformats.org/officeDocument/2006/relationships/image" Target="../media/image2.jpeg"/></Relationships>
</file>

<file path=ppt/slides/_rels/slide7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7.xml"/><Relationship Id="rId3" Type="http://schemas.openxmlformats.org/officeDocument/2006/relationships/slideLayout" Target="../slideLayouts/slideLayout12.xml"/><Relationship Id="rId2" Type="http://schemas.openxmlformats.org/officeDocument/2006/relationships/image" Target="../media/image34.png"/><Relationship Id="rId1" Type="http://schemas.openxmlformats.org/officeDocument/2006/relationships/image" Target="../media/image2.jpeg"/></Relationships>
</file>

<file path=ppt/slides/_rels/slide8.xml.rels><?xml version="1.0" encoding="UTF-8" standalone="yes"?>
<Relationships xmlns="http://schemas.openxmlformats.org/package/2006/relationships"><Relationship Id="rId9" Type="http://schemas.openxmlformats.org/officeDocument/2006/relationships/image" Target="../media/image37.png"/><Relationship Id="rId8" Type="http://schemas.openxmlformats.org/officeDocument/2006/relationships/tags" Target="../tags/tag36.xml"/><Relationship Id="rId7" Type="http://schemas.openxmlformats.org/officeDocument/2006/relationships/tags" Target="../tags/tag35.xml"/><Relationship Id="rId6" Type="http://schemas.openxmlformats.org/officeDocument/2006/relationships/image" Target="../media/image36.svg"/><Relationship Id="rId5" Type="http://schemas.openxmlformats.org/officeDocument/2006/relationships/image" Target="../media/image35.png"/><Relationship Id="rId4" Type="http://schemas.openxmlformats.org/officeDocument/2006/relationships/tags" Target="../tags/tag34.xml"/><Relationship Id="rId3" Type="http://schemas.openxmlformats.org/officeDocument/2006/relationships/tags" Target="../tags/tag33.xml"/><Relationship Id="rId2" Type="http://schemas.openxmlformats.org/officeDocument/2006/relationships/tags" Target="../tags/tag32.xml"/><Relationship Id="rId11" Type="http://schemas.openxmlformats.org/officeDocument/2006/relationships/notesSlide" Target="../notesSlides/notesSlide8.xml"/><Relationship Id="rId10" Type="http://schemas.openxmlformats.org/officeDocument/2006/relationships/slideLayout" Target="../slideLayouts/slideLayout12.xml"/><Relationship Id="rId1" Type="http://schemas.openxmlformats.org/officeDocument/2006/relationships/image" Target="../media/image2.jpeg"/></Relationships>
</file>

<file path=ppt/slides/_rels/slide9.xml.rels><?xml version="1.0" encoding="UTF-8" standalone="yes"?>
<Relationships xmlns="http://schemas.openxmlformats.org/package/2006/relationships"><Relationship Id="rId9" Type="http://schemas.openxmlformats.org/officeDocument/2006/relationships/tags" Target="../tags/tag41.xml"/><Relationship Id="rId8" Type="http://schemas.openxmlformats.org/officeDocument/2006/relationships/tags" Target="../tags/tag40.xml"/><Relationship Id="rId7" Type="http://schemas.openxmlformats.org/officeDocument/2006/relationships/image" Target="../media/image36.svg"/><Relationship Id="rId6" Type="http://schemas.openxmlformats.org/officeDocument/2006/relationships/image" Target="../media/image35.png"/><Relationship Id="rId5" Type="http://schemas.openxmlformats.org/officeDocument/2006/relationships/tags" Target="../tags/tag39.xml"/><Relationship Id="rId4" Type="http://schemas.openxmlformats.org/officeDocument/2006/relationships/tags" Target="../tags/tag38.xml"/><Relationship Id="rId3" Type="http://schemas.openxmlformats.org/officeDocument/2006/relationships/tags" Target="../tags/tag37.xml"/><Relationship Id="rId2" Type="http://schemas.openxmlformats.org/officeDocument/2006/relationships/image" Target="../media/image38.png"/><Relationship Id="rId12" Type="http://schemas.openxmlformats.org/officeDocument/2006/relationships/notesSlide" Target="../notesSlides/notesSlide9.xml"/><Relationship Id="rId11" Type="http://schemas.openxmlformats.org/officeDocument/2006/relationships/slideLayout" Target="../slideLayouts/slideLayout12.xml"/><Relationship Id="rId10" Type="http://schemas.openxmlformats.org/officeDocument/2006/relationships/image" Target="../media/image39.emf"/><Relationship Id="rId1" Type="http://schemas.openxmlformats.org/officeDocument/2006/relationships/image" Target="../media/image2.jpeg"/></Relationships>
</file>

<file path=ppt/slides/_rels/slide10.xml.rels><?xml version="1.0" encoding="UTF-8" standalone="yes"?>
<Relationships xmlns="http://schemas.openxmlformats.org/package/2006/relationships"><Relationship Id="rId9" Type="http://schemas.openxmlformats.org/officeDocument/2006/relationships/tags" Target="../tags/tag45.xml"/><Relationship Id="rId8" Type="http://schemas.openxmlformats.org/officeDocument/2006/relationships/image" Target="../media/image36.svg"/><Relationship Id="rId7" Type="http://schemas.openxmlformats.org/officeDocument/2006/relationships/image" Target="../media/image35.png"/><Relationship Id="rId6" Type="http://schemas.openxmlformats.org/officeDocument/2006/relationships/tags" Target="../tags/tag44.xml"/><Relationship Id="rId5" Type="http://schemas.openxmlformats.org/officeDocument/2006/relationships/tags" Target="../tags/tag43.xml"/><Relationship Id="rId4" Type="http://schemas.openxmlformats.org/officeDocument/2006/relationships/tags" Target="../tags/tag42.xml"/><Relationship Id="rId3" Type="http://schemas.openxmlformats.org/officeDocument/2006/relationships/image" Target="../media/image41.png"/><Relationship Id="rId2" Type="http://schemas.openxmlformats.org/officeDocument/2006/relationships/image" Target="../media/image40.png"/><Relationship Id="rId13" Type="http://schemas.openxmlformats.org/officeDocument/2006/relationships/notesSlide" Target="../notesSlides/notesSlide10.xml"/><Relationship Id="rId12" Type="http://schemas.openxmlformats.org/officeDocument/2006/relationships/slideLayout" Target="../slideLayouts/slideLayout12.xml"/><Relationship Id="rId11" Type="http://schemas.openxmlformats.org/officeDocument/2006/relationships/image" Target="../media/image42.emf"/><Relationship Id="rId10" Type="http://schemas.openxmlformats.org/officeDocument/2006/relationships/tags" Target="../tags/tag46.xml"/><Relationship Id="rId1" Type="http://schemas.openxmlformats.org/officeDocument/2006/relationships/image" Target="../media/image2.jpeg"/></Relationships>
</file>

<file path=ppt/slides/_rels/slide11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1.xml"/><Relationship Id="rId3" Type="http://schemas.openxmlformats.org/officeDocument/2006/relationships/slideLayout" Target="../slideLayouts/slideLayout12.xml"/><Relationship Id="rId2" Type="http://schemas.openxmlformats.org/officeDocument/2006/relationships/image" Target="../media/image43.png"/><Relationship Id="rId1" Type="http://schemas.openxmlformats.org/officeDocument/2006/relationships/image" Target="../media/image2.jpe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2.xml"/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44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000000">
              <a:alpha val="3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1016000" y="1524000"/>
            <a:ext cx="10160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48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实验四 动态规划 — 鸡蛋掉落问题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1016000" y="2921000"/>
            <a:ext cx="10160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10B98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算法设计与分析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1016000" y="4430395"/>
            <a:ext cx="10160000" cy="974090"/>
          </a:xfrm>
          <a:prstGeom prst="roundRect">
            <a:avLst>
              <a:gd name="adj" fmla="val 8571"/>
            </a:avLst>
          </a:prstGeom>
          <a:solidFill>
            <a:srgbClr val="FFFFFF">
              <a:alpha val="92000"/>
            </a:srgb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6" name="AutoShape 6"/>
          <p:cNvSpPr/>
          <p:nvPr/>
        </p:nvSpPr>
        <p:spPr>
          <a:xfrm>
            <a:off x="1397000" y="4635500"/>
            <a:ext cx="4445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报告人：</a:t>
            </a:r>
            <a:r>
              <a:rPr lang="en-US" sz="1800" b="0" i="0" u="none" strike="noStrike">
                <a:solidFill>
                  <a:srgbClr val="525252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姚泽棉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6350000" y="4635500"/>
            <a:ext cx="4445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学　号：</a:t>
            </a:r>
            <a:r>
              <a:rPr lang="en-US" sz="1800" b="0" i="0" u="none" strike="noStrike">
                <a:solidFill>
                  <a:srgbClr val="525252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2024150026</a:t>
            </a:r>
            <a:endParaRPr lang="en-US" sz="11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762000" y="508000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问题描述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762000" y="1524000"/>
            <a:ext cx="5334000" cy="2159000"/>
          </a:xfrm>
          <a:prstGeom prst="roundRect">
            <a:avLst>
              <a:gd name="adj" fmla="val 7058"/>
            </a:avLst>
          </a:prstGeom>
          <a:solidFill>
            <a:srgbClr val="FFFFFF">
              <a:alpha val="95000"/>
            </a:srgbClr>
          </a:solidFill>
          <a:ln w="12700" cap="flat" cmpd="sng">
            <a:solidFill>
              <a:srgbClr val="EBEBEB">
                <a:alpha val="100000"/>
              </a:srgbClr>
            </a:solidFill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4" name="AutoShape 4"/>
          <p:cNvSpPr/>
          <p:nvPr/>
        </p:nvSpPr>
        <p:spPr>
          <a:xfrm>
            <a:off x="1016000" y="1714500"/>
            <a:ext cx="4826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10B98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01 / 问题定义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1016000" y="2286000"/>
            <a:ext cx="48260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17000"/>
              </a:lnSpc>
              <a:defRPr/>
            </a:pPr>
            <a:r>
              <a:rPr lang="en-US" sz="14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给定</a:t>
            </a:r>
            <a:r>
              <a:rPr lang="en-US" sz="1400" b="1" i="0" u="none" strike="noStrike">
                <a:solidFill>
                  <a:srgbClr val="10B98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e 个完全相同的鸡蛋</a:t>
            </a:r>
            <a:r>
              <a:rPr lang="en-US" sz="14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和一栋</a:t>
            </a:r>
            <a:r>
              <a:rPr lang="en-US" sz="1400" b="1" i="0" u="none" strike="noStrike">
                <a:solidFill>
                  <a:srgbClr val="10B98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f 层高的建筑</a:t>
            </a:r>
            <a:r>
              <a:rPr lang="en-US" sz="14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，存在一个临界楼层 k。鸡蛋从 k 层及以上掉落会破碎，从 k 层以下掉落则不会。</a:t>
            </a:r>
            <a:endParaRPr lang="en-US" sz="1100"/>
          </a:p>
          <a:p>
            <a:pPr indent="0" algn="l">
              <a:lnSpc>
                <a:spcPct val="117000"/>
              </a:lnSpc>
            </a:pPr>
            <a:r>
              <a:rPr lang="en-US" sz="14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核心任务：在</a:t>
            </a:r>
            <a:r>
              <a:rPr lang="en-US" sz="1400" b="1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最坏情况下</a:t>
            </a:r>
            <a:r>
              <a:rPr lang="en-US" sz="14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，需要多少次实验才能确定这个临界楼层 k？</a:t>
            </a:r>
            <a:endParaRPr lang="en-US" sz="1400" b="0" i="0" u="none" strike="noStrike">
              <a:solidFill>
                <a:srgbClr val="4B5563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6" name="AutoShape 6"/>
          <p:cNvSpPr/>
          <p:nvPr/>
        </p:nvSpPr>
        <p:spPr>
          <a:xfrm>
            <a:off x="762000" y="3937000"/>
            <a:ext cx="5334000" cy="2413000"/>
          </a:xfrm>
          <a:prstGeom prst="roundRect">
            <a:avLst>
              <a:gd name="adj" fmla="val 6315"/>
            </a:avLst>
          </a:prstGeom>
          <a:solidFill>
            <a:srgbClr val="FFFFFF">
              <a:alpha val="95000"/>
            </a:srgbClr>
          </a:solidFill>
          <a:ln w="12700" cap="flat" cmpd="sng">
            <a:solidFill>
              <a:srgbClr val="EBEBEB">
                <a:alpha val="100000"/>
              </a:srgbClr>
            </a:solidFill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7" name="AutoShape 7"/>
          <p:cNvSpPr/>
          <p:nvPr/>
        </p:nvSpPr>
        <p:spPr>
          <a:xfrm>
            <a:off x="1016000" y="4127500"/>
            <a:ext cx="4826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10B98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02 / 核心规则与约束</a:t>
            </a:r>
            <a:endParaRPr lang="en-US" sz="1100"/>
          </a:p>
        </p:txBody>
      </p:sp>
      <p:pic>
        <p:nvPicPr>
          <p:cNvPr id="8" name="Picture 8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16000" y="4762500"/>
            <a:ext cx="254000" cy="254000"/>
          </a:xfrm>
          <a:prstGeom prst="rect">
            <a:avLst/>
          </a:prstGeom>
        </p:spPr>
      </p:pic>
      <p:sp>
        <p:nvSpPr>
          <p:cNvPr id="9" name="AutoShape 9"/>
          <p:cNvSpPr/>
          <p:nvPr/>
        </p:nvSpPr>
        <p:spPr>
          <a:xfrm>
            <a:off x="1397000" y="4724400"/>
            <a:ext cx="2159000" cy="571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3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可重复使用：</a:t>
            </a:r>
            <a:r>
              <a:rPr lang="en-US" sz="1200" b="0" i="0" u="none" strike="noStrike">
                <a:solidFill>
                  <a:srgbClr val="6B72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未破碎的鸡蛋可继续实验。</a:t>
            </a:r>
            <a:endParaRPr lang="en-US" sz="1100"/>
          </a:p>
        </p:txBody>
      </p:sp>
      <p:pic>
        <p:nvPicPr>
          <p:cNvPr id="10" name="Picture 10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556000" y="4762500"/>
            <a:ext cx="254000" cy="254000"/>
          </a:xfrm>
          <a:prstGeom prst="rect">
            <a:avLst/>
          </a:prstGeom>
        </p:spPr>
      </p:pic>
      <p:sp>
        <p:nvSpPr>
          <p:cNvPr id="11" name="AutoShape 11"/>
          <p:cNvSpPr/>
          <p:nvPr/>
        </p:nvSpPr>
        <p:spPr>
          <a:xfrm>
            <a:off x="3937000" y="4724400"/>
            <a:ext cx="2032000" cy="571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3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一次性消耗：</a:t>
            </a:r>
            <a:r>
              <a:rPr lang="en-US" sz="1200" b="0" i="0" u="none" strike="noStrike">
                <a:solidFill>
                  <a:srgbClr val="6B72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破碎的鸡蛋必须被丢弃。</a:t>
            </a:r>
            <a:endParaRPr lang="en-US" sz="1100"/>
          </a:p>
        </p:txBody>
      </p:sp>
      <p:pic>
        <p:nvPicPr>
          <p:cNvPr id="12" name="Picture 12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016000" y="5524500"/>
            <a:ext cx="254000" cy="254000"/>
          </a:xfrm>
          <a:prstGeom prst="rect">
            <a:avLst/>
          </a:prstGeom>
        </p:spPr>
      </p:pic>
      <p:sp>
        <p:nvSpPr>
          <p:cNvPr id="13" name="AutoShape 13"/>
          <p:cNvSpPr/>
          <p:nvPr/>
        </p:nvSpPr>
        <p:spPr>
          <a:xfrm>
            <a:off x="1397000" y="5486400"/>
            <a:ext cx="2159000" cy="571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3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单调性：</a:t>
            </a:r>
            <a:r>
              <a:rPr lang="en-US" sz="1200" b="0" i="0" u="none" strike="noStrike">
                <a:solidFill>
                  <a:srgbClr val="6B72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破碎状态随楼层单调变化。</a:t>
            </a:r>
            <a:endParaRPr lang="en-US" sz="1100"/>
          </a:p>
        </p:txBody>
      </p:sp>
      <p:pic>
        <p:nvPicPr>
          <p:cNvPr id="14" name="Picture 14"/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3556000" y="5524500"/>
            <a:ext cx="254000" cy="254000"/>
          </a:xfrm>
          <a:prstGeom prst="rect">
            <a:avLst/>
          </a:prstGeom>
        </p:spPr>
      </p:pic>
      <p:sp>
        <p:nvSpPr>
          <p:cNvPr id="15" name="AutoShape 15"/>
          <p:cNvSpPr/>
          <p:nvPr/>
        </p:nvSpPr>
        <p:spPr>
          <a:xfrm>
            <a:off x="3937000" y="5486400"/>
            <a:ext cx="2032000" cy="571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3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最终目标：</a:t>
            </a:r>
            <a:r>
              <a:rPr lang="en-US" sz="1200" b="0" i="0" u="none" strike="noStrike">
                <a:solidFill>
                  <a:srgbClr val="6B72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寻找确定k的最少实验次数。</a:t>
            </a:r>
            <a:endParaRPr lang="en-US" sz="1100"/>
          </a:p>
        </p:txBody>
      </p:sp>
      <p:sp>
        <p:nvSpPr>
          <p:cNvPr id="17" name="Shape 15"/>
          <p:cNvSpPr/>
          <p:nvPr/>
        </p:nvSpPr>
        <p:spPr>
          <a:xfrm>
            <a:off x="7352030" y="1422273"/>
            <a:ext cx="1325880" cy="384048"/>
          </a:xfrm>
          <a:prstGeom prst="rect">
            <a:avLst/>
          </a:prstGeom>
          <a:solidFill>
            <a:srgbClr val="FFEDD5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352030" y="1925193"/>
            <a:ext cx="1325880" cy="384048"/>
          </a:xfrm>
          <a:prstGeom prst="rect">
            <a:avLst/>
          </a:prstGeom>
          <a:solidFill>
            <a:srgbClr val="FFEDD5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352030" y="2428113"/>
            <a:ext cx="1325880" cy="384048"/>
          </a:xfrm>
          <a:prstGeom prst="rect">
            <a:avLst/>
          </a:prstGeom>
          <a:solidFill>
            <a:srgbClr val="FFEDD5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352030" y="2931033"/>
            <a:ext cx="1325880" cy="384048"/>
          </a:xfrm>
          <a:prstGeom prst="rect">
            <a:avLst/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7352030" y="3433953"/>
            <a:ext cx="1325880" cy="384048"/>
          </a:xfrm>
          <a:prstGeom prst="rect">
            <a:avLst/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7352030" y="3936873"/>
            <a:ext cx="1325880" cy="384048"/>
          </a:xfrm>
          <a:prstGeom prst="rect">
            <a:avLst/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7352030" y="4439793"/>
            <a:ext cx="1325880" cy="384048"/>
          </a:xfrm>
          <a:prstGeom prst="rect">
            <a:avLst/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7352030" y="4942713"/>
            <a:ext cx="1325880" cy="384048"/>
          </a:xfrm>
          <a:prstGeom prst="rect">
            <a:avLst/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7077710" y="2647442"/>
            <a:ext cx="1901952" cy="0"/>
          </a:xfrm>
          <a:prstGeom prst="line">
            <a:avLst/>
          </a:prstGeom>
          <a:noFill/>
          <a:ln w="38100">
            <a:solidFill>
              <a:srgbClr val="F9731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9180830" y="2519426"/>
            <a:ext cx="242316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9731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门槛层：从这里开始会碎</a:t>
            </a:r>
            <a:endParaRPr lang="en-US" sz="1500" dirty="0"/>
          </a:p>
        </p:txBody>
      </p:sp>
      <p:sp>
        <p:nvSpPr>
          <p:cNvPr id="27" name="Shape 25"/>
          <p:cNvSpPr/>
          <p:nvPr/>
        </p:nvSpPr>
        <p:spPr>
          <a:xfrm>
            <a:off x="9180830" y="1275969"/>
            <a:ext cx="320040" cy="41148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F97316"/>
            </a:solidFill>
            <a:prstDash val="solid"/>
          </a:ln>
        </p:spPr>
      </p:sp>
      <p:sp>
        <p:nvSpPr>
          <p:cNvPr id="16" name="文本框 15"/>
          <p:cNvSpPr txBox="1"/>
          <p:nvPr/>
        </p:nvSpPr>
        <p:spPr>
          <a:xfrm>
            <a:off x="7942580" y="6599555"/>
            <a:ext cx="4064000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zh-CN" alt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7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762000" y="508000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算法原理：动态规划 </a:t>
            </a:r>
            <a:r>
              <a:rPr lang="zh-CN" altLang="en-US" sz="2000" b="1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（一</a:t>
            </a:r>
            <a:r>
              <a:rPr lang="en-US" sz="2000" b="1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次投掷，拆成两种结果，再取最优最坏值</a:t>
            </a:r>
            <a:r>
              <a:rPr lang="zh-CN" altLang="en-US" sz="2000" b="1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）</a:t>
            </a:r>
            <a:endParaRPr lang="zh-CN" altLang="en-US" sz="800"/>
          </a:p>
          <a:p>
            <a:pPr indent="0" algn="l">
              <a:lnSpc>
                <a:spcPct val="125000"/>
              </a:lnSpc>
              <a:defRPr/>
            </a:pPr>
            <a:endParaRPr lang="zh-CN" altLang="en-US" sz="800"/>
          </a:p>
        </p:txBody>
      </p:sp>
      <p:sp>
        <p:nvSpPr>
          <p:cNvPr id="4" name="AutoShape 4"/>
          <p:cNvSpPr/>
          <p:nvPr/>
        </p:nvSpPr>
        <p:spPr>
          <a:xfrm>
            <a:off x="762000" y="1349375"/>
            <a:ext cx="10668000" cy="1143000"/>
          </a:xfrm>
          <a:prstGeom prst="roundRect">
            <a:avLst>
              <a:gd name="adj" fmla="val 8888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5" name="AutoShape 5"/>
          <p:cNvSpPr/>
          <p:nvPr/>
        </p:nvSpPr>
        <p:spPr>
          <a:xfrm>
            <a:off x="685800" y="1349375"/>
            <a:ext cx="76200" cy="1143000"/>
          </a:xfrm>
          <a:prstGeom prst="roundRect">
            <a:avLst>
              <a:gd name="adj" fmla="val 0"/>
            </a:avLst>
          </a:prstGeom>
          <a:solidFill>
            <a:srgbClr val="10B981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6" name="Picture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43000" y="1641475"/>
            <a:ext cx="355600" cy="355600"/>
          </a:xfrm>
          <a:prstGeom prst="rect">
            <a:avLst/>
          </a:prstGeom>
        </p:spPr>
      </p:pic>
      <p:sp>
        <p:nvSpPr>
          <p:cNvPr id="7" name="AutoShape 7"/>
          <p:cNvSpPr/>
          <p:nvPr/>
        </p:nvSpPr>
        <p:spPr>
          <a:xfrm>
            <a:off x="1778000" y="1476375"/>
            <a:ext cx="9271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10B98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核心思想：最优子结构与记忆化搜索</a:t>
            </a:r>
            <a:endParaRPr lang="en-US" sz="1100"/>
          </a:p>
          <a:p>
            <a:pPr indent="0" algn="l">
              <a:lnSpc>
                <a:spcPct val="125000"/>
              </a:lnSpc>
            </a:pPr>
            <a:r>
              <a:rPr lang="en-US" sz="1400" b="0" i="0" u="none" strike="noStrike">
                <a:solidFill>
                  <a:srgbClr val="5555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将一个复杂的原问题，递归地分解为若干个规模更小、结构相似的子问题；</a:t>
            </a:r>
            <a:endParaRPr lang="en-US" sz="1400" b="0" i="0" u="none" strike="noStrike">
              <a:solidFill>
                <a:srgbClr val="555555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8" name="AutoShape 8"/>
          <p:cNvSpPr/>
          <p:nvPr>
            <p:custDataLst>
              <p:tags r:id="rId4"/>
            </p:custDataLst>
          </p:nvPr>
        </p:nvSpPr>
        <p:spPr>
          <a:xfrm>
            <a:off x="762000" y="2698750"/>
            <a:ext cx="3378200" cy="3651250"/>
          </a:xfrm>
          <a:prstGeom prst="roundRect">
            <a:avLst>
              <a:gd name="adj" fmla="val 3007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9" name="Picture 9"/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016000" y="2914015"/>
            <a:ext cx="304800" cy="304800"/>
          </a:xfrm>
          <a:prstGeom prst="rect">
            <a:avLst/>
          </a:prstGeom>
        </p:spPr>
      </p:pic>
      <p:sp>
        <p:nvSpPr>
          <p:cNvPr id="10" name="AutoShape 10"/>
          <p:cNvSpPr/>
          <p:nvPr>
            <p:custDataLst>
              <p:tags r:id="rId8"/>
            </p:custDataLst>
          </p:nvPr>
        </p:nvSpPr>
        <p:spPr>
          <a:xfrm>
            <a:off x="1447800" y="2888615"/>
            <a:ext cx="2413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状态定义 (DP State)</a:t>
            </a:r>
            <a:endParaRPr lang="en-US" sz="1100"/>
          </a:p>
        </p:txBody>
      </p:sp>
      <p:sp>
        <p:nvSpPr>
          <p:cNvPr id="11" name="AutoShape 11"/>
          <p:cNvSpPr/>
          <p:nvPr>
            <p:custDataLst>
              <p:tags r:id="rId9"/>
            </p:custDataLst>
          </p:nvPr>
        </p:nvSpPr>
        <p:spPr>
          <a:xfrm>
            <a:off x="1016000" y="3724910"/>
            <a:ext cx="2870200" cy="215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17000"/>
              </a:lnSpc>
              <a:defRPr/>
            </a:pPr>
            <a:r>
              <a:rPr lang="en-US" sz="1800" b="1" i="0" u="none" strike="noStrike">
                <a:solidFill>
                  <a:srgbClr val="10B98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dp(e, f) = </a:t>
            </a:r>
            <a:r>
              <a:rPr lang="en-US" sz="1800" b="1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e 个鸡蛋</a:t>
            </a:r>
            <a:r>
              <a:rPr lang="en-US" sz="18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和</a:t>
            </a:r>
            <a:r>
              <a:rPr lang="en-US" sz="1800" b="1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f 层楼</a:t>
            </a:r>
            <a:r>
              <a:rPr lang="en-US" sz="18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的条件下，在“最坏情况”下确定临界楼层所需的</a:t>
            </a:r>
            <a:r>
              <a:rPr lang="en-US" sz="1800" b="1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最少实验次数</a:t>
            </a:r>
            <a:r>
              <a:rPr lang="en-US" sz="18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。</a:t>
            </a:r>
            <a:endParaRPr lang="en-US" sz="1800" b="0" i="0" u="none" strike="noStrike">
              <a:solidFill>
                <a:srgbClr val="4B5563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indent="0" algn="l">
              <a:lnSpc>
                <a:spcPct val="125000"/>
              </a:lnSpc>
              <a:spcBef>
                <a:spcPts val="1200"/>
              </a:spcBef>
            </a:pPr>
            <a:endParaRPr lang="en-US" sz="1800" b="0" i="0" u="none" strike="noStrike">
              <a:solidFill>
                <a:srgbClr val="4B5563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2" name="AutoShape 12"/>
          <p:cNvSpPr/>
          <p:nvPr>
            <p:custDataLst>
              <p:tags r:id="rId10"/>
            </p:custDataLst>
          </p:nvPr>
        </p:nvSpPr>
        <p:spPr>
          <a:xfrm>
            <a:off x="4406900" y="2699385"/>
            <a:ext cx="7023100" cy="3650615"/>
          </a:xfrm>
          <a:prstGeom prst="roundRect">
            <a:avLst>
              <a:gd name="adj" fmla="val 3007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3" name="Picture 13"/>
          <p:cNvPicPr>
            <a:picLocks noChangeAspect="1"/>
          </p:cNvPicPr>
          <p:nvPr>
            <p:custDataLst>
              <p:tags r:id="rId11"/>
            </p:custDataLst>
          </p:nvPr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4660900" y="2914015"/>
            <a:ext cx="304800" cy="304800"/>
          </a:xfrm>
          <a:prstGeom prst="rect">
            <a:avLst/>
          </a:prstGeom>
        </p:spPr>
      </p:pic>
      <p:sp>
        <p:nvSpPr>
          <p:cNvPr id="14" name="AutoShape 14"/>
          <p:cNvSpPr/>
          <p:nvPr>
            <p:custDataLst>
              <p:tags r:id="rId14"/>
            </p:custDataLst>
          </p:nvPr>
        </p:nvSpPr>
        <p:spPr>
          <a:xfrm>
            <a:off x="5092700" y="2888615"/>
            <a:ext cx="2413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状态转移 (Transition)</a:t>
            </a:r>
            <a:endParaRPr lang="en-US" sz="1100"/>
          </a:p>
        </p:txBody>
      </p:sp>
      <p:sp>
        <p:nvSpPr>
          <p:cNvPr id="20" name="Text 11"/>
          <p:cNvSpPr/>
          <p:nvPr/>
        </p:nvSpPr>
        <p:spPr>
          <a:xfrm>
            <a:off x="1016000" y="3404870"/>
            <a:ext cx="996696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47556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状态定义：</a:t>
            </a:r>
            <a:endParaRPr lang="en-US" sz="1600" dirty="0"/>
          </a:p>
        </p:txBody>
      </p:sp>
      <p:pic>
        <p:nvPicPr>
          <p:cNvPr id="28" name="图片 27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4660900" y="3467100"/>
            <a:ext cx="6391275" cy="241681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8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762000" y="508000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算法演进：蛮力递归 → 记忆化搜索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1397000"/>
            <a:ext cx="10668000" cy="1397000"/>
          </a:xfrm>
          <a:prstGeom prst="roundRect">
            <a:avLst>
              <a:gd name="adj" fmla="val 10909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5" name="Picture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16000" y="1651000"/>
            <a:ext cx="406400" cy="406400"/>
          </a:xfrm>
          <a:prstGeom prst="rect">
            <a:avLst/>
          </a:prstGeom>
        </p:spPr>
      </p:pic>
      <p:sp>
        <p:nvSpPr>
          <p:cNvPr id="6" name="AutoShape 6"/>
          <p:cNvSpPr/>
          <p:nvPr/>
        </p:nvSpPr>
        <p:spPr>
          <a:xfrm>
            <a:off x="1651000" y="1587500"/>
            <a:ext cx="9398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en-US" sz="1800" b="1" i="0" u="none" strike="noStrike">
                <a:solidFill>
                  <a:srgbClr val="10B98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核心思想：引入缓存，消除重复计算</a:t>
            </a:r>
            <a:endParaRPr lang="en-US" sz="1100"/>
          </a:p>
          <a:p>
            <a:pPr indent="0" algn="l">
              <a:lnSpc>
                <a:spcPct val="117000"/>
              </a:lnSpc>
              <a:spcBef>
                <a:spcPts val="800"/>
              </a:spcBef>
            </a:pPr>
            <a:r>
              <a:rPr lang="en-US" sz="18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蛮力递归会重复计算大量相同状态的子问题。记忆化搜索引入一个“缓存（记忆数组）”，将已计算结果存入缓存，后续遇到相同状态直接读取结果。</a:t>
            </a:r>
            <a:endParaRPr lang="en-US" sz="1800" b="0" i="0" u="none" strike="noStrike">
              <a:solidFill>
                <a:srgbClr val="4B5563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7" name="AutoShape 7"/>
          <p:cNvSpPr/>
          <p:nvPr>
            <p:custDataLst>
              <p:tags r:id="rId4"/>
            </p:custDataLst>
          </p:nvPr>
        </p:nvSpPr>
        <p:spPr>
          <a:xfrm>
            <a:off x="762000" y="3580130"/>
            <a:ext cx="3302000" cy="2159000"/>
          </a:xfrm>
          <a:prstGeom prst="roundRect">
            <a:avLst>
              <a:gd name="adj" fmla="val 7058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8" name="Picture 8"/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016000" y="3834130"/>
            <a:ext cx="457200" cy="457200"/>
          </a:xfrm>
          <a:prstGeom prst="rect">
            <a:avLst/>
          </a:prstGeom>
        </p:spPr>
      </p:pic>
      <p:sp>
        <p:nvSpPr>
          <p:cNvPr id="9" name="AutoShape 9"/>
          <p:cNvSpPr/>
          <p:nvPr>
            <p:custDataLst>
              <p:tags r:id="rId8"/>
            </p:custDataLst>
          </p:nvPr>
        </p:nvSpPr>
        <p:spPr>
          <a:xfrm>
            <a:off x="1651000" y="3834130"/>
            <a:ext cx="2159000" cy="165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01. 首次计算</a:t>
            </a:r>
            <a:endParaRPr lang="en-US" sz="1100"/>
          </a:p>
          <a:p>
            <a:pPr indent="0" algn="l">
              <a:lnSpc>
                <a:spcPct val="108000"/>
              </a:lnSpc>
              <a:spcBef>
                <a:spcPts val="800"/>
              </a:spcBef>
            </a:pPr>
            <a:r>
              <a:rPr lang="en-US" sz="1600" b="0" i="0" u="none" strike="noStrike">
                <a:solidFill>
                  <a:srgbClr val="6B72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当第一次访问递归树的节点时，正常执行递归计算逻辑，并将最终结果</a:t>
            </a:r>
            <a:r>
              <a:rPr lang="zh-CN" altLang="en-US" sz="1600" b="0" i="0" u="none" strike="noStrike">
                <a:solidFill>
                  <a:srgbClr val="6B72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记录</a:t>
            </a:r>
            <a:r>
              <a:rPr lang="en-US" sz="1600" b="0" i="0" u="none" strike="noStrike">
                <a:solidFill>
                  <a:srgbClr val="6B72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。</a:t>
            </a:r>
            <a:endParaRPr lang="en-US" sz="1600" b="0" i="0" u="none" strike="noStrike">
              <a:solidFill>
                <a:srgbClr val="6B7280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0" name="AutoShape 10"/>
          <p:cNvSpPr/>
          <p:nvPr>
            <p:custDataLst>
              <p:tags r:id="rId9"/>
            </p:custDataLst>
          </p:nvPr>
        </p:nvSpPr>
        <p:spPr>
          <a:xfrm>
            <a:off x="4445000" y="3580130"/>
            <a:ext cx="3302000" cy="2159000"/>
          </a:xfrm>
          <a:prstGeom prst="roundRect">
            <a:avLst>
              <a:gd name="adj" fmla="val 7058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1" name="Picture 11"/>
          <p:cNvPicPr>
            <a:picLocks noChangeAspect="1"/>
          </p:cNvPicPr>
          <p:nvPr>
            <p:custDataLst>
              <p:tags r:id="rId10"/>
            </p:custDataLst>
          </p:nvPr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4699000" y="3834130"/>
            <a:ext cx="457200" cy="457200"/>
          </a:xfrm>
          <a:prstGeom prst="rect">
            <a:avLst/>
          </a:prstGeom>
        </p:spPr>
      </p:pic>
      <p:sp>
        <p:nvSpPr>
          <p:cNvPr id="12" name="AutoShape 12"/>
          <p:cNvSpPr/>
          <p:nvPr>
            <p:custDataLst>
              <p:tags r:id="rId13"/>
            </p:custDataLst>
          </p:nvPr>
        </p:nvSpPr>
        <p:spPr>
          <a:xfrm>
            <a:off x="5334000" y="3834130"/>
            <a:ext cx="2332990" cy="165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02. 标记状态</a:t>
            </a:r>
            <a:endParaRPr lang="en-US" sz="1100"/>
          </a:p>
          <a:p>
            <a:pPr indent="0" algn="l">
              <a:lnSpc>
                <a:spcPct val="108000"/>
              </a:lnSpc>
              <a:spcBef>
                <a:spcPts val="800"/>
              </a:spcBef>
            </a:pPr>
            <a:r>
              <a:rPr lang="en-US" sz="1600" b="0" i="0" u="none" strike="noStrike">
                <a:solidFill>
                  <a:srgbClr val="6B72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我们给这些计算过的节点贴上“已计算”的标签。</a:t>
            </a:r>
            <a:endParaRPr lang="en-US" sz="1600" b="0" i="0" u="none" strike="noStrike">
              <a:solidFill>
                <a:srgbClr val="6B7280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3" name="AutoShape 13"/>
          <p:cNvSpPr/>
          <p:nvPr>
            <p:custDataLst>
              <p:tags r:id="rId14"/>
            </p:custDataLst>
          </p:nvPr>
        </p:nvSpPr>
        <p:spPr>
          <a:xfrm>
            <a:off x="8128000" y="3580130"/>
            <a:ext cx="3302000" cy="2159000"/>
          </a:xfrm>
          <a:prstGeom prst="roundRect">
            <a:avLst>
              <a:gd name="adj" fmla="val 7058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4" name="Picture 14"/>
          <p:cNvPicPr>
            <a:picLocks noChangeAspect="1"/>
          </p:cNvPicPr>
          <p:nvPr>
            <p:custDataLst>
              <p:tags r:id="rId15"/>
            </p:custDataLst>
          </p:nvPr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8382000" y="3834130"/>
            <a:ext cx="457200" cy="457200"/>
          </a:xfrm>
          <a:prstGeom prst="rect">
            <a:avLst/>
          </a:prstGeom>
        </p:spPr>
      </p:pic>
      <p:sp>
        <p:nvSpPr>
          <p:cNvPr id="15" name="AutoShape 15"/>
          <p:cNvSpPr/>
          <p:nvPr>
            <p:custDataLst>
              <p:tags r:id="rId18"/>
            </p:custDataLst>
          </p:nvPr>
        </p:nvSpPr>
        <p:spPr>
          <a:xfrm>
            <a:off x="8839200" y="3834130"/>
            <a:ext cx="2625090" cy="165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03. 再次访问</a:t>
            </a:r>
            <a:endParaRPr lang="en-US" sz="1100"/>
          </a:p>
          <a:p>
            <a:pPr indent="0" algn="l">
              <a:lnSpc>
                <a:spcPct val="108000"/>
              </a:lnSpc>
              <a:spcBef>
                <a:spcPts val="800"/>
              </a:spcBef>
            </a:pPr>
            <a:r>
              <a:rPr lang="en-US" sz="1600" b="0" i="0" u="none" strike="noStrike">
                <a:solidFill>
                  <a:srgbClr val="6B72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当递归路径再次遇到已标记的节点时，直接获取结果并返回，不再进行深层递归，彻底切断重复的计算路径。</a:t>
            </a:r>
            <a:endParaRPr lang="en-US" sz="1600" b="0" i="0" u="none" strike="noStrike">
              <a:solidFill>
                <a:srgbClr val="6B7280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8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762000" y="508000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算法演进：记忆化搜索 → 二分优化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2386330"/>
            <a:ext cx="3302000" cy="4018915"/>
          </a:xfrm>
          <a:prstGeom prst="roundRect">
            <a:avLst>
              <a:gd name="adj" fmla="val 4615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5" name="AutoShape 5"/>
          <p:cNvSpPr/>
          <p:nvPr>
            <p:custDataLst>
              <p:tags r:id="rId2"/>
            </p:custDataLst>
          </p:nvPr>
        </p:nvSpPr>
        <p:spPr>
          <a:xfrm>
            <a:off x="762000" y="2386330"/>
            <a:ext cx="3302000" cy="762000"/>
          </a:xfrm>
          <a:prstGeom prst="roundRect">
            <a:avLst>
              <a:gd name="adj" fmla="val 0"/>
            </a:avLst>
          </a:prstGeom>
          <a:solidFill>
            <a:srgbClr val="10B981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6" name="Picture 6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52500" y="2564130"/>
            <a:ext cx="406400" cy="406400"/>
          </a:xfrm>
          <a:prstGeom prst="rect">
            <a:avLst/>
          </a:prstGeom>
        </p:spPr>
      </p:pic>
      <p:sp>
        <p:nvSpPr>
          <p:cNvPr id="7" name="AutoShape 7"/>
          <p:cNvSpPr/>
          <p:nvPr>
            <p:custDataLst>
              <p:tags r:id="rId6"/>
            </p:custDataLst>
          </p:nvPr>
        </p:nvSpPr>
        <p:spPr>
          <a:xfrm>
            <a:off x="1460500" y="2513330"/>
            <a:ext cx="2413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01 / 核心思想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952500" y="3402330"/>
            <a:ext cx="2921000" cy="317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8000"/>
              </a:lnSpc>
              <a:spcAft>
                <a:spcPts val="1000"/>
              </a:spcAft>
              <a:defRPr/>
            </a:pPr>
            <a:r>
              <a:rPr lang="en-US" sz="16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枚举 ➔ 二分查找</a:t>
            </a:r>
            <a:endParaRPr lang="en-US" sz="1100"/>
          </a:p>
          <a:p>
            <a:pPr indent="0" algn="l">
              <a:lnSpc>
                <a:spcPct val="125000"/>
              </a:lnSpc>
            </a:pPr>
            <a:r>
              <a:rPr lang="en-US" sz="1600" b="0" i="0" u="none" strike="noStrike">
                <a:solidFill>
                  <a:srgbClr val="525252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在记忆化搜索的基础上，利用状态转移方程中两个子问题解的</a:t>
            </a:r>
            <a:r>
              <a:rPr lang="en-US" sz="1600" b="1" i="0" u="none" strike="noStrike">
                <a:solidFill>
                  <a:srgbClr val="525252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单调性</a:t>
            </a:r>
            <a:r>
              <a:rPr lang="en-US" sz="1600" b="0" i="0" u="none" strike="noStrike">
                <a:solidFill>
                  <a:srgbClr val="525252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，将每层状态转移时的“线性枚举”替换为“二分查找”。</a:t>
            </a:r>
            <a:endParaRPr lang="en-US" sz="1600" b="0" i="0" u="none" strike="noStrike">
              <a:solidFill>
                <a:srgbClr val="525252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indent="0" algn="l">
              <a:lnSpc>
                <a:spcPct val="125000"/>
              </a:lnSpc>
              <a:spcBef>
                <a:spcPts val="1200"/>
              </a:spcBef>
            </a:pPr>
            <a:r>
              <a:rPr lang="en-US" sz="1600" b="1" i="0" u="none" strike="noStrike">
                <a:solidFill>
                  <a:srgbClr val="10B98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本质：利用数学性质减少无效搜索。</a:t>
            </a:r>
            <a:endParaRPr lang="en-US" sz="1600" b="1" i="0" u="none" strike="noStrike">
              <a:solidFill>
                <a:srgbClr val="10B981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9" name="AutoShape 9"/>
          <p:cNvSpPr/>
          <p:nvPr/>
        </p:nvSpPr>
        <p:spPr>
          <a:xfrm>
            <a:off x="4445000" y="2386330"/>
            <a:ext cx="3302000" cy="4018915"/>
          </a:xfrm>
          <a:prstGeom prst="roundRect">
            <a:avLst>
              <a:gd name="adj" fmla="val 4615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0" name="AutoShape 10"/>
          <p:cNvSpPr/>
          <p:nvPr>
            <p:custDataLst>
              <p:tags r:id="rId7"/>
            </p:custDataLst>
          </p:nvPr>
        </p:nvSpPr>
        <p:spPr>
          <a:xfrm>
            <a:off x="4445000" y="2386330"/>
            <a:ext cx="3302000" cy="762000"/>
          </a:xfrm>
          <a:prstGeom prst="roundRect">
            <a:avLst>
              <a:gd name="adj" fmla="val 0"/>
            </a:avLst>
          </a:prstGeom>
          <a:solidFill>
            <a:srgbClr val="10B981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1" name="Picture 11"/>
          <p:cNvPicPr>
            <a:picLocks noChangeAspect="1"/>
          </p:cNvPicPr>
          <p:nvPr>
            <p:custDataLst>
              <p:tags r:id="rId8"/>
            </p:custDataLst>
          </p:nvPr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4635500" y="2564130"/>
            <a:ext cx="406400" cy="406400"/>
          </a:xfrm>
          <a:prstGeom prst="rect">
            <a:avLst/>
          </a:prstGeom>
        </p:spPr>
      </p:pic>
      <p:sp>
        <p:nvSpPr>
          <p:cNvPr id="12" name="AutoShape 12"/>
          <p:cNvSpPr/>
          <p:nvPr>
            <p:custDataLst>
              <p:tags r:id="rId11"/>
            </p:custDataLst>
          </p:nvPr>
        </p:nvSpPr>
        <p:spPr>
          <a:xfrm>
            <a:off x="5143500" y="2513330"/>
            <a:ext cx="2413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02 / 逻辑可视化</a:t>
            </a:r>
            <a:endParaRPr lang="en-US" sz="1100"/>
          </a:p>
        </p:txBody>
      </p:sp>
      <p:sp>
        <p:nvSpPr>
          <p:cNvPr id="13" name="AutoShape 13"/>
          <p:cNvSpPr/>
          <p:nvPr/>
        </p:nvSpPr>
        <p:spPr>
          <a:xfrm>
            <a:off x="4635500" y="3402330"/>
            <a:ext cx="2921000" cy="317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8000"/>
              </a:lnSpc>
              <a:spcAft>
                <a:spcPts val="800"/>
              </a:spcAft>
              <a:defRPr/>
            </a:pPr>
            <a:r>
              <a:rPr lang="en-US" sz="16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🔍   单调性规律</a:t>
            </a:r>
            <a:endParaRPr lang="en-US" sz="1200"/>
          </a:p>
          <a:p>
            <a:pPr indent="0" algn="l">
              <a:lnSpc>
                <a:spcPct val="117000"/>
              </a:lnSpc>
              <a:spcAft>
                <a:spcPts val="1600"/>
              </a:spcAft>
            </a:pPr>
            <a:r>
              <a:rPr lang="en-US" b="0" i="0" u="none" strike="noStrike">
                <a:solidFill>
                  <a:srgbClr val="66666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随着测试楼层 x 的增加，“鸡蛋破碎”的代价函数单调递增，而“鸡蛋未碎”的代价函数单调递减。</a:t>
            </a:r>
            <a:endParaRPr lang="en-US" b="0" i="0" u="none" strike="noStrike">
              <a:solidFill>
                <a:srgbClr val="666666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indent="0" algn="l">
              <a:lnSpc>
                <a:spcPct val="108000"/>
              </a:lnSpc>
              <a:spcAft>
                <a:spcPts val="800"/>
              </a:spcAft>
            </a:pPr>
            <a:r>
              <a:rPr lang="en-US" sz="16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🎮   策略</a:t>
            </a:r>
            <a:endParaRPr lang="en-US" sz="1600" b="1" i="0" u="none" strike="noStrike">
              <a:solidFill>
                <a:srgbClr val="333333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indent="0" algn="l">
              <a:lnSpc>
                <a:spcPct val="117000"/>
              </a:lnSpc>
            </a:pPr>
            <a:r>
              <a:rPr lang="en-US" b="0" i="0" u="none" strike="noStrike">
                <a:solidFill>
                  <a:srgbClr val="66666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最优解通常位于两个函数的“交点”附近。我们无需逐层尝试，只需数字从中间楼层开始，快速缩小范围，找到最优解。</a:t>
            </a:r>
            <a:endParaRPr lang="en-US" b="0" i="0" u="none" strike="noStrike">
              <a:solidFill>
                <a:srgbClr val="666666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pic>
        <p:nvPicPr>
          <p:cNvPr id="14" name="图片 27" descr="image-20230411175930819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8128000" y="2564130"/>
            <a:ext cx="4006215" cy="222631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28" name="图片 27"/>
          <p:cNvPicPr>
            <a:picLocks noChangeAspect="1"/>
          </p:cNvPicPr>
          <p:nvPr/>
        </p:nvPicPr>
        <p:blipFill>
          <a:blip r:embed="rId13"/>
          <a:srcRect t="71440"/>
          <a:stretch>
            <a:fillRect/>
          </a:stretch>
        </p:blipFill>
        <p:spPr>
          <a:xfrm>
            <a:off x="563880" y="1219200"/>
            <a:ext cx="8002270" cy="864235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6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762000" y="508000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算法演进：二分优化 → 优化状态法</a:t>
            </a:r>
            <a:endParaRPr lang="en-US" sz="1100"/>
          </a:p>
        </p:txBody>
      </p:sp>
      <p:sp>
        <p:nvSpPr>
          <p:cNvPr id="7" name="AutoShape 7"/>
          <p:cNvSpPr/>
          <p:nvPr>
            <p:custDataLst>
              <p:tags r:id="rId2"/>
            </p:custDataLst>
          </p:nvPr>
        </p:nvSpPr>
        <p:spPr>
          <a:xfrm>
            <a:off x="772795" y="1435735"/>
            <a:ext cx="4203065" cy="1905000"/>
          </a:xfrm>
          <a:prstGeom prst="roundRect">
            <a:avLst>
              <a:gd name="adj" fmla="val 5333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8" name="AutoShape 8"/>
          <p:cNvSpPr/>
          <p:nvPr>
            <p:custDataLst>
              <p:tags r:id="rId3"/>
            </p:custDataLst>
          </p:nvPr>
        </p:nvSpPr>
        <p:spPr>
          <a:xfrm>
            <a:off x="772795" y="1435735"/>
            <a:ext cx="3302000" cy="76200"/>
          </a:xfrm>
          <a:prstGeom prst="roundRect">
            <a:avLst>
              <a:gd name="adj" fmla="val 0"/>
            </a:avLst>
          </a:prstGeom>
          <a:solidFill>
            <a:srgbClr val="10B981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9" name="Picture 9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026795" y="1753235"/>
            <a:ext cx="304800" cy="304800"/>
          </a:xfrm>
          <a:prstGeom prst="rect">
            <a:avLst/>
          </a:prstGeom>
        </p:spPr>
      </p:pic>
      <p:sp>
        <p:nvSpPr>
          <p:cNvPr id="10" name="AutoShape 10"/>
          <p:cNvSpPr/>
          <p:nvPr>
            <p:custDataLst>
              <p:tags r:id="rId7"/>
            </p:custDataLst>
          </p:nvPr>
        </p:nvSpPr>
        <p:spPr>
          <a:xfrm>
            <a:off x="1471295" y="1689735"/>
            <a:ext cx="3418205" cy="1397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01 / 问题重构</a:t>
            </a:r>
            <a:endParaRPr lang="en-US" sz="1100"/>
          </a:p>
          <a:p>
            <a:pPr indent="0" algn="l">
              <a:lnSpc>
                <a:spcPct val="117000"/>
              </a:lnSpc>
              <a:spcBef>
                <a:spcPts val="1000"/>
              </a:spcBef>
            </a:pPr>
            <a:r>
              <a:rPr lang="en-US" sz="1600" b="0" i="0" u="none" strike="noStrike">
                <a:solidFill>
                  <a:srgbClr val="6B72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将关注点转换为计算函数 dp(m, e)，即：</a:t>
            </a:r>
            <a:r>
              <a:rPr lang="en-US" sz="1600" b="1" i="0" u="none" strike="noStrike">
                <a:solidFill>
                  <a:srgbClr val="6B72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m次实验、e个鸡蛋条件下，最多能测试并确定的楼层数。</a:t>
            </a:r>
            <a:endParaRPr lang="en-US" sz="1600" b="1" i="0" u="none" strike="noStrike">
              <a:solidFill>
                <a:srgbClr val="6B7280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5" name="AutoShape 15"/>
          <p:cNvSpPr/>
          <p:nvPr>
            <p:custDataLst>
              <p:tags r:id="rId8"/>
            </p:custDataLst>
          </p:nvPr>
        </p:nvSpPr>
        <p:spPr>
          <a:xfrm>
            <a:off x="762000" y="3865880"/>
            <a:ext cx="3302000" cy="1905000"/>
          </a:xfrm>
          <a:prstGeom prst="roundRect">
            <a:avLst>
              <a:gd name="adj" fmla="val 5333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6" name="AutoShape 16"/>
          <p:cNvSpPr/>
          <p:nvPr>
            <p:custDataLst>
              <p:tags r:id="rId9"/>
            </p:custDataLst>
          </p:nvPr>
        </p:nvSpPr>
        <p:spPr>
          <a:xfrm>
            <a:off x="762000" y="3865880"/>
            <a:ext cx="3302000" cy="76200"/>
          </a:xfrm>
          <a:prstGeom prst="roundRect">
            <a:avLst>
              <a:gd name="adj" fmla="val 0"/>
            </a:avLst>
          </a:prstGeom>
          <a:solidFill>
            <a:srgbClr val="10B981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7" name="Picture 17"/>
          <p:cNvPicPr>
            <a:picLocks noChangeAspect="1"/>
          </p:cNvPicPr>
          <p:nvPr>
            <p:custDataLst>
              <p:tags r:id="rId10"/>
            </p:custDataLst>
          </p:nvPr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1016000" y="4183380"/>
            <a:ext cx="304800" cy="304800"/>
          </a:xfrm>
          <a:prstGeom prst="rect">
            <a:avLst/>
          </a:prstGeom>
        </p:spPr>
      </p:pic>
      <p:sp>
        <p:nvSpPr>
          <p:cNvPr id="18" name="AutoShape 18"/>
          <p:cNvSpPr/>
          <p:nvPr>
            <p:custDataLst>
              <p:tags r:id="rId13"/>
            </p:custDataLst>
          </p:nvPr>
        </p:nvSpPr>
        <p:spPr>
          <a:xfrm>
            <a:off x="1321435" y="4119880"/>
            <a:ext cx="2552065" cy="1397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02 / 寻找答案</a:t>
            </a:r>
            <a:endParaRPr lang="en-US" sz="1100"/>
          </a:p>
          <a:p>
            <a:pPr indent="0" algn="l">
              <a:lnSpc>
                <a:spcPct val="117000"/>
              </a:lnSpc>
              <a:spcBef>
                <a:spcPts val="1000"/>
              </a:spcBef>
            </a:pPr>
            <a:r>
              <a:rPr lang="en-US" sz="1600" b="0" i="0" u="none" strike="noStrike">
                <a:solidFill>
                  <a:srgbClr val="6B72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从 m=1 开始递增尝试，直到 dp(m, e) ≥ 目标楼层 f。此时的 m 值即为最少实验次数。</a:t>
            </a:r>
            <a:endParaRPr lang="en-US" sz="1600" b="0" i="0" u="none" strike="noStrike">
              <a:solidFill>
                <a:srgbClr val="6B7280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pic>
        <p:nvPicPr>
          <p:cNvPr id="29" name="图片 28"/>
          <p:cNvPicPr>
            <a:picLocks noChangeAspect="1"/>
          </p:cNvPicPr>
          <p:nvPr>
            <p:custDataLst>
              <p:tags r:id="rId14"/>
            </p:custDataLst>
          </p:nvPr>
        </p:nvPicPr>
        <p:blipFill>
          <a:blip r:embed="rId15"/>
          <a:stretch>
            <a:fillRect/>
          </a:stretch>
        </p:blipFill>
        <p:spPr>
          <a:xfrm>
            <a:off x="5683885" y="2272030"/>
            <a:ext cx="5958840" cy="253746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8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60" name="图片 5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3920" y="1946910"/>
            <a:ext cx="10424160" cy="2964180"/>
          </a:xfrm>
          <a:prstGeom prst="rect">
            <a:avLst/>
          </a:prstGeom>
        </p:spPr>
      </p:pic>
      <p:sp>
        <p:nvSpPr>
          <p:cNvPr id="61" name="AutoShape 2"/>
          <p:cNvSpPr/>
          <p:nvPr/>
        </p:nvSpPr>
        <p:spPr>
          <a:xfrm>
            <a:off x="762000" y="508000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实验测试与正确性验证</a:t>
            </a:r>
            <a:endParaRPr lang="en-US" sz="110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762000" y="508000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效率分析：记忆化搜索  --  </a:t>
            </a:r>
            <a:r>
              <a:rPr lang="en-US" sz="3200" b="1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Roboto Mono"/>
              </a:rPr>
              <a:t>O(ef²)</a:t>
            </a:r>
            <a:endParaRPr lang="en-US" sz="1100" b="1" i="0" u="none" strike="noStrike">
              <a:solidFill>
                <a:srgbClr val="10B98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algn="l">
              <a:lnSpc>
                <a:spcPct val="125000"/>
              </a:lnSpc>
              <a:defRPr/>
            </a:pPr>
            <a:endParaRPr lang="en-US" sz="1100"/>
          </a:p>
        </p:txBody>
      </p:sp>
      <p:sp>
        <p:nvSpPr>
          <p:cNvPr id="14" name="AutoShape 14"/>
          <p:cNvSpPr/>
          <p:nvPr>
            <p:custDataLst>
              <p:tags r:id="rId2"/>
            </p:custDataLst>
          </p:nvPr>
        </p:nvSpPr>
        <p:spPr>
          <a:xfrm>
            <a:off x="8464550" y="1634490"/>
            <a:ext cx="3302000" cy="3639185"/>
          </a:xfrm>
          <a:prstGeom prst="roundRect">
            <a:avLst>
              <a:gd name="adj" fmla="val 6250"/>
            </a:avLst>
          </a:prstGeom>
          <a:solidFill>
            <a:srgbClr val="FFFFFF">
              <a:alpha val="95000"/>
            </a:srgb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5" name="AutoShape 15"/>
          <p:cNvSpPr/>
          <p:nvPr>
            <p:custDataLst>
              <p:tags r:id="rId3"/>
            </p:custDataLst>
          </p:nvPr>
        </p:nvSpPr>
        <p:spPr>
          <a:xfrm>
            <a:off x="8464550" y="1634490"/>
            <a:ext cx="114300" cy="3638550"/>
          </a:xfrm>
          <a:prstGeom prst="roundRect">
            <a:avLst>
              <a:gd name="adj" fmla="val 0"/>
            </a:avLst>
          </a:prstGeom>
          <a:solidFill>
            <a:srgbClr val="10B981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6" name="Picture 16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718550" y="1888490"/>
            <a:ext cx="304800" cy="304800"/>
          </a:xfrm>
          <a:prstGeom prst="rect">
            <a:avLst/>
          </a:prstGeom>
        </p:spPr>
      </p:pic>
      <p:sp>
        <p:nvSpPr>
          <p:cNvPr id="17" name="AutoShape 17"/>
          <p:cNvSpPr/>
          <p:nvPr>
            <p:custDataLst>
              <p:tags r:id="rId7"/>
            </p:custDataLst>
          </p:nvPr>
        </p:nvSpPr>
        <p:spPr>
          <a:xfrm>
            <a:off x="9163050" y="1863090"/>
            <a:ext cx="2413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曲线：二次方增长趋势</a:t>
            </a:r>
            <a:endParaRPr lang="en-US" sz="1100"/>
          </a:p>
        </p:txBody>
      </p:sp>
      <p:sp>
        <p:nvSpPr>
          <p:cNvPr id="18" name="AutoShape 18"/>
          <p:cNvSpPr/>
          <p:nvPr>
            <p:custDataLst>
              <p:tags r:id="rId8"/>
            </p:custDataLst>
          </p:nvPr>
        </p:nvSpPr>
        <p:spPr>
          <a:xfrm>
            <a:off x="8782050" y="3154045"/>
            <a:ext cx="2794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8000"/>
              </a:lnSpc>
              <a:defRPr/>
            </a:pPr>
            <a:r>
              <a:rPr lang="en-US" sz="2000" b="0" i="0" u="none" strike="noStrike">
                <a:solidFill>
                  <a:srgbClr val="5555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相较于蛮力递归的指数级爆炸，记忆化搜索已优化为二次方增长。但当数据规模极大时，其效率瓶颈会逐渐显现。</a:t>
            </a:r>
            <a:endParaRPr lang="en-US" sz="2000" b="0" i="0" u="none" strike="noStrike">
              <a:solidFill>
                <a:srgbClr val="555555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pic>
        <p:nvPicPr>
          <p:cNvPr id="19" name="Picture 1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37515" y="1490980"/>
            <a:ext cx="7886065" cy="3900805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762000" y="508000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效率分析：二分优化 ---  </a:t>
            </a:r>
            <a:r>
              <a:rPr lang="en-US" sz="3200" b="1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Roboto Mono"/>
              </a:rPr>
              <a:t>O(ef log f)</a:t>
            </a:r>
            <a:endParaRPr lang="en-US" sz="1100" b="1" i="0" u="none" strike="noStrike">
              <a:solidFill>
                <a:srgbClr val="F59E0B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algn="l">
              <a:lnSpc>
                <a:spcPct val="125000"/>
              </a:lnSpc>
              <a:defRPr/>
            </a:pPr>
            <a:endParaRPr lang="en-US" sz="1100"/>
          </a:p>
        </p:txBody>
      </p:sp>
      <p:pic>
        <p:nvPicPr>
          <p:cNvPr id="1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1810" y="1488440"/>
            <a:ext cx="7000875" cy="3463290"/>
          </a:xfrm>
          <a:prstGeom prst="rect">
            <a:avLst/>
          </a:prstGeom>
        </p:spPr>
      </p:pic>
      <p:sp>
        <p:nvSpPr>
          <p:cNvPr id="14" name="AutoShape 14"/>
          <p:cNvSpPr/>
          <p:nvPr>
            <p:custDataLst>
              <p:tags r:id="rId3"/>
            </p:custDataLst>
          </p:nvPr>
        </p:nvSpPr>
        <p:spPr>
          <a:xfrm>
            <a:off x="7833995" y="1633855"/>
            <a:ext cx="3302000" cy="3639185"/>
          </a:xfrm>
          <a:prstGeom prst="roundRect">
            <a:avLst>
              <a:gd name="adj" fmla="val 6250"/>
            </a:avLst>
          </a:prstGeom>
          <a:solidFill>
            <a:srgbClr val="FFFFFF">
              <a:alpha val="95000"/>
            </a:srgb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5" name="AutoShape 15"/>
          <p:cNvSpPr/>
          <p:nvPr>
            <p:custDataLst>
              <p:tags r:id="rId4"/>
            </p:custDataLst>
          </p:nvPr>
        </p:nvSpPr>
        <p:spPr>
          <a:xfrm>
            <a:off x="7833995" y="1633855"/>
            <a:ext cx="114300" cy="3638550"/>
          </a:xfrm>
          <a:prstGeom prst="roundRect">
            <a:avLst>
              <a:gd name="adj" fmla="val 0"/>
            </a:avLst>
          </a:prstGeom>
          <a:solidFill>
            <a:srgbClr val="10B981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6" name="Picture 16"/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8087995" y="1887855"/>
            <a:ext cx="304800" cy="304800"/>
          </a:xfrm>
          <a:prstGeom prst="rect">
            <a:avLst/>
          </a:prstGeom>
        </p:spPr>
      </p:pic>
      <p:sp>
        <p:nvSpPr>
          <p:cNvPr id="17" name="AutoShape 17"/>
          <p:cNvSpPr/>
          <p:nvPr>
            <p:custDataLst>
              <p:tags r:id="rId8"/>
            </p:custDataLst>
          </p:nvPr>
        </p:nvSpPr>
        <p:spPr>
          <a:xfrm>
            <a:off x="8532495" y="1862455"/>
            <a:ext cx="2413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曲线</a:t>
            </a:r>
            <a:endParaRPr lang="en-US" sz="1100"/>
          </a:p>
        </p:txBody>
      </p:sp>
      <p:sp>
        <p:nvSpPr>
          <p:cNvPr id="18" name="AutoShape 18"/>
          <p:cNvSpPr/>
          <p:nvPr>
            <p:custDataLst>
              <p:tags r:id="rId9"/>
            </p:custDataLst>
          </p:nvPr>
        </p:nvSpPr>
        <p:spPr>
          <a:xfrm>
            <a:off x="8151495" y="3153410"/>
            <a:ext cx="2794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8000"/>
              </a:lnSpc>
              <a:defRPr/>
            </a:pPr>
            <a:r>
              <a:rPr lang="zh-CN" altLang="en-US" sz="1800" b="0" i="0" u="none" strike="noStrike">
                <a:solidFill>
                  <a:srgbClr val="5555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二分优化图中，增长速度明显比记忆化搜索更平缓。其理论复杂度约为</a:t>
            </a:r>
            <a:r>
              <a:rPr lang="en-US" altLang="zh-CN" sz="1800" b="0" i="0" u="none" strike="noStrike">
                <a:solidFill>
                  <a:srgbClr val="5555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O(eflogf)。</a:t>
            </a:r>
            <a:endParaRPr lang="en-US" altLang="zh-CN" sz="1800" b="0" i="0" u="none" strike="noStrike">
              <a:solidFill>
                <a:srgbClr val="555555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indent="0" algn="l">
              <a:lnSpc>
                <a:spcPct val="108000"/>
              </a:lnSpc>
              <a:defRPr/>
            </a:pPr>
            <a:endParaRPr lang="en-US" altLang="zh-CN" sz="1800" b="0" i="0" u="none" strike="noStrike">
              <a:solidFill>
                <a:srgbClr val="555555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indent="0" algn="l">
              <a:lnSpc>
                <a:spcPct val="108000"/>
              </a:lnSpc>
              <a:defRPr/>
            </a:pPr>
            <a:r>
              <a:rPr lang="zh-CN" altLang="en-US" sz="1800" b="0" i="0" u="none" strike="noStrike">
                <a:solidFill>
                  <a:srgbClr val="5555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楼层数增加后，算法不再逐层枚举，而是利用二分查找寻找较优投掷楼层，因此计算量增长较慢。</a:t>
            </a:r>
            <a:endParaRPr lang="zh-CN" altLang="en-US" sz="1800" b="0" i="0" u="none" strike="noStrike">
              <a:solidFill>
                <a:srgbClr val="555555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11810" y="1488440"/>
            <a:ext cx="7000875" cy="34671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762000" y="508000"/>
            <a:ext cx="10668000" cy="571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效率分析：优化状态法</a:t>
            </a:r>
            <a:endParaRPr lang="en-US" sz="1100"/>
          </a:p>
        </p:txBody>
      </p:sp>
      <p:pic>
        <p:nvPicPr>
          <p:cNvPr id="14" name="Picture 1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68000" y="6190112"/>
            <a:ext cx="1524000" cy="667888"/>
          </a:xfrm>
          <a:prstGeom prst="rect">
            <a:avLst/>
          </a:prstGeom>
        </p:spPr>
      </p:pic>
      <p:pic>
        <p:nvPicPr>
          <p:cNvPr id="16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2900" y="1861820"/>
            <a:ext cx="7787640" cy="3856990"/>
          </a:xfrm>
          <a:prstGeom prst="rect">
            <a:avLst/>
          </a:prstGeom>
        </p:spPr>
      </p:pic>
      <p:sp>
        <p:nvSpPr>
          <p:cNvPr id="17" name="AutoShape 14"/>
          <p:cNvSpPr/>
          <p:nvPr>
            <p:custDataLst>
              <p:tags r:id="rId4"/>
            </p:custDataLst>
          </p:nvPr>
        </p:nvSpPr>
        <p:spPr>
          <a:xfrm>
            <a:off x="8322945" y="1633220"/>
            <a:ext cx="3302000" cy="4377690"/>
          </a:xfrm>
          <a:prstGeom prst="roundRect">
            <a:avLst>
              <a:gd name="adj" fmla="val 6250"/>
            </a:avLst>
          </a:prstGeom>
          <a:solidFill>
            <a:srgbClr val="FFFFFF">
              <a:alpha val="95000"/>
            </a:srgb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8" name="AutoShape 15"/>
          <p:cNvSpPr/>
          <p:nvPr>
            <p:custDataLst>
              <p:tags r:id="rId5"/>
            </p:custDataLst>
          </p:nvPr>
        </p:nvSpPr>
        <p:spPr>
          <a:xfrm>
            <a:off x="8333740" y="1633220"/>
            <a:ext cx="103505" cy="4377690"/>
          </a:xfrm>
          <a:prstGeom prst="roundRect">
            <a:avLst>
              <a:gd name="adj" fmla="val 0"/>
            </a:avLst>
          </a:prstGeom>
          <a:solidFill>
            <a:srgbClr val="10B981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9" name="Picture 16"/>
          <p:cNvPicPr>
            <a:picLocks noChangeAspect="1"/>
          </p:cNvPicPr>
          <p:nvPr>
            <p:custDataLst>
              <p:tags r:id="rId6"/>
            </p:custDataLst>
          </p:nvPr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8576945" y="1887220"/>
            <a:ext cx="304800" cy="304800"/>
          </a:xfrm>
          <a:prstGeom prst="rect">
            <a:avLst/>
          </a:prstGeom>
        </p:spPr>
      </p:pic>
      <p:sp>
        <p:nvSpPr>
          <p:cNvPr id="20" name="AutoShape 17"/>
          <p:cNvSpPr/>
          <p:nvPr>
            <p:custDataLst>
              <p:tags r:id="rId9"/>
            </p:custDataLst>
          </p:nvPr>
        </p:nvSpPr>
        <p:spPr>
          <a:xfrm>
            <a:off x="9021445" y="1861820"/>
            <a:ext cx="2413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曲线</a:t>
            </a:r>
            <a:endParaRPr lang="en-US" sz="1100"/>
          </a:p>
        </p:txBody>
      </p:sp>
      <p:sp>
        <p:nvSpPr>
          <p:cNvPr id="21" name="AutoShape 18"/>
          <p:cNvSpPr/>
          <p:nvPr>
            <p:custDataLst>
              <p:tags r:id="rId10"/>
            </p:custDataLst>
          </p:nvPr>
        </p:nvSpPr>
        <p:spPr>
          <a:xfrm>
            <a:off x="8640445" y="2365375"/>
            <a:ext cx="2880360" cy="290703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8000"/>
              </a:lnSpc>
              <a:defRPr/>
            </a:pPr>
            <a:r>
              <a:rPr lang="zh-CN" altLang="en-US" sz="1800" b="0" i="0" u="none" strike="noStrike">
                <a:solidFill>
                  <a:srgbClr val="5555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即使楼层数增加到很大规模，实际运行时间仍然保持在极低水平，增长趋势非常缓慢。</a:t>
            </a:r>
            <a:endParaRPr lang="zh-CN" altLang="en-US" sz="1800" b="0" i="0" u="none" strike="noStrike">
              <a:solidFill>
                <a:srgbClr val="555555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indent="0" algn="l">
              <a:lnSpc>
                <a:spcPct val="108000"/>
              </a:lnSpc>
              <a:defRPr/>
            </a:pPr>
            <a:endParaRPr lang="zh-CN" altLang="en-US" sz="1800" b="0" i="0" u="none" strike="noStrike">
              <a:solidFill>
                <a:srgbClr val="555555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indent="0" algn="l">
              <a:lnSpc>
                <a:spcPct val="108000"/>
              </a:lnSpc>
              <a:defRPr/>
            </a:pPr>
            <a:r>
              <a:rPr lang="zh-CN" altLang="en-US" sz="1800" b="0" i="0" u="none" strike="noStrike">
                <a:solidFill>
                  <a:srgbClr val="5555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该算法的理论复杂度约为 </a:t>
            </a:r>
            <a:r>
              <a:rPr lang="en-US" altLang="zh-CN" sz="1800" b="0" i="0" u="none" strike="noStrike">
                <a:solidFill>
                  <a:srgbClr val="5555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O(em)，</a:t>
            </a:r>
            <a:r>
              <a:rPr lang="zh-CN" altLang="en-US" sz="1800" b="0" i="0" u="none" strike="noStrike">
                <a:solidFill>
                  <a:srgbClr val="5555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其中 </a:t>
            </a:r>
            <a:r>
              <a:rPr lang="en-US" altLang="zh-CN" sz="1800" b="0" i="0" u="none" strike="noStrike">
                <a:solidFill>
                  <a:srgbClr val="5555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m</a:t>
            </a:r>
            <a:r>
              <a:rPr lang="zh-CN" altLang="en-US" sz="1800" b="0" i="0" u="none" strike="noStrike">
                <a:solidFill>
                  <a:srgbClr val="5555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表示最终需要的最少实验次数。由于 </a:t>
            </a:r>
            <a:r>
              <a:rPr lang="en-US" altLang="zh-CN" sz="1800" b="0" i="0" u="none" strike="noStrike">
                <a:solidFill>
                  <a:srgbClr val="5555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m</a:t>
            </a:r>
            <a:r>
              <a:rPr lang="zh-CN" altLang="en-US" sz="1800" b="0" i="0" u="none" strike="noStrike">
                <a:solidFill>
                  <a:srgbClr val="5555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通常远小于楼层数 </a:t>
            </a:r>
            <a:r>
              <a:rPr lang="en-US" altLang="zh-CN" sz="1800" b="0" i="0" u="none" strike="noStrike">
                <a:solidFill>
                  <a:srgbClr val="5555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f，</a:t>
            </a:r>
            <a:r>
              <a:rPr lang="zh-CN" altLang="en-US" sz="1800" b="0" i="0" u="none" strike="noStrike">
                <a:solidFill>
                  <a:srgbClr val="5555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所以该算法不需要围绕楼层数进行大量枚举。</a:t>
            </a:r>
            <a:endParaRPr lang="zh-CN" altLang="en-US" sz="1800" b="0" i="0" u="none" strike="noStrike">
              <a:solidFill>
                <a:srgbClr val="555555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42900" y="1861820"/>
            <a:ext cx="7787640" cy="3857625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762000" y="508000"/>
            <a:ext cx="10668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效率分析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762000" y="1524000"/>
            <a:ext cx="5080000" cy="1778000"/>
          </a:xfrm>
          <a:prstGeom prst="roundRect">
            <a:avLst>
              <a:gd name="adj" fmla="val 5714"/>
            </a:avLst>
          </a:prstGeom>
          <a:solidFill>
            <a:srgbClr val="FFFFFF">
              <a:alpha val="95000"/>
            </a:srgb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4" name="AutoShape 4"/>
          <p:cNvSpPr/>
          <p:nvPr/>
        </p:nvSpPr>
        <p:spPr>
          <a:xfrm>
            <a:off x="952500" y="1651000"/>
            <a:ext cx="4699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10B98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▍ 理论复杂度对比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952500" y="2159000"/>
            <a:ext cx="1460500" cy="952500"/>
          </a:xfrm>
          <a:prstGeom prst="roundRect">
            <a:avLst>
              <a:gd name="adj" fmla="val 8000"/>
            </a:avLst>
          </a:prstGeom>
          <a:solidFill>
            <a:srgbClr val="ECFDF5">
              <a:alpha val="100000"/>
            </a:srgbClr>
          </a:solidFill>
          <a:ln w="12700" cap="flat" cmpd="sng">
            <a:solidFill>
              <a:srgbClr val="10B981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6" name="AutoShape 6"/>
          <p:cNvSpPr/>
          <p:nvPr/>
        </p:nvSpPr>
        <p:spPr>
          <a:xfrm>
            <a:off x="952500" y="2286000"/>
            <a:ext cx="1460500" cy="698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记忆化搜索</a:t>
            </a:r>
            <a:endParaRPr lang="en-US" sz="1100"/>
          </a:p>
          <a:p>
            <a:pPr indent="0" algn="ctr">
              <a:lnSpc>
                <a:spcPct val="125000"/>
              </a:lnSpc>
            </a:pPr>
            <a:r>
              <a:rPr lang="en-US" sz="1500" b="1" i="0" u="none" strike="noStrike">
                <a:solidFill>
                  <a:srgbClr val="10B981"/>
                </a:solidFill>
                <a:latin typeface="Roboto Mono"/>
                <a:ea typeface="Roboto Mono"/>
                <a:cs typeface="Roboto Mono"/>
                <a:sym typeface="Roboto Mono"/>
              </a:rPr>
              <a:t>O(ef²)</a:t>
            </a:r>
            <a:endParaRPr lang="en-US" sz="1500" b="1" i="0" u="none" strike="noStrike">
              <a:solidFill>
                <a:srgbClr val="10B981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7" name="AutoShape 7"/>
          <p:cNvSpPr/>
          <p:nvPr/>
        </p:nvSpPr>
        <p:spPr>
          <a:xfrm>
            <a:off x="2565400" y="2159000"/>
            <a:ext cx="1460500" cy="952500"/>
          </a:xfrm>
          <a:prstGeom prst="roundRect">
            <a:avLst>
              <a:gd name="adj" fmla="val 8000"/>
            </a:avLst>
          </a:prstGeom>
          <a:solidFill>
            <a:srgbClr val="ECFDF5">
              <a:alpha val="100000"/>
            </a:srgbClr>
          </a:solidFill>
          <a:ln w="12700" cap="flat" cmpd="sng">
            <a:solidFill>
              <a:srgbClr val="10B981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8" name="AutoShape 8"/>
          <p:cNvSpPr/>
          <p:nvPr/>
        </p:nvSpPr>
        <p:spPr>
          <a:xfrm>
            <a:off x="2565400" y="2286000"/>
            <a:ext cx="1460500" cy="698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二分优化</a:t>
            </a:r>
            <a:endParaRPr lang="en-US" sz="1100"/>
          </a:p>
          <a:p>
            <a:pPr indent="0" algn="ctr">
              <a:lnSpc>
                <a:spcPct val="125000"/>
              </a:lnSpc>
            </a:pPr>
            <a:r>
              <a:rPr lang="en-US" sz="1500" b="1" i="0" u="none" strike="noStrike">
                <a:solidFill>
                  <a:srgbClr val="F59E0B"/>
                </a:solidFill>
                <a:latin typeface="Roboto Mono"/>
                <a:ea typeface="Roboto Mono"/>
                <a:cs typeface="Roboto Mono"/>
                <a:sym typeface="Roboto Mono"/>
              </a:rPr>
              <a:t>O(eflogf)</a:t>
            </a:r>
            <a:endParaRPr lang="en-US" sz="1500" b="1" i="0" u="none" strike="noStrike">
              <a:solidFill>
                <a:srgbClr val="F59E0B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9" name="AutoShape 9"/>
          <p:cNvSpPr/>
          <p:nvPr/>
        </p:nvSpPr>
        <p:spPr>
          <a:xfrm>
            <a:off x="4191000" y="2159000"/>
            <a:ext cx="1460500" cy="952500"/>
          </a:xfrm>
          <a:prstGeom prst="roundRect">
            <a:avLst>
              <a:gd name="adj" fmla="val 8000"/>
            </a:avLst>
          </a:prstGeom>
          <a:solidFill>
            <a:srgbClr val="ECFDF5">
              <a:alpha val="100000"/>
            </a:srgbClr>
          </a:solidFill>
          <a:ln w="12700" cap="flat" cmpd="sng">
            <a:solidFill>
              <a:srgbClr val="10B981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0" name="AutoShape 10"/>
          <p:cNvSpPr/>
          <p:nvPr/>
        </p:nvSpPr>
        <p:spPr>
          <a:xfrm>
            <a:off x="4191000" y="2286000"/>
            <a:ext cx="1460500" cy="698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优化状态法</a:t>
            </a:r>
            <a:endParaRPr lang="en-US" sz="1100"/>
          </a:p>
          <a:p>
            <a:pPr indent="0" algn="ctr">
              <a:lnSpc>
                <a:spcPct val="125000"/>
              </a:lnSpc>
            </a:pPr>
            <a:r>
              <a:rPr lang="en-US" sz="1500" b="1" i="0" u="none" strike="noStrike">
                <a:solidFill>
                  <a:srgbClr val="3B82F6"/>
                </a:solidFill>
                <a:latin typeface="Roboto Mono"/>
                <a:ea typeface="Roboto Mono"/>
                <a:cs typeface="Roboto Mono"/>
                <a:sym typeface="Roboto Mono"/>
              </a:rPr>
              <a:t>O(em)</a:t>
            </a:r>
            <a:endParaRPr lang="en-US" sz="1500" b="1" i="0" u="none" strike="noStrike">
              <a:solidFill>
                <a:srgbClr val="3B82F6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11" name="AutoShape 11"/>
          <p:cNvSpPr/>
          <p:nvPr/>
        </p:nvSpPr>
        <p:spPr>
          <a:xfrm>
            <a:off x="762000" y="3556000"/>
            <a:ext cx="5080000" cy="2467610"/>
          </a:xfrm>
          <a:prstGeom prst="roundRect">
            <a:avLst>
              <a:gd name="adj" fmla="val 6153"/>
            </a:avLst>
          </a:prstGeom>
          <a:solidFill>
            <a:srgbClr val="FFFFFF">
              <a:alpha val="95000"/>
            </a:srgb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2" name="AutoShape 12"/>
          <p:cNvSpPr/>
          <p:nvPr/>
        </p:nvSpPr>
        <p:spPr>
          <a:xfrm>
            <a:off x="952500" y="3683000"/>
            <a:ext cx="4699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10B98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▍ 运行时间趋势</a:t>
            </a:r>
            <a:endParaRPr lang="en-US" sz="1100"/>
          </a:p>
        </p:txBody>
      </p:sp>
      <p:sp>
        <p:nvSpPr>
          <p:cNvPr id="13" name="AutoShape 13"/>
          <p:cNvSpPr/>
          <p:nvPr/>
        </p:nvSpPr>
        <p:spPr>
          <a:xfrm>
            <a:off x="952500" y="4460875"/>
            <a:ext cx="4699000" cy="952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8000"/>
              </a:lnSpc>
              <a:defRPr/>
            </a:pPr>
            <a:r>
              <a:rPr lang="en-US" sz="16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•</a:t>
            </a:r>
            <a:r>
              <a:rPr lang="en-US" sz="1600" b="1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记忆化搜索：</a:t>
            </a:r>
            <a:r>
              <a:rPr lang="en-US" sz="16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运行时间随楼层数 f 增加呈</a:t>
            </a:r>
            <a:r>
              <a:rPr lang="en-US" sz="1600" b="1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二次方增长</a:t>
            </a:r>
            <a:r>
              <a:rPr lang="en-US" sz="16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，大规模下效率低下。</a:t>
            </a:r>
            <a:endParaRPr lang="en-US"/>
          </a:p>
          <a:p>
            <a:pPr indent="0" algn="l">
              <a:lnSpc>
                <a:spcPct val="108000"/>
              </a:lnSpc>
            </a:pPr>
            <a:r>
              <a:rPr lang="en-US" sz="16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•</a:t>
            </a:r>
            <a:r>
              <a:rPr lang="en-US" sz="1600" b="1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二分优化：</a:t>
            </a:r>
            <a:r>
              <a:rPr lang="en-US" sz="16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增长速度放缓，呈 f × log(f) 趋势，较记忆化搜索有明显改善。</a:t>
            </a:r>
            <a:endParaRPr lang="en-US" sz="1600" b="0" i="0" u="none" strike="noStrike">
              <a:solidFill>
                <a:srgbClr val="4B5563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indent="0" algn="l">
              <a:lnSpc>
                <a:spcPct val="108000"/>
              </a:lnSpc>
            </a:pPr>
            <a:r>
              <a:rPr lang="en-US" sz="16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•</a:t>
            </a:r>
            <a:r>
              <a:rPr lang="en-US" sz="1600" b="1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优化状态法：</a:t>
            </a:r>
            <a:r>
              <a:rPr lang="en-US" sz="16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在极大规模数据下仍保持极低运行时间，</a:t>
            </a:r>
            <a:r>
              <a:rPr lang="en-US" sz="1600" b="1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增长趋势非常平缓</a:t>
            </a:r>
            <a:r>
              <a:rPr lang="en-US" sz="16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。</a:t>
            </a:r>
            <a:endParaRPr lang="en-US" sz="1600" b="0" i="0" u="none" strike="noStrike">
              <a:solidFill>
                <a:srgbClr val="4B5563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6" name="AutoShape 16"/>
          <p:cNvSpPr/>
          <p:nvPr/>
        </p:nvSpPr>
        <p:spPr>
          <a:xfrm>
            <a:off x="6223000" y="1524000"/>
            <a:ext cx="5207000" cy="4953000"/>
          </a:xfrm>
          <a:prstGeom prst="roundRect">
            <a:avLst>
              <a:gd name="adj" fmla="val 2051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7" name="AutoShape 17"/>
          <p:cNvSpPr/>
          <p:nvPr/>
        </p:nvSpPr>
        <p:spPr>
          <a:xfrm>
            <a:off x="6413500" y="1714500"/>
            <a:ext cx="4826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算法运行时间实测对比 (ms)</a:t>
            </a:r>
            <a:endParaRPr lang="en-US" sz="1100"/>
          </a:p>
        </p:txBody>
      </p:sp>
      <p:pic>
        <p:nvPicPr>
          <p:cNvPr id="18" name="Picture 18"/>
          <p:cNvPicPr>
            <a:picLocks noChangeAspect="1"/>
          </p:cNvPicPr>
          <p:nvPr/>
        </p:nvPicPr>
        <p:blipFill>
          <a:blip r:embed="rId2"/>
          <a:srcRect l="10035" r="10035"/>
          <a:stretch>
            <a:fillRect/>
          </a:stretch>
        </p:blipFill>
        <p:spPr>
          <a:xfrm>
            <a:off x="6477000" y="2413000"/>
            <a:ext cx="4699000" cy="2921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7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0" y="1905000"/>
            <a:ext cx="12192000" cy="1270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64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感谢聆听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5588000" y="3556000"/>
            <a:ext cx="1016000" cy="76200"/>
          </a:xfrm>
          <a:prstGeom prst="roundRect">
            <a:avLst>
              <a:gd name="adj" fmla="val 0"/>
            </a:avLst>
          </a:prstGeom>
          <a:solidFill>
            <a:srgbClr val="10B981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6" name="AutoShape 6"/>
          <p:cNvSpPr/>
          <p:nvPr/>
        </p:nvSpPr>
        <p:spPr>
          <a:xfrm>
            <a:off x="0" y="5588000"/>
            <a:ext cx="12192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600" b="0" i="0" u="none" strike="noStrike" spc="400">
                <a:solidFill>
                  <a:srgbClr val="6B72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THANKS FOR LISTENING</a:t>
            </a:r>
            <a:endParaRPr lang="en-US" sz="1100"/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WM_DIAGRAM_VIRTUALLY_FRAME" val="{&quot;height&quot;:270,&quot;left&quot;:60,&quot;top&quot;:230,&quot;width&quot;:840}"/>
</p:tagLst>
</file>

<file path=ppt/tags/tag2.xml><?xml version="1.0" encoding="utf-8"?>
<p:tagLst xmlns:p="http://schemas.openxmlformats.org/presentationml/2006/main">
  <p:tag name="KSO_WM_DIAGRAM_VIRTUALLY_FRAME" val="{&quot;height&quot;:270,&quot;left&quot;:60,&quot;top&quot;:230,&quot;width&quot;:840}"/>
</p:tagLst>
</file>

<file path=ppt/tags/tag3.xml><?xml version="1.0" encoding="utf-8"?>
<p:tagLst xmlns:p="http://schemas.openxmlformats.org/presentationml/2006/main">
  <p:tag name="KSO_WM_DIAGRAM_VIRTUALLY_FRAME" val="{&quot;height&quot;:270,&quot;left&quot;:60,&quot;top&quot;:230,&quot;width&quot;:840}"/>
</p:tagLst>
</file>

<file path=ppt/tags/tag4.xml><?xml version="1.0" encoding="utf-8"?>
<p:tagLst xmlns:p="http://schemas.openxmlformats.org/presentationml/2006/main">
  <p:tag name="KSO_WM_DIAGRAM_VIRTUALLY_FRAME" val="{&quot;height&quot;:270,&quot;left&quot;:60,&quot;top&quot;:230,&quot;width&quot;:840}"/>
</p:tagLst>
</file>

<file path=ppt/tags/tag5.xml><?xml version="1.0" encoding="utf-8"?>
<p:tagLst xmlns:p="http://schemas.openxmlformats.org/presentationml/2006/main">
  <p:tag name="KSO_WM_DIAGRAM_VIRTUALLY_FRAME" val="{&quot;height&quot;:270,&quot;left&quot;:60,&quot;top&quot;:230,&quot;width&quot;:840}"/>
</p:tagLst>
</file>

<file path=ppt/tags/tag6.xml><?xml version="1.0" encoding="utf-8"?>
<p:tagLst xmlns:p="http://schemas.openxmlformats.org/presentationml/2006/main">
  <p:tag name="KSO_WM_DIAGRAM_VIRTUALLY_FRAME" val="{&quot;height&quot;:270,&quot;left&quot;:60,&quot;top&quot;:230,&quot;width&quot;:840}"/>
</p:tagLst>
</file>

<file path=ppt/tags/tag7.xml><?xml version="1.0" encoding="utf-8"?>
<p:tagLst xmlns:p="http://schemas.openxmlformats.org/presentationml/2006/main">
  <p:tag name="KSO_WM_DIAGRAM_VIRTUALLY_FRAME" val="{&quot;height&quot;:270,&quot;left&quot;:60,&quot;top&quot;:230,&quot;width&quot;:840}"/>
</p:tagLst>
</file>

<file path=ppt/tags/tag8.xml><?xml version="1.0" encoding="utf-8"?>
<p:tagLst xmlns:p="http://schemas.openxmlformats.org/presentationml/2006/main">
  <p:tag name="KSO_WM_DIAGRAM_VIRTUALLY_FRAME" val="{&quot;height&quot;:170,&quot;left&quot;:60,&quot;top&quot;:281.9,&quot;width&quot;:842.7}"/>
</p:tagLst>
</file>

<file path=ppt/tags/tag9.xml><?xml version="1.0" encoding="utf-8"?>
<p:tagLst xmlns:p="http://schemas.openxmlformats.org/presentationml/2006/main">
  <p:tag name="KSO_WM_DIAGRAM_VIRTUALLY_FRAME" val="{&quot;height&quot;:170,&quot;left&quot;:60,&quot;top&quot;:281.9,&quot;width&quot;:842.7}"/>
</p:tagLst>
</file>

<file path=ppt/tags/tag10.xml><?xml version="1.0" encoding="utf-8"?>
<p:tagLst xmlns:p="http://schemas.openxmlformats.org/presentationml/2006/main">
  <p:tag name="KSO_WM_DIAGRAM_VIRTUALLY_FRAME" val="{&quot;height&quot;:170,&quot;left&quot;:60,&quot;top&quot;:281.9,&quot;width&quot;:842.7}"/>
</p:tagLst>
</file>

<file path=ppt/tags/tag11.xml><?xml version="1.0" encoding="utf-8"?>
<p:tagLst xmlns:p="http://schemas.openxmlformats.org/presentationml/2006/main">
  <p:tag name="KSO_WM_DIAGRAM_VIRTUALLY_FRAME" val="{&quot;height&quot;:170,&quot;left&quot;:60,&quot;top&quot;:281.9,&quot;width&quot;:842.7}"/>
</p:tagLst>
</file>

<file path=ppt/tags/tag12.xml><?xml version="1.0" encoding="utf-8"?>
<p:tagLst xmlns:p="http://schemas.openxmlformats.org/presentationml/2006/main">
  <p:tag name="KSO_WM_DIAGRAM_VIRTUALLY_FRAME" val="{&quot;height&quot;:170,&quot;left&quot;:60,&quot;top&quot;:281.9,&quot;width&quot;:842.7}"/>
</p:tagLst>
</file>

<file path=ppt/tags/tag13.xml><?xml version="1.0" encoding="utf-8"?>
<p:tagLst xmlns:p="http://schemas.openxmlformats.org/presentationml/2006/main">
  <p:tag name="KSO_WM_DIAGRAM_VIRTUALLY_FRAME" val="{&quot;height&quot;:170,&quot;left&quot;:60,&quot;top&quot;:281.9,&quot;width&quot;:842.7}"/>
</p:tagLst>
</file>

<file path=ppt/tags/tag14.xml><?xml version="1.0" encoding="utf-8"?>
<p:tagLst xmlns:p="http://schemas.openxmlformats.org/presentationml/2006/main">
  <p:tag name="KSO_WM_DIAGRAM_VIRTUALLY_FRAME" val="{&quot;height&quot;:170,&quot;left&quot;:60,&quot;top&quot;:281.9,&quot;width&quot;:842.7}"/>
</p:tagLst>
</file>

<file path=ppt/tags/tag15.xml><?xml version="1.0" encoding="utf-8"?>
<p:tagLst xmlns:p="http://schemas.openxmlformats.org/presentationml/2006/main">
  <p:tag name="KSO_WM_DIAGRAM_VIRTUALLY_FRAME" val="{&quot;height&quot;:170,&quot;left&quot;:60,&quot;top&quot;:281.9,&quot;width&quot;:842.7}"/>
</p:tagLst>
</file>

<file path=ppt/tags/tag16.xml><?xml version="1.0" encoding="utf-8"?>
<p:tagLst xmlns:p="http://schemas.openxmlformats.org/presentationml/2006/main">
  <p:tag name="KSO_WM_DIAGRAM_VIRTUALLY_FRAME" val="{&quot;height&quot;:170,&quot;left&quot;:60,&quot;top&quot;:281.9,&quot;width&quot;:842.7}"/>
</p:tagLst>
</file>

<file path=ppt/tags/tag17.xml><?xml version="1.0" encoding="utf-8"?>
<p:tagLst xmlns:p="http://schemas.openxmlformats.org/presentationml/2006/main">
  <p:tag name="KSO_WM_DIAGRAM_VIRTUALLY_FRAME" val="{&quot;height&quot;:60,&quot;left&quot;:60,&quot;top&quot;:130,&quot;width&quot;:825}"/>
</p:tagLst>
</file>

<file path=ppt/tags/tag18.xml><?xml version="1.0" encoding="utf-8"?>
<p:tagLst xmlns:p="http://schemas.openxmlformats.org/presentationml/2006/main">
  <p:tag name="KSO_WM_DIAGRAM_VIRTUALLY_FRAME" val="{&quot;height&quot;:60,&quot;left&quot;:60,&quot;top&quot;:130,&quot;width&quot;:825}"/>
</p:tagLst>
</file>

<file path=ppt/tags/tag19.xml><?xml version="1.0" encoding="utf-8"?>
<p:tagLst xmlns:p="http://schemas.openxmlformats.org/presentationml/2006/main">
  <p:tag name="KSO_WM_DIAGRAM_VIRTUALLY_FRAME" val="{&quot;height&quot;:60,&quot;left&quot;:60,&quot;top&quot;:130,&quot;width&quot;:825}"/>
</p:tagLst>
</file>

<file path=ppt/tags/tag20.xml><?xml version="1.0" encoding="utf-8"?>
<p:tagLst xmlns:p="http://schemas.openxmlformats.org/presentationml/2006/main">
  <p:tag name="KSO_WM_DIAGRAM_VIRTUALLY_FRAME" val="{&quot;height&quot;:60,&quot;left&quot;:60,&quot;top&quot;:130,&quot;width&quot;:825}"/>
</p:tagLst>
</file>

<file path=ppt/tags/tag21.xml><?xml version="1.0" encoding="utf-8"?>
<p:tagLst xmlns:p="http://schemas.openxmlformats.org/presentationml/2006/main">
  <p:tag name="KSO_WM_DIAGRAM_VIRTUALLY_FRAME" val="{&quot;height&quot;:60,&quot;left&quot;:60,&quot;top&quot;:130,&quot;width&quot;:825}"/>
</p:tagLst>
</file>

<file path=ppt/tags/tag22.xml><?xml version="1.0" encoding="utf-8"?>
<p:tagLst xmlns:p="http://schemas.openxmlformats.org/presentationml/2006/main">
  <p:tag name="KSO_WM_DIAGRAM_VIRTUALLY_FRAME" val="{&quot;height&quot;:60,&quot;left&quot;:60,&quot;top&quot;:130,&quot;width&quot;:825}"/>
</p:tagLst>
</file>

<file path=ppt/tags/tag23.xml><?xml version="1.0" encoding="utf-8"?>
<p:tagLst xmlns:p="http://schemas.openxmlformats.org/presentationml/2006/main">
  <p:tag name="KSO_WM_DIAGRAM_VIRTUALLY_FRAME" val="{&quot;height&quot;:369.8,&quot;left&quot;:60,&quot;top&quot;:109.6,&quot;width&quot;:865.35}"/>
</p:tagLst>
</file>

<file path=ppt/tags/tag24.xml><?xml version="1.0" encoding="utf-8"?>
<p:tagLst xmlns:p="http://schemas.openxmlformats.org/presentationml/2006/main">
  <p:tag name="KSO_WM_DIAGRAM_VIRTUALLY_FRAME" val="{&quot;height&quot;:369.8,&quot;left&quot;:60,&quot;top&quot;:109.6,&quot;width&quot;:865.35}"/>
</p:tagLst>
</file>

<file path=ppt/tags/tag25.xml><?xml version="1.0" encoding="utf-8"?>
<p:tagLst xmlns:p="http://schemas.openxmlformats.org/presentationml/2006/main">
  <p:tag name="KSO_WM_DIAGRAM_VIRTUALLY_FRAME" val="{&quot;height&quot;:369.8,&quot;left&quot;:60,&quot;top&quot;:109.6,&quot;width&quot;:865.35}"/>
</p:tagLst>
</file>

<file path=ppt/tags/tag26.xml><?xml version="1.0" encoding="utf-8"?>
<p:tagLst xmlns:p="http://schemas.openxmlformats.org/presentationml/2006/main">
  <p:tag name="KSO_WM_DIAGRAM_VIRTUALLY_FRAME" val="{&quot;height&quot;:369.8,&quot;left&quot;:60,&quot;top&quot;:109.6,&quot;width&quot;:865.35}"/>
</p:tagLst>
</file>

<file path=ppt/tags/tag27.xml><?xml version="1.0" encoding="utf-8"?>
<p:tagLst xmlns:p="http://schemas.openxmlformats.org/presentationml/2006/main">
  <p:tag name="KSO_WM_DIAGRAM_VIRTUALLY_FRAME" val="{&quot;height&quot;:369.8,&quot;left&quot;:60,&quot;top&quot;:109.6,&quot;width&quot;:865.35}"/>
</p:tagLst>
</file>

<file path=ppt/tags/tag28.xml><?xml version="1.0" encoding="utf-8"?>
<p:tagLst xmlns:p="http://schemas.openxmlformats.org/presentationml/2006/main">
  <p:tag name="KSO_WM_DIAGRAM_VIRTUALLY_FRAME" val="{&quot;height&quot;:369.8,&quot;left&quot;:60,&quot;top&quot;:109.6,&quot;width&quot;:865.35}"/>
</p:tagLst>
</file>

<file path=ppt/tags/tag29.xml><?xml version="1.0" encoding="utf-8"?>
<p:tagLst xmlns:p="http://schemas.openxmlformats.org/presentationml/2006/main">
  <p:tag name="KSO_WM_DIAGRAM_VIRTUALLY_FRAME" val="{&quot;height&quot;:369.8,&quot;left&quot;:60,&quot;top&quot;:109.6,&quot;width&quot;:865.35}"/>
</p:tagLst>
</file>

<file path=ppt/tags/tag30.xml><?xml version="1.0" encoding="utf-8"?>
<p:tagLst xmlns:p="http://schemas.openxmlformats.org/presentationml/2006/main">
  <p:tag name="KSO_WM_DIAGRAM_VIRTUALLY_FRAME" val="{&quot;height&quot;:369.8,&quot;left&quot;:60,&quot;top&quot;:109.6,&quot;width&quot;:865.35}"/>
</p:tagLst>
</file>

<file path=ppt/tags/tag31.xml><?xml version="1.0" encoding="utf-8"?>
<p:tagLst xmlns:p="http://schemas.openxmlformats.org/presentationml/2006/main">
  <p:tag name="KSO_WM_DIAGRAM_VIRTUALLY_FRAME" val="{&quot;height&quot;:369.8,&quot;left&quot;:60,&quot;top&quot;:109.6,&quot;width&quot;:865.35}"/>
</p:tagLst>
</file>

<file path=ppt/tags/tag32.xml><?xml version="1.0" encoding="utf-8"?>
<p:tagLst xmlns:p="http://schemas.openxmlformats.org/presentationml/2006/main">
  <p:tag name="KSO_WM_DIAGRAM_VIRTUALLY_FRAME" val="{&quot;height&quot;:160,&quot;left&quot;:60,&quot;top&quot;:340,&quot;width&quot;:840}"/>
</p:tagLst>
</file>

<file path=ppt/tags/tag33.xml><?xml version="1.0" encoding="utf-8"?>
<p:tagLst xmlns:p="http://schemas.openxmlformats.org/presentationml/2006/main">
  <p:tag name="KSO_WM_DIAGRAM_VIRTUALLY_FRAME" val="{&quot;height&quot;:160,&quot;left&quot;:60,&quot;top&quot;:340,&quot;width&quot;:840}"/>
</p:tagLst>
</file>

<file path=ppt/tags/tag34.xml><?xml version="1.0" encoding="utf-8"?>
<p:tagLst xmlns:p="http://schemas.openxmlformats.org/presentationml/2006/main">
  <p:tag name="KSO_WM_DIAGRAM_VIRTUALLY_FRAME" val="{&quot;height&quot;:160,&quot;left&quot;:60,&quot;top&quot;:340,&quot;width&quot;:840}"/>
</p:tagLst>
</file>

<file path=ppt/tags/tag35.xml><?xml version="1.0" encoding="utf-8"?>
<p:tagLst xmlns:p="http://schemas.openxmlformats.org/presentationml/2006/main">
  <p:tag name="KSO_WM_DIAGRAM_VIRTUALLY_FRAME" val="{&quot;height&quot;:160,&quot;left&quot;:60,&quot;top&quot;:340,&quot;width&quot;:840}"/>
</p:tagLst>
</file>

<file path=ppt/tags/tag36.xml><?xml version="1.0" encoding="utf-8"?>
<p:tagLst xmlns:p="http://schemas.openxmlformats.org/presentationml/2006/main">
  <p:tag name="KSO_WM_DIAGRAM_VIRTUALLY_FRAME" val="{&quot;height&quot;:160,&quot;left&quot;:60,&quot;top&quot;:340,&quot;width&quot;:840}"/>
</p:tagLst>
</file>

<file path=ppt/tags/tag37.xml><?xml version="1.0" encoding="utf-8"?>
<p:tagLst xmlns:p="http://schemas.openxmlformats.org/presentationml/2006/main">
  <p:tag name="KSO_WM_DIAGRAM_VIRTUALLY_FRAME" val="{&quot;height&quot;:160,&quot;left&quot;:60,&quot;top&quot;:340,&quot;width&quot;:840}"/>
</p:tagLst>
</file>

<file path=ppt/tags/tag38.xml><?xml version="1.0" encoding="utf-8"?>
<p:tagLst xmlns:p="http://schemas.openxmlformats.org/presentationml/2006/main">
  <p:tag name="KSO_WM_DIAGRAM_VIRTUALLY_FRAME" val="{&quot;height&quot;:160,&quot;left&quot;:60,&quot;top&quot;:340,&quot;width&quot;:840}"/>
</p:tagLst>
</file>

<file path=ppt/tags/tag39.xml><?xml version="1.0" encoding="utf-8"?>
<p:tagLst xmlns:p="http://schemas.openxmlformats.org/presentationml/2006/main">
  <p:tag name="KSO_WM_DIAGRAM_VIRTUALLY_FRAME" val="{&quot;height&quot;:160,&quot;left&quot;:60,&quot;top&quot;:340,&quot;width&quot;:840}"/>
</p:tagLst>
</file>

<file path=ppt/tags/tag40.xml><?xml version="1.0" encoding="utf-8"?>
<p:tagLst xmlns:p="http://schemas.openxmlformats.org/presentationml/2006/main">
  <p:tag name="KSO_WM_DIAGRAM_VIRTUALLY_FRAME" val="{&quot;height&quot;:160,&quot;left&quot;:60,&quot;top&quot;:340,&quot;width&quot;:840}"/>
</p:tagLst>
</file>

<file path=ppt/tags/tag41.xml><?xml version="1.0" encoding="utf-8"?>
<p:tagLst xmlns:p="http://schemas.openxmlformats.org/presentationml/2006/main">
  <p:tag name="KSO_WM_DIAGRAM_VIRTUALLY_FRAME" val="{&quot;height&quot;:160,&quot;left&quot;:60,&quot;top&quot;:340,&quot;width&quot;:840}"/>
</p:tagLst>
</file>

<file path=ppt/tags/tag42.xml><?xml version="1.0" encoding="utf-8"?>
<p:tagLst xmlns:p="http://schemas.openxmlformats.org/presentationml/2006/main">
  <p:tag name="KSO_WM_DIAGRAM_VIRTUALLY_FRAME" val="{&quot;height&quot;:160,&quot;left&quot;:60,&quot;top&quot;:340,&quot;width&quot;:840}"/>
</p:tagLst>
</file>

<file path=ppt/tags/tag43.xml><?xml version="1.0" encoding="utf-8"?>
<p:tagLst xmlns:p="http://schemas.openxmlformats.org/presentationml/2006/main">
  <p:tag name="KSO_WM_DIAGRAM_VIRTUALLY_FRAME" val="{&quot;height&quot;:160,&quot;left&quot;:60,&quot;top&quot;:340,&quot;width&quot;:840}"/>
</p:tagLst>
</file>

<file path=ppt/tags/tag44.xml><?xml version="1.0" encoding="utf-8"?>
<p:tagLst xmlns:p="http://schemas.openxmlformats.org/presentationml/2006/main">
  <p:tag name="KSO_WM_DIAGRAM_VIRTUALLY_FRAME" val="{&quot;height&quot;:160,&quot;left&quot;:60,&quot;top&quot;:340,&quot;width&quot;:840}"/>
</p:tagLst>
</file>

<file path=ppt/tags/tag45.xml><?xml version="1.0" encoding="utf-8"?>
<p:tagLst xmlns:p="http://schemas.openxmlformats.org/presentationml/2006/main">
  <p:tag name="KSO_WM_DIAGRAM_VIRTUALLY_FRAME" val="{&quot;height&quot;:160,&quot;left&quot;:60,&quot;top&quot;:340,&quot;width&quot;:840}"/>
</p:tagLst>
</file>

<file path=ppt/tags/tag46.xml><?xml version="1.0" encoding="utf-8"?>
<p:tagLst xmlns:p="http://schemas.openxmlformats.org/presentationml/2006/main">
  <p:tag name="KSO_WM_DIAGRAM_VIRTUALLY_FRAME" val="{&quot;height&quot;:160,&quot;left&quot;:60,&quot;top&quot;:340,&quot;width&quot;:840}"/>
</p:tagLst>
</file>

<file path=ppt/theme/theme1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默认主题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1536</Words>
  <Application>WPS 演示</Application>
  <PresentationFormat/>
  <Paragraphs>130</Paragraphs>
  <Slides>12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12</vt:i4>
      </vt:variant>
    </vt:vector>
  </HeadingPairs>
  <TitlesOfParts>
    <vt:vector size="25" baseType="lpstr">
      <vt:lpstr>Arial</vt:lpstr>
      <vt:lpstr>宋体</vt:lpstr>
      <vt:lpstr>Wingdings</vt:lpstr>
      <vt:lpstr>Arial</vt:lpstr>
      <vt:lpstr>Noto Sans SC</vt:lpstr>
      <vt:lpstr>微软雅黑</vt:lpstr>
      <vt:lpstr>微软雅黑</vt:lpstr>
      <vt:lpstr>Roboto Mono</vt:lpstr>
      <vt:lpstr>Segoe Print</vt:lpstr>
      <vt:lpstr>Arial Unicode MS</vt:lpstr>
      <vt:lpstr>Roboto Mono</vt:lpstr>
      <vt:lpstr>Office 主题​​</vt:lpstr>
      <vt:lpstr>默认主题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生活不易靠演技</cp:lastModifiedBy>
  <cp:revision>5</cp:revision>
  <dcterms:created xsi:type="dcterms:W3CDTF">2026-05-16T07:48:00Z</dcterms:created>
  <dcterms:modified xsi:type="dcterms:W3CDTF">2026-05-23T07:42:00Z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2052-12.1.0.26375</vt:lpwstr>
  </property>
  <property fmtid="{D5CDD505-2E9C-101B-9397-08002B2CF9AE}" pid="3" name="ICV">
    <vt:lpwstr>0FD586A570DE47558D938D3E6155676F_13</vt:lpwstr>
  </property>
</Properties>
</file>